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0" r:id="rId3"/>
  </p:sldMasterIdLst>
  <p:sldIdLst>
    <p:sldId id="256" r:id="rId4"/>
    <p:sldId id="257" r:id="rId5"/>
    <p:sldId id="258" r:id="rId6"/>
    <p:sldId id="269" r:id="rId7"/>
    <p:sldId id="268" r:id="rId8"/>
    <p:sldId id="260" r:id="rId9"/>
    <p:sldId id="261" r:id="rId10"/>
    <p:sldId id="262" r:id="rId11"/>
    <p:sldId id="263" r:id="rId12"/>
    <p:sldId id="264" r:id="rId13"/>
    <p:sldId id="266" r:id="rId14"/>
    <p:sldId id="267" r:id="rId15"/>
    <p:sldId id="270" r:id="rId16"/>
  </p:sldIdLst>
  <p:sldSz cx="12192000" cy="6858000"/>
  <p:notesSz cx="12192000" cy="6858000"/>
  <p:embeddedFontLst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github.com/daivy2333/StarryOS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-bottom"/>
          <p:cNvSpPr/>
          <p:nvPr/>
        </p:nvSpPr>
        <p:spPr>
          <a:xfrm>
            <a:off x="0" y="5334000"/>
            <a:ext cx="12192000" cy="15240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3" name="band-edge"/>
          <p:cNvSpPr/>
          <p:nvPr/>
        </p:nvSpPr>
        <p:spPr>
          <a:xfrm>
            <a:off x="0" y="5334000"/>
            <a:ext cx="12192000" cy="254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4" name="kicker"/>
          <p:cNvSpPr txBox="1"/>
          <p:nvPr/>
        </p:nvSpPr>
        <p:spPr>
          <a:xfrm>
            <a:off x="609600" y="5588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实习总结汇报 · INTERNSHIP REPORT</a:t>
            </a:r>
            <a:endParaRPr lang="en-US" sz="1100" noProof="1"/>
          </a:p>
        </p:txBody>
      </p:sp>
      <p:sp>
        <p:nvSpPr>
          <p:cNvPr id="5" name="rule-top"/>
          <p:cNvSpPr/>
          <p:nvPr/>
        </p:nvSpPr>
        <p:spPr>
          <a:xfrm>
            <a:off x="5842000" y="1905000"/>
            <a:ext cx="5080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6" name="title"/>
          <p:cNvSpPr txBox="1"/>
          <p:nvPr/>
        </p:nvSpPr>
        <p:spPr>
          <a:xfrm>
            <a:off x="1016000" y="2133600"/>
            <a:ext cx="10160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8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starryos的串口、有线网卡的异步化</a:t>
            </a:r>
            <a:endParaRPr lang="en-US" sz="3800" b="1" noProof="1">
              <a:solidFill>
                <a:srgbClr val="1E2A36"/>
              </a:solidFill>
              <a:latin typeface="MiSans" charset="-122"/>
              <a:ea typeface="MiSans" charset="-122"/>
            </a:endParaRPr>
          </a:p>
        </p:txBody>
      </p:sp>
      <p:sp>
        <p:nvSpPr>
          <p:cNvPr id="8" name="info"/>
          <p:cNvSpPr txBox="1"/>
          <p:nvPr/>
        </p:nvSpPr>
        <p:spPr>
          <a:xfrm>
            <a:off x="1016000" y="3201035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汇报人：</a:t>
            </a:r>
            <a:r>
              <a:rPr lang="zh-CN" alt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刘卫</a:t>
            </a:r>
            <a:r>
              <a:rPr 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｜　实习时间：2026-06-22 ~ 2026-10-4</a:t>
            </a:r>
            <a:endParaRPr lang="en-US" sz="1250" noProof="1"/>
          </a:p>
        </p:txBody>
      </p:sp>
      <p:sp>
        <p:nvSpPr>
          <p:cNvPr id="9" name="repo"/>
          <p:cNvSpPr txBox="1"/>
          <p:nvPr/>
        </p:nvSpPr>
        <p:spPr>
          <a:xfrm>
            <a:off x="1016000" y="380365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仓库：</a:t>
            </a:r>
            <a:r>
              <a:rPr lang="en-US" sz="1200" u="sng" noProof="1">
                <a:solidFill>
                  <a:srgbClr val="0563C1"/>
                </a:solidFill>
                <a:latin typeface="MiSans" charset="-122"/>
                <a:ea typeface="MiSans" charset="-122"/>
                <a:hlinkClick r:id="rId1"/>
              </a:rPr>
              <a:t>daivy2333/StarryOS</a:t>
            </a: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·　mul-hart-k3 分支</a:t>
            </a:r>
            <a:endParaRPr lang="en-US" sz="1200" noProof="1"/>
          </a:p>
        </p:txBody>
      </p:sp>
      <p:sp>
        <p:nvSpPr>
          <p:cNvPr id="10" name="stat1"/>
          <p:cNvSpPr txBox="1"/>
          <p:nvPr/>
        </p:nvSpPr>
        <p:spPr>
          <a:xfrm>
            <a:off x="1524000" y="5638800"/>
            <a:ext cx="20320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2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14</a:t>
            </a:r>
            <a:r>
              <a:rPr lang="en-US" sz="13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 周</a:t>
            </a:r>
            <a:endParaRPr lang="en-US" sz="1600" noProof="1"/>
          </a:p>
        </p:txBody>
      </p:sp>
      <p:sp>
        <p:nvSpPr>
          <p:cNvPr id="11" name="stat1-label"/>
          <p:cNvSpPr txBox="1"/>
          <p:nvPr/>
        </p:nvSpPr>
        <p:spPr>
          <a:xfrm>
            <a:off x="1524000" y="62230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实习周期</a:t>
            </a:r>
            <a:endParaRPr lang="en-US" sz="1100" noProof="1"/>
          </a:p>
        </p:txBody>
      </p:sp>
      <p:sp>
        <p:nvSpPr>
          <p:cNvPr id="12" name="stat-sep1"/>
          <p:cNvSpPr/>
          <p:nvPr/>
        </p:nvSpPr>
        <p:spPr>
          <a:xfrm>
            <a:off x="4191000" y="5689600"/>
            <a:ext cx="12700" cy="660400"/>
          </a:xfrm>
          <a:prstGeom prst="rect">
            <a:avLst/>
          </a:prstGeom>
          <a:solidFill>
            <a:srgbClr val="B9D6EC"/>
          </a:solidFill>
          <a:ln>
            <a:noFill/>
          </a:ln>
        </p:spPr>
      </p:sp>
      <p:sp>
        <p:nvSpPr>
          <p:cNvPr id="13" name="stat2"/>
          <p:cNvSpPr txBox="1"/>
          <p:nvPr/>
        </p:nvSpPr>
        <p:spPr>
          <a:xfrm>
            <a:off x="5080000" y="5638800"/>
            <a:ext cx="20320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2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153</a:t>
            </a:r>
            <a:r>
              <a:rPr lang="en-US" sz="13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 次</a:t>
            </a:r>
            <a:endParaRPr lang="en-US" sz="1600" noProof="1"/>
          </a:p>
        </p:txBody>
      </p:sp>
      <p:sp>
        <p:nvSpPr>
          <p:cNvPr id="14" name="stat2-label"/>
          <p:cNvSpPr txBox="1"/>
          <p:nvPr/>
        </p:nvSpPr>
        <p:spPr>
          <a:xfrm>
            <a:off x="5080000" y="62230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代码提交</a:t>
            </a:r>
            <a:endParaRPr lang="en-US" sz="1100" noProof="1"/>
          </a:p>
        </p:txBody>
      </p:sp>
      <p:sp>
        <p:nvSpPr>
          <p:cNvPr id="15" name="stat-sep2"/>
          <p:cNvSpPr/>
          <p:nvPr/>
        </p:nvSpPr>
        <p:spPr>
          <a:xfrm>
            <a:off x="8001000" y="5689600"/>
            <a:ext cx="12700" cy="660400"/>
          </a:xfrm>
          <a:prstGeom prst="rect">
            <a:avLst/>
          </a:prstGeom>
          <a:solidFill>
            <a:srgbClr val="B9D6EC"/>
          </a:solidFill>
          <a:ln>
            <a:noFill/>
          </a:ln>
        </p:spPr>
      </p:sp>
      <p:sp>
        <p:nvSpPr>
          <p:cNvPr id="16" name="stat3"/>
          <p:cNvSpPr txBox="1"/>
          <p:nvPr/>
        </p:nvSpPr>
        <p:spPr>
          <a:xfrm>
            <a:off x="8636000" y="5638800"/>
            <a:ext cx="20320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2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42</a:t>
            </a:r>
            <a:r>
              <a:rPr lang="en-US" sz="13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 篇</a:t>
            </a:r>
            <a:endParaRPr lang="en-US" sz="1600" noProof="1"/>
          </a:p>
        </p:txBody>
      </p:sp>
      <p:sp>
        <p:nvSpPr>
          <p:cNvPr id="17" name="stat3-label"/>
          <p:cNvSpPr txBox="1"/>
          <p:nvPr/>
        </p:nvSpPr>
        <p:spPr>
          <a:xfrm>
            <a:off x="8636000" y="62230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周记与笔记</a:t>
            </a:r>
            <a:endParaRPr lang="en-US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01 · 内容总览 OVERVIEW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三个月，两个异步驱动：</a:t>
            </a:r>
            <a:r>
              <a:rPr lang="zh-CN" alt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先</a:t>
            </a: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串口，</a:t>
            </a:r>
            <a:r>
              <a:rPr lang="zh-CN" alt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然后</a:t>
            </a: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网卡多核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tl-line"/>
          <p:cNvSpPr/>
          <p:nvPr/>
        </p:nvSpPr>
        <p:spPr>
          <a:xfrm>
            <a:off x="1016000" y="2641600"/>
            <a:ext cx="10160000" cy="19050"/>
          </a:xfrm>
          <a:prstGeom prst="rect">
            <a:avLst/>
          </a:prstGeom>
          <a:solidFill>
            <a:srgbClr val="B9D6EC"/>
          </a:solidFill>
          <a:ln>
            <a:noFill/>
          </a:ln>
        </p:spPr>
      </p:sp>
      <p:sp>
        <p:nvSpPr>
          <p:cNvPr id="6" name="tl-node1"/>
          <p:cNvSpPr/>
          <p:nvPr/>
        </p:nvSpPr>
        <p:spPr>
          <a:xfrm>
            <a:off x="2209800" y="2565400"/>
            <a:ext cx="152400" cy="152400"/>
          </a:xfrm>
          <a:prstGeom prst="ellipse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7" name="tl-node2"/>
          <p:cNvSpPr/>
          <p:nvPr/>
        </p:nvSpPr>
        <p:spPr>
          <a:xfrm>
            <a:off x="6019800" y="2565400"/>
            <a:ext cx="152400" cy="152400"/>
          </a:xfrm>
          <a:prstGeom prst="ellipse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8" name="tl-node3"/>
          <p:cNvSpPr/>
          <p:nvPr/>
        </p:nvSpPr>
        <p:spPr>
          <a:xfrm>
            <a:off x="9829800" y="2565400"/>
            <a:ext cx="152400" cy="152400"/>
          </a:xfrm>
          <a:prstGeom prst="ellipse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9" name="p1-tag"/>
          <p:cNvSpPr txBox="1"/>
          <p:nvPr/>
        </p:nvSpPr>
        <p:spPr>
          <a:xfrm>
            <a:off x="1016000" y="16764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kern="0" spc="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PHASE 1</a:t>
            </a:r>
            <a:endParaRPr lang="en-US" sz="1000" noProof="1"/>
          </a:p>
        </p:txBody>
      </p:sp>
      <p:sp>
        <p:nvSpPr>
          <p:cNvPr id="10" name="p1-date"/>
          <p:cNvSpPr txBox="1"/>
          <p:nvPr/>
        </p:nvSpPr>
        <p:spPr>
          <a:xfrm>
            <a:off x="1016000" y="19050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6/22 – 7/25</a:t>
            </a:r>
            <a:endParaRPr lang="en-US" sz="1400" noProof="1"/>
          </a:p>
        </p:txBody>
      </p:sp>
      <p:sp>
        <p:nvSpPr>
          <p:cNvPr id="11" name="p1-name"/>
          <p:cNvSpPr txBox="1"/>
          <p:nvPr/>
        </p:nvSpPr>
        <p:spPr>
          <a:xfrm>
            <a:off x="889000" y="28956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异步串口 · D1 真板</a:t>
            </a:r>
            <a:endParaRPr lang="en-US" sz="1500" noProof="1"/>
          </a:p>
        </p:txBody>
      </p:sp>
      <p:sp>
        <p:nvSpPr>
          <p:cNvPr id="12" name="p1-desc"/>
          <p:cNvSpPr txBox="1"/>
          <p:nvPr/>
        </p:nvSpPr>
        <p:spPr>
          <a:xfrm>
            <a:off x="889000" y="3200400"/>
            <a:ext cx="279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5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Lichee RV Dock D1 真板跑通串口收发，拿到完整性能数据</a:t>
            </a:r>
            <a:endParaRPr lang="en-US" sz="1200" noProof="1"/>
          </a:p>
        </p:txBody>
      </p:sp>
      <p:sp>
        <p:nvSpPr>
          <p:cNvPr id="13" name="p2-tag"/>
          <p:cNvSpPr txBox="1"/>
          <p:nvPr/>
        </p:nvSpPr>
        <p:spPr>
          <a:xfrm>
            <a:off x="4826000" y="16764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kern="0" spc="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PHASE 2</a:t>
            </a:r>
            <a:endParaRPr lang="en-US" sz="1000" noProof="1"/>
          </a:p>
        </p:txBody>
      </p:sp>
      <p:sp>
        <p:nvSpPr>
          <p:cNvPr id="14" name="p2-date"/>
          <p:cNvSpPr txBox="1"/>
          <p:nvPr/>
        </p:nvSpPr>
        <p:spPr>
          <a:xfrm>
            <a:off x="4826000" y="19050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7/26 – 9/4</a:t>
            </a:r>
            <a:endParaRPr lang="en-US" sz="1400" noProof="1"/>
          </a:p>
        </p:txBody>
      </p:sp>
      <p:sp>
        <p:nvSpPr>
          <p:cNvPr id="15" name="p2-name"/>
          <p:cNvSpPr txBox="1"/>
          <p:nvPr/>
        </p:nvSpPr>
        <p:spPr>
          <a:xfrm>
            <a:off x="4699000" y="28956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异步网卡 · QEMU 单核</a:t>
            </a:r>
            <a:endParaRPr lang="en-US" sz="1500" noProof="1"/>
          </a:p>
        </p:txBody>
      </p:sp>
      <p:sp>
        <p:nvSpPr>
          <p:cNvPr id="16" name="p2-desc"/>
          <p:cNvSpPr txBox="1"/>
          <p:nvPr/>
        </p:nvSpPr>
        <p:spPr>
          <a:xfrm>
            <a:off x="4699000" y="3200400"/>
            <a:ext cx="279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5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从同步接通到故障恢复共八个步骤，逐项验证推进</a:t>
            </a:r>
            <a:endParaRPr lang="en-US" sz="1200" noProof="1"/>
          </a:p>
        </p:txBody>
      </p:sp>
      <p:sp>
        <p:nvSpPr>
          <p:cNvPr id="17" name="p3-tag"/>
          <p:cNvSpPr txBox="1"/>
          <p:nvPr/>
        </p:nvSpPr>
        <p:spPr>
          <a:xfrm>
            <a:off x="8636000" y="16764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kern="0" spc="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PHASE 3</a:t>
            </a:r>
            <a:endParaRPr lang="en-US" sz="1000" noProof="1"/>
          </a:p>
        </p:txBody>
      </p:sp>
      <p:sp>
        <p:nvSpPr>
          <p:cNvPr id="18" name="p3-date"/>
          <p:cNvSpPr txBox="1"/>
          <p:nvPr/>
        </p:nvSpPr>
        <p:spPr>
          <a:xfrm>
            <a:off x="8636000" y="19050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9/5 – 9/27</a:t>
            </a:r>
            <a:endParaRPr lang="en-US" sz="1400" noProof="1"/>
          </a:p>
        </p:txBody>
      </p:sp>
      <p:sp>
        <p:nvSpPr>
          <p:cNvPr id="19" name="p3-name"/>
          <p:cNvSpPr txBox="1"/>
          <p:nvPr/>
        </p:nvSpPr>
        <p:spPr>
          <a:xfrm>
            <a:off x="8509000" y="28956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K3 接入 + 多核适配</a:t>
            </a:r>
            <a:endParaRPr lang="en-US" sz="1500" noProof="1"/>
          </a:p>
        </p:txBody>
      </p:sp>
      <p:sp>
        <p:nvSpPr>
          <p:cNvPr id="20" name="p3-desc"/>
          <p:cNvSpPr txBox="1"/>
          <p:nvPr/>
        </p:nvSpPr>
        <p:spPr>
          <a:xfrm>
            <a:off x="8509000" y="3200400"/>
            <a:ext cx="279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5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两驱动多核绑核适配，SMP=16 场景收口</a:t>
            </a:r>
            <a:endParaRPr lang="en-US" sz="1200" noProof="1"/>
          </a:p>
        </p:txBody>
      </p:sp>
      <p:sp>
        <p:nvSpPr>
          <p:cNvPr id="21" name="banner"/>
          <p:cNvSpPr/>
          <p:nvPr/>
        </p:nvSpPr>
        <p:spPr>
          <a:xfrm>
            <a:off x="609600" y="4470400"/>
            <a:ext cx="10972800" cy="13970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22" name="banner-bar"/>
          <p:cNvSpPr/>
          <p:nvPr/>
        </p:nvSpPr>
        <p:spPr>
          <a:xfrm>
            <a:off x="609600" y="4470400"/>
            <a:ext cx="50800" cy="13970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23" name="banner-label"/>
          <p:cNvSpPr txBox="1"/>
          <p:nvPr/>
        </p:nvSpPr>
        <p:spPr>
          <a:xfrm>
            <a:off x="914400" y="4648200"/>
            <a:ext cx="127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成果</a:t>
            </a:r>
            <a:endParaRPr lang="en-US" sz="1400" noProof="1"/>
          </a:p>
        </p:txBody>
      </p:sp>
      <p:sp>
        <p:nvSpPr>
          <p:cNvPr id="24" name="banner-sq1"/>
          <p:cNvSpPr/>
          <p:nvPr/>
        </p:nvSpPr>
        <p:spPr>
          <a:xfrm>
            <a:off x="965200" y="5054600"/>
            <a:ext cx="76200" cy="76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25" name="banner-t1"/>
          <p:cNvSpPr txBox="1"/>
          <p:nvPr/>
        </p:nvSpPr>
        <p:spPr>
          <a:xfrm>
            <a:off x="1168400" y="49657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串口：D1 真板正常收发，64B 短包达 </a:t>
            </a: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96.6% 线速</a:t>
            </a:r>
            <a:endParaRPr lang="en-US" sz="1300" noProof="1"/>
          </a:p>
        </p:txBody>
      </p:sp>
      <p:sp>
        <p:nvSpPr>
          <p:cNvPr id="26" name="banner-sq2"/>
          <p:cNvSpPr/>
          <p:nvPr/>
        </p:nvSpPr>
        <p:spPr>
          <a:xfrm>
            <a:off x="965200" y="5410200"/>
            <a:ext cx="76200" cy="76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27" name="banner-t2"/>
          <p:cNvSpPr txBox="1"/>
          <p:nvPr/>
        </p:nvSpPr>
        <p:spPr>
          <a:xfrm>
            <a:off x="1168400" y="53213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网卡：SMP=16 下 TCP / UDP 双向正常，poll / select 可用，故障注入后可恢复</a:t>
            </a:r>
            <a:endParaRPr lang="en-US" sz="1300" noProof="1"/>
          </a:p>
        </p:txBody>
      </p:sp>
      <p:sp>
        <p:nvSpPr>
          <p:cNvPr id="28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29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30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02 / 12</a:t>
            </a:r>
            <a:endParaRPr lang="en-US" sz="10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02 · 运行效果 RESULTS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运行效果：两个驱动均正常工作，指标全部来自实测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cap-left"/>
          <p:cNvSpPr txBox="1"/>
          <p:nvPr/>
        </p:nvSpPr>
        <p:spPr>
          <a:xfrm>
            <a:off x="609600" y="1320800"/>
            <a:ext cx="538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异步串口 · D1 真板</a:t>
            </a: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物理线速 11.52 KB/s @ 115200 bps</a:t>
            </a:r>
            <a:endParaRPr lang="en-US" sz="1600" noProof="1"/>
          </a:p>
        </p:txBody>
      </p:sp>
      <p:graphicFrame>
        <p:nvGraphicFramePr>
          <p:cNvPr id="6" name="table-left"/>
          <p:cNvGraphicFramePr>
            <a:graphicFrameLocks noGrp="1"/>
          </p:cNvGraphicFramePr>
          <p:nvPr/>
        </p:nvGraphicFramePr>
        <p:xfrm>
          <a:off x="609600" y="1651000"/>
          <a:ext cx="5384800" cy="3657600"/>
        </p:xfrm>
        <a:graphic>
          <a:graphicData uri="http://schemas.openxmlformats.org/drawingml/2006/table">
            <a:tbl>
              <a:tblPr/>
              <a:tblGrid>
                <a:gridCol w="2369312"/>
                <a:gridCol w="3015488"/>
              </a:tblGrid>
              <a:tr h="475488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测试项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结果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64B 写 + 排空 ×100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b="1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11.13 KB/s</a:t>
                      </a:r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，</a:t>
                      </a:r>
                      <a:r>
                        <a:rPr lang="en-US" sz="1200" b="1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96.6%</a:t>
                      </a:r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 线速，错误 0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1024B 批量排空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b="1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99.1%</a:t>
                      </a:r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 线速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单字节发送延迟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平均 </a:t>
                      </a:r>
                      <a:r>
                        <a:rPr lang="en-US" sz="1200" b="1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0.186 ms</a:t>
                      </a:r>
                      <a:endParaRPr lang="en-US" sz="1200" b="1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非阻塞读 O_NONBLOCK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PASS，空读返回 EAGAIN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整轮基准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2F6FB4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进程 exit 0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2F6FB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cap-right"/>
          <p:cNvSpPr txBox="1"/>
          <p:nvPr/>
        </p:nvSpPr>
        <p:spPr>
          <a:xfrm>
            <a:off x="6299200" y="1320800"/>
            <a:ext cx="538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异步网卡 · SMP=16</a:t>
            </a: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2026-09-26 运行记录</a:t>
            </a:r>
            <a:endParaRPr lang="en-US" sz="1600" noProof="1"/>
          </a:p>
        </p:txBody>
      </p:sp>
      <p:graphicFrame>
        <p:nvGraphicFramePr>
          <p:cNvPr id="8" name="table-right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299200" y="1651000"/>
          <a:ext cx="5384800" cy="3657600"/>
        </p:xfrm>
        <a:graphic>
          <a:graphicData uri="http://schemas.openxmlformats.org/drawingml/2006/table">
            <a:tbl>
              <a:tblPr/>
              <a:tblGrid>
                <a:gridCol w="2261616"/>
                <a:gridCol w="3123184"/>
              </a:tblGrid>
              <a:tr h="475488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测试项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结果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绑核检查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零拒绝，PASS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关定时器跨核唤醒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IPI 发送 = 接收 = </a:t>
                      </a:r>
                      <a:r>
                        <a:rPr lang="en-US" sz="1200" b="1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191</a:t>
                      </a:r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，PASS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TCP / UDP 双向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各发 8 收 8，提交 = 完成 = 回收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队列满载恢复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64 槽压满再释放，计数 </a:t>
                      </a:r>
                      <a:r>
                        <a:rPr lang="en-US" sz="1200" b="1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322</a:t>
                      </a:r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 闭合，在途 0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探针退出 &amp; 抓包核对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2F6FB4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exit 0，与宿主机抓包逐项一致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2F6FB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source"/>
          <p:cNvSpPr txBox="1"/>
          <p:nvPr/>
        </p:nvSpPr>
        <p:spPr>
          <a:xfrm>
            <a:off x="609600" y="5638800"/>
            <a:ext cx="889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数据出处：StarryOS 仓库留档（W15 实习总结），网卡数据为 2026-09-26 运行记录；实际运行截图见下一页</a:t>
            </a:r>
            <a:endParaRPr lang="en-US" sz="1000" noProof="1"/>
          </a:p>
        </p:txBody>
      </p:sp>
      <p:sp>
        <p:nvSpPr>
          <p:cNvPr id="10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11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12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03 / 12</a:t>
            </a:r>
            <a:endParaRPr lang="en-US" sz="10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03 · 运行截图 DEMO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运行截图：串口与网卡实测终端输出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6" name="ph-icon"/>
          <p:cNvSpPr/>
          <p:nvPr/>
        </p:nvSpPr>
        <p:spPr>
          <a:xfrm>
            <a:off x="5918200" y="32258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384" y="32"/>
                </a:lnTo>
                <a:cubicBezTo>
                  <a:pt x="419" y="32"/>
                  <a:pt x="448" y="61"/>
                  <a:pt x="448" y="96"/>
                </a:cubicBezTo>
                <a:lnTo>
                  <a:pt x="448" y="416"/>
                </a:lnTo>
                <a:cubicBezTo>
                  <a:pt x="448" y="451"/>
                  <a:pt x="419" y="480"/>
                  <a:pt x="384" y="480"/>
                </a:cubicBezTo>
                <a:lnTo>
                  <a:pt x="64" y="480"/>
                </a:lnTo>
                <a:cubicBezTo>
                  <a:pt x="29" y="480"/>
                  <a:pt x="0" y="451"/>
                  <a:pt x="0" y="416"/>
                </a:cubicBezTo>
                <a:lnTo>
                  <a:pt x="0" y="96"/>
                </a:lnTo>
                <a:close/>
                <a:moveTo>
                  <a:pt x="64" y="80"/>
                </a:moveTo>
                <a:cubicBezTo>
                  <a:pt x="55" y="80"/>
                  <a:pt x="48" y="87"/>
                  <a:pt x="48" y="96"/>
                </a:cubicBezTo>
                <a:lnTo>
                  <a:pt x="48" y="416"/>
                </a:lnTo>
                <a:cubicBezTo>
                  <a:pt x="48" y="425"/>
                  <a:pt x="55" y="432"/>
                  <a:pt x="64" y="432"/>
                </a:cubicBezTo>
                <a:lnTo>
                  <a:pt x="384" y="432"/>
                </a:lnTo>
                <a:cubicBezTo>
                  <a:pt x="393" y="432"/>
                  <a:pt x="400" y="425"/>
                  <a:pt x="400" y="416"/>
                </a:cubicBezTo>
                <a:lnTo>
                  <a:pt x="400" y="96"/>
                </a:lnTo>
                <a:cubicBezTo>
                  <a:pt x="400" y="87"/>
                  <a:pt x="393" y="80"/>
                  <a:pt x="384" y="80"/>
                </a:cubicBezTo>
                <a:lnTo>
                  <a:pt x="64" y="80"/>
                </a:lnTo>
                <a:close/>
              </a:path>
              <a:path w="448" h="512">
                <a:moveTo>
                  <a:pt x="128" y="128"/>
                </a:moveTo>
                <a:cubicBezTo>
                  <a:pt x="146" y="128"/>
                  <a:pt x="160" y="142"/>
                  <a:pt x="160" y="160"/>
                </a:cubicBezTo>
                <a:cubicBezTo>
                  <a:pt x="160" y="178"/>
                  <a:pt x="146" y="192"/>
                  <a:pt x="128" y="192"/>
                </a:cubicBezTo>
                <a:cubicBezTo>
                  <a:pt x="110" y="192"/>
                  <a:pt x="96" y="178"/>
                  <a:pt x="96" y="160"/>
                </a:cubicBezTo>
                <a:cubicBezTo>
                  <a:pt x="96" y="142"/>
                  <a:pt x="110" y="128"/>
                  <a:pt x="128" y="128"/>
                </a:cubicBezTo>
                <a:close/>
              </a:path>
              <a:path w="448" h="512">
                <a:moveTo>
                  <a:pt x="264" y="200"/>
                </a:moveTo>
                <a:cubicBezTo>
                  <a:pt x="273" y="200"/>
                  <a:pt x="280" y="205"/>
                  <a:pt x="285" y="212"/>
                </a:cubicBezTo>
                <a:lnTo>
                  <a:pt x="365" y="348"/>
                </a:lnTo>
                <a:cubicBezTo>
                  <a:pt x="369" y="355"/>
                  <a:pt x="369" y="364"/>
                  <a:pt x="365" y="372"/>
                </a:cubicBezTo>
                <a:cubicBezTo>
                  <a:pt x="361" y="379"/>
                  <a:pt x="353" y="384"/>
                  <a:pt x="344" y="384"/>
                </a:cubicBezTo>
                <a:lnTo>
                  <a:pt x="104" y="384"/>
                </a:lnTo>
                <a:cubicBezTo>
                  <a:pt x="95" y="384"/>
                  <a:pt x="87" y="379"/>
                  <a:pt x="83" y="371"/>
                </a:cubicBezTo>
                <a:cubicBezTo>
                  <a:pt x="79" y="363"/>
                  <a:pt x="79" y="354"/>
                  <a:pt x="84" y="346"/>
                </a:cubicBezTo>
                <a:lnTo>
                  <a:pt x="140" y="266"/>
                </a:lnTo>
                <a:cubicBezTo>
                  <a:pt x="145" y="260"/>
                  <a:pt x="152" y="256"/>
                  <a:pt x="160" y="256"/>
                </a:cubicBezTo>
                <a:cubicBezTo>
                  <a:pt x="168" y="256"/>
                  <a:pt x="175" y="260"/>
                  <a:pt x="180" y="266"/>
                </a:cubicBezTo>
                <a:lnTo>
                  <a:pt x="197" y="291"/>
                </a:lnTo>
                <a:lnTo>
                  <a:pt x="243" y="212"/>
                </a:lnTo>
                <a:cubicBezTo>
                  <a:pt x="248" y="205"/>
                  <a:pt x="256" y="200"/>
                  <a:pt x="264" y="200"/>
                </a:cubicBezTo>
                <a:close/>
              </a:path>
            </a:pathLst>
          </a:custGeom>
          <a:solidFill>
            <a:srgbClr val="8FB4D6"/>
          </a:solidFill>
          <a:ln>
            <a:noFill/>
          </a:ln>
        </p:spPr>
      </p:sp>
      <p:sp>
        <p:nvSpPr>
          <p:cNvPr id="7" name="ph-text"/>
          <p:cNvSpPr txBox="1"/>
          <p:nvPr/>
        </p:nvSpPr>
        <p:spPr>
          <a:xfrm>
            <a:off x="2743200" y="3733800"/>
            <a:ext cx="67056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noProof="1">
                <a:solidFill>
                  <a:srgbClr val="6E93B8"/>
                </a:solidFill>
                <a:latin typeface="MiSans" charset="-122"/>
                <a:ea typeface="MiSans" charset="-122"/>
              </a:rPr>
              <a:t>演示图片占位：请替换为串口 / 网卡实际运行截图</a:t>
            </a:r>
            <a:endParaRPr lang="en-US" sz="1400" noProof="1"/>
          </a:p>
        </p:txBody>
      </p:sp>
      <p:sp>
        <p:nvSpPr>
          <p:cNvPr id="8" name="ph-note"/>
          <p:cNvSpPr txBox="1"/>
          <p:nvPr/>
        </p:nvSpPr>
        <p:spPr>
          <a:xfrm>
            <a:off x="2743200" y="4089400"/>
            <a:ext cx="6705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93AEC9"/>
                </a:solidFill>
                <a:latin typeface="MiSans" charset="-122"/>
                <a:ea typeface="MiSans" charset="-122"/>
              </a:rPr>
              <a:t>建议放终端输出或基准测试全过程截图，图片较大，独占本页展示</a:t>
            </a:r>
            <a:endParaRPr lang="en-US" sz="1100" noProof="1"/>
          </a:p>
        </p:txBody>
      </p:sp>
      <p:sp>
        <p:nvSpPr>
          <p:cNvPr id="9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10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11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04 / 12</a:t>
            </a:r>
            <a:endParaRPr lang="en-US" sz="1000" noProof="1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5755" y="1233170"/>
            <a:ext cx="8564245" cy="48177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03 · 运行截图 DEMO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运行截图：串口与网卡实测终端输出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6" name="ph-icon"/>
          <p:cNvSpPr/>
          <p:nvPr/>
        </p:nvSpPr>
        <p:spPr>
          <a:xfrm>
            <a:off x="5918200" y="32258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384" y="32"/>
                </a:lnTo>
                <a:cubicBezTo>
                  <a:pt x="419" y="32"/>
                  <a:pt x="448" y="61"/>
                  <a:pt x="448" y="96"/>
                </a:cubicBezTo>
                <a:lnTo>
                  <a:pt x="448" y="416"/>
                </a:lnTo>
                <a:cubicBezTo>
                  <a:pt x="448" y="451"/>
                  <a:pt x="419" y="480"/>
                  <a:pt x="384" y="480"/>
                </a:cubicBezTo>
                <a:lnTo>
                  <a:pt x="64" y="480"/>
                </a:lnTo>
                <a:cubicBezTo>
                  <a:pt x="29" y="480"/>
                  <a:pt x="0" y="451"/>
                  <a:pt x="0" y="416"/>
                </a:cubicBezTo>
                <a:lnTo>
                  <a:pt x="0" y="96"/>
                </a:lnTo>
                <a:close/>
                <a:moveTo>
                  <a:pt x="64" y="80"/>
                </a:moveTo>
                <a:cubicBezTo>
                  <a:pt x="55" y="80"/>
                  <a:pt x="48" y="87"/>
                  <a:pt x="48" y="96"/>
                </a:cubicBezTo>
                <a:lnTo>
                  <a:pt x="48" y="416"/>
                </a:lnTo>
                <a:cubicBezTo>
                  <a:pt x="48" y="425"/>
                  <a:pt x="55" y="432"/>
                  <a:pt x="64" y="432"/>
                </a:cubicBezTo>
                <a:lnTo>
                  <a:pt x="384" y="432"/>
                </a:lnTo>
                <a:cubicBezTo>
                  <a:pt x="393" y="432"/>
                  <a:pt x="400" y="425"/>
                  <a:pt x="400" y="416"/>
                </a:cubicBezTo>
                <a:lnTo>
                  <a:pt x="400" y="96"/>
                </a:lnTo>
                <a:cubicBezTo>
                  <a:pt x="400" y="87"/>
                  <a:pt x="393" y="80"/>
                  <a:pt x="384" y="80"/>
                </a:cubicBezTo>
                <a:lnTo>
                  <a:pt x="64" y="80"/>
                </a:lnTo>
                <a:close/>
              </a:path>
              <a:path w="448" h="512">
                <a:moveTo>
                  <a:pt x="128" y="128"/>
                </a:moveTo>
                <a:cubicBezTo>
                  <a:pt x="146" y="128"/>
                  <a:pt x="160" y="142"/>
                  <a:pt x="160" y="160"/>
                </a:cubicBezTo>
                <a:cubicBezTo>
                  <a:pt x="160" y="178"/>
                  <a:pt x="146" y="192"/>
                  <a:pt x="128" y="192"/>
                </a:cubicBezTo>
                <a:cubicBezTo>
                  <a:pt x="110" y="192"/>
                  <a:pt x="96" y="178"/>
                  <a:pt x="96" y="160"/>
                </a:cubicBezTo>
                <a:cubicBezTo>
                  <a:pt x="96" y="142"/>
                  <a:pt x="110" y="128"/>
                  <a:pt x="128" y="128"/>
                </a:cubicBezTo>
                <a:close/>
              </a:path>
              <a:path w="448" h="512">
                <a:moveTo>
                  <a:pt x="264" y="200"/>
                </a:moveTo>
                <a:cubicBezTo>
                  <a:pt x="273" y="200"/>
                  <a:pt x="280" y="205"/>
                  <a:pt x="285" y="212"/>
                </a:cubicBezTo>
                <a:lnTo>
                  <a:pt x="365" y="348"/>
                </a:lnTo>
                <a:cubicBezTo>
                  <a:pt x="369" y="355"/>
                  <a:pt x="369" y="364"/>
                  <a:pt x="365" y="372"/>
                </a:cubicBezTo>
                <a:cubicBezTo>
                  <a:pt x="361" y="379"/>
                  <a:pt x="353" y="384"/>
                  <a:pt x="344" y="384"/>
                </a:cubicBezTo>
                <a:lnTo>
                  <a:pt x="104" y="384"/>
                </a:lnTo>
                <a:cubicBezTo>
                  <a:pt x="95" y="384"/>
                  <a:pt x="87" y="379"/>
                  <a:pt x="83" y="371"/>
                </a:cubicBezTo>
                <a:cubicBezTo>
                  <a:pt x="79" y="363"/>
                  <a:pt x="79" y="354"/>
                  <a:pt x="84" y="346"/>
                </a:cubicBezTo>
                <a:lnTo>
                  <a:pt x="140" y="266"/>
                </a:lnTo>
                <a:cubicBezTo>
                  <a:pt x="145" y="260"/>
                  <a:pt x="152" y="256"/>
                  <a:pt x="160" y="256"/>
                </a:cubicBezTo>
                <a:cubicBezTo>
                  <a:pt x="168" y="256"/>
                  <a:pt x="175" y="260"/>
                  <a:pt x="180" y="266"/>
                </a:cubicBezTo>
                <a:lnTo>
                  <a:pt x="197" y="291"/>
                </a:lnTo>
                <a:lnTo>
                  <a:pt x="243" y="212"/>
                </a:lnTo>
                <a:cubicBezTo>
                  <a:pt x="248" y="205"/>
                  <a:pt x="256" y="200"/>
                  <a:pt x="264" y="200"/>
                </a:cubicBezTo>
                <a:close/>
              </a:path>
            </a:pathLst>
          </a:custGeom>
          <a:solidFill>
            <a:srgbClr val="8FB4D6"/>
          </a:solidFill>
          <a:ln>
            <a:noFill/>
          </a:ln>
        </p:spPr>
      </p:sp>
      <p:sp>
        <p:nvSpPr>
          <p:cNvPr id="7" name="ph-text"/>
          <p:cNvSpPr txBox="1"/>
          <p:nvPr/>
        </p:nvSpPr>
        <p:spPr>
          <a:xfrm>
            <a:off x="2743200" y="3733800"/>
            <a:ext cx="67056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noProof="1">
                <a:solidFill>
                  <a:srgbClr val="6E93B8"/>
                </a:solidFill>
                <a:latin typeface="MiSans" charset="-122"/>
                <a:ea typeface="MiSans" charset="-122"/>
              </a:rPr>
              <a:t>演示图片占位：请替换为串口 / 网卡实际运行截图</a:t>
            </a:r>
            <a:endParaRPr lang="en-US" sz="1400" noProof="1"/>
          </a:p>
        </p:txBody>
      </p:sp>
      <p:sp>
        <p:nvSpPr>
          <p:cNvPr id="8" name="ph-note"/>
          <p:cNvSpPr txBox="1"/>
          <p:nvPr/>
        </p:nvSpPr>
        <p:spPr>
          <a:xfrm>
            <a:off x="2743200" y="4089400"/>
            <a:ext cx="6705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93AEC9"/>
                </a:solidFill>
                <a:latin typeface="MiSans" charset="-122"/>
                <a:ea typeface="MiSans" charset="-122"/>
              </a:rPr>
              <a:t>建议放终端输出或基准测试全过程截图，图片较大，独占本页展示</a:t>
            </a:r>
            <a:endParaRPr lang="en-US" sz="1100" noProof="1"/>
          </a:p>
        </p:txBody>
      </p:sp>
      <p:sp>
        <p:nvSpPr>
          <p:cNvPr id="9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10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11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04 / 12</a:t>
            </a:r>
            <a:endParaRPr lang="en-US" sz="1000" noProof="1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085" y="1388745"/>
            <a:ext cx="8547100" cy="46640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04 · 动机 MOTIVATION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为什么做异步驱动：中断只负责唤醒，搬运交给后台批处理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pain1-sq"/>
          <p:cNvSpPr/>
          <p:nvPr/>
        </p:nvSpPr>
        <p:spPr>
          <a:xfrm>
            <a:off x="609600" y="1409700"/>
            <a:ext cx="101600" cy="101600"/>
          </a:xfrm>
          <a:prstGeom prst="rect">
            <a:avLst/>
          </a:prstGeom>
          <a:solidFill>
            <a:srgbClr val="8FB4D6"/>
          </a:solidFill>
          <a:ln>
            <a:noFill/>
          </a:ln>
        </p:spPr>
      </p:sp>
      <p:sp>
        <p:nvSpPr>
          <p:cNvPr id="6" name="pain1-h"/>
          <p:cNvSpPr txBox="1"/>
          <p:nvPr/>
        </p:nvSpPr>
        <p:spPr>
          <a:xfrm>
            <a:off x="8128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纯轮询</a:t>
            </a:r>
            <a:endParaRPr lang="en-US" sz="1500" noProof="1"/>
          </a:p>
        </p:txBody>
      </p:sp>
      <p:sp>
        <p:nvSpPr>
          <p:cNvPr id="7" name="pain1-t"/>
          <p:cNvSpPr txBox="1"/>
          <p:nvPr/>
        </p:nvSpPr>
        <p:spPr>
          <a:xfrm>
            <a:off x="609600" y="1676400"/>
            <a:ext cx="513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设备没事也反复查询，空闲时 CPU 空转，功耗白白消耗</a:t>
            </a:r>
            <a:endParaRPr lang="en-US" sz="1250" noProof="1"/>
          </a:p>
        </p:txBody>
      </p:sp>
      <p:sp>
        <p:nvSpPr>
          <p:cNvPr id="8" name="divider"/>
          <p:cNvSpPr/>
          <p:nvPr/>
        </p:nvSpPr>
        <p:spPr>
          <a:xfrm>
            <a:off x="6096000" y="1346200"/>
            <a:ext cx="12700" cy="8890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9" name="pain2-sq"/>
          <p:cNvSpPr/>
          <p:nvPr/>
        </p:nvSpPr>
        <p:spPr>
          <a:xfrm>
            <a:off x="6375400" y="1409700"/>
            <a:ext cx="101600" cy="101600"/>
          </a:xfrm>
          <a:prstGeom prst="rect">
            <a:avLst/>
          </a:prstGeom>
          <a:solidFill>
            <a:srgbClr val="8FB4D6"/>
          </a:solidFill>
          <a:ln>
            <a:noFill/>
          </a:ln>
        </p:spPr>
      </p:sp>
      <p:sp>
        <p:nvSpPr>
          <p:cNvPr id="10" name="pain2-h"/>
          <p:cNvSpPr txBox="1"/>
          <p:nvPr/>
        </p:nvSpPr>
        <p:spPr>
          <a:xfrm>
            <a:off x="65786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纯中断</a:t>
            </a:r>
            <a:endParaRPr lang="en-US" sz="1500" noProof="1"/>
          </a:p>
        </p:txBody>
      </p:sp>
      <p:sp>
        <p:nvSpPr>
          <p:cNvPr id="11" name="pain2-t"/>
          <p:cNvSpPr txBox="1"/>
          <p:nvPr/>
        </p:nvSpPr>
        <p:spPr>
          <a:xfrm>
            <a:off x="6375400" y="1676400"/>
            <a:ext cx="513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每次到达都进 ISR，吞吐</a:t>
            </a:r>
            <a:r>
              <a:rPr lang="zh-CN" alt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量变大</a:t>
            </a:r>
            <a:r>
              <a:rPr 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就是中断风暴，CPU 被中断处理占满</a:t>
            </a:r>
            <a:endParaRPr lang="en-US" sz="1250" noProof="1"/>
          </a:p>
        </p:txBody>
      </p:sp>
      <p:sp>
        <p:nvSpPr>
          <p:cNvPr id="12" name="plan"/>
          <p:cNvSpPr txBox="1"/>
          <p:nvPr/>
        </p:nvSpPr>
        <p:spPr>
          <a:xfrm>
            <a:off x="609600" y="2489200"/>
            <a:ext cx="109728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方案：中断只负责</a:t>
            </a: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唤醒</a:t>
            </a:r>
            <a:r>
              <a:rPr lang="en-US" sz="15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，后台 copier </a:t>
            </a: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批量搬运</a:t>
            </a:r>
            <a:r>
              <a:rPr lang="en-US" sz="15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（NAPI 思路）</a:t>
            </a:r>
            <a:endParaRPr lang="en-US" sz="1500" noProof="1"/>
          </a:p>
        </p:txBody>
      </p:sp>
      <p:sp>
        <p:nvSpPr>
          <p:cNvPr id="13" name="box1"/>
          <p:cNvSpPr/>
          <p:nvPr/>
        </p:nvSpPr>
        <p:spPr>
          <a:xfrm>
            <a:off x="609600" y="3098800"/>
            <a:ext cx="1930400" cy="8128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14" name="box1-t"/>
          <p:cNvSpPr txBox="1"/>
          <p:nvPr/>
        </p:nvSpPr>
        <p:spPr>
          <a:xfrm>
            <a:off x="609600" y="3098800"/>
            <a:ext cx="19304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外设 IRQ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数据到达触发中断</a:t>
            </a:r>
            <a:endParaRPr lang="en-US" sz="1600" noProof="1"/>
          </a:p>
        </p:txBody>
      </p:sp>
      <p:sp>
        <p:nvSpPr>
          <p:cNvPr id="15" name="arr1"/>
          <p:cNvSpPr/>
          <p:nvPr/>
        </p:nvSpPr>
        <p:spPr>
          <a:xfrm>
            <a:off x="2565400" y="34798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16" name="box2"/>
          <p:cNvSpPr/>
          <p:nvPr/>
        </p:nvSpPr>
        <p:spPr>
          <a:xfrm>
            <a:off x="2870200" y="3098800"/>
            <a:ext cx="19304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17" name="box2-t"/>
          <p:cNvSpPr txBox="1"/>
          <p:nvPr/>
        </p:nvSpPr>
        <p:spPr>
          <a:xfrm>
            <a:off x="2870200" y="3098800"/>
            <a:ext cx="19304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ISR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仅确认原因、清中断</a:t>
            </a:r>
            <a:endParaRPr lang="en-US" sz="1600" noProof="1"/>
          </a:p>
        </p:txBody>
      </p:sp>
      <p:sp>
        <p:nvSpPr>
          <p:cNvPr id="18" name="arr2"/>
          <p:cNvSpPr/>
          <p:nvPr/>
        </p:nvSpPr>
        <p:spPr>
          <a:xfrm>
            <a:off x="4826000" y="34798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19" name="box3"/>
          <p:cNvSpPr/>
          <p:nvPr/>
        </p:nvSpPr>
        <p:spPr>
          <a:xfrm>
            <a:off x="5130800" y="3098800"/>
            <a:ext cx="19304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20" name="box3-t"/>
          <p:cNvSpPr txBox="1"/>
          <p:nvPr/>
        </p:nvSpPr>
        <p:spPr>
          <a:xfrm>
            <a:off x="5130800" y="3098800"/>
            <a:ext cx="19304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Waker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唤醒等待中的任务</a:t>
            </a:r>
            <a:endParaRPr lang="en-US" sz="1600" noProof="1"/>
          </a:p>
        </p:txBody>
      </p:sp>
      <p:sp>
        <p:nvSpPr>
          <p:cNvPr id="21" name="arr3"/>
          <p:cNvSpPr/>
          <p:nvPr/>
        </p:nvSpPr>
        <p:spPr>
          <a:xfrm>
            <a:off x="7086600" y="34798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22" name="box4"/>
          <p:cNvSpPr/>
          <p:nvPr/>
        </p:nvSpPr>
        <p:spPr>
          <a:xfrm>
            <a:off x="7391400" y="3098800"/>
            <a:ext cx="19304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23" name="box4-t"/>
          <p:cNvSpPr txBox="1"/>
          <p:nvPr/>
        </p:nvSpPr>
        <p:spPr>
          <a:xfrm>
            <a:off x="7391400" y="3098800"/>
            <a:ext cx="19304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Copier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后台批量搬运数据</a:t>
            </a:r>
            <a:endParaRPr lang="en-US" sz="1600" noProof="1"/>
          </a:p>
        </p:txBody>
      </p:sp>
      <p:sp>
        <p:nvSpPr>
          <p:cNvPr id="24" name="arr4"/>
          <p:cNvSpPr/>
          <p:nvPr/>
        </p:nvSpPr>
        <p:spPr>
          <a:xfrm>
            <a:off x="9347200" y="34798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25" name="box5"/>
          <p:cNvSpPr/>
          <p:nvPr/>
        </p:nvSpPr>
        <p:spPr>
          <a:xfrm>
            <a:off x="9652000" y="3098800"/>
            <a:ext cx="19304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26" name="box5-t"/>
          <p:cNvSpPr txBox="1"/>
          <p:nvPr/>
        </p:nvSpPr>
        <p:spPr>
          <a:xfrm>
            <a:off x="9652000" y="3098800"/>
            <a:ext cx="19304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异步任务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协议处理与业务逻辑</a:t>
            </a:r>
            <a:endParaRPr lang="en-US" sz="1600" noProof="1"/>
          </a:p>
        </p:txBody>
      </p:sp>
      <p:sp>
        <p:nvSpPr>
          <p:cNvPr id="27" name="eff1-h"/>
          <p:cNvSpPr txBox="1"/>
          <p:nvPr/>
        </p:nvSpPr>
        <p:spPr>
          <a:xfrm>
            <a:off x="609600" y="4470400"/>
            <a:ext cx="345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空闲时</a:t>
            </a:r>
            <a:endParaRPr lang="en-US" sz="1350" noProof="1"/>
          </a:p>
        </p:txBody>
      </p:sp>
      <p:sp>
        <p:nvSpPr>
          <p:cNvPr id="28" name="eff1-t"/>
          <p:cNvSpPr txBox="1"/>
          <p:nvPr/>
        </p:nvSpPr>
        <p:spPr>
          <a:xfrm>
            <a:off x="609600" y="4775200"/>
            <a:ext cx="3454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全链路睡眠，CPU 不做无用轮询</a:t>
            </a:r>
            <a:endParaRPr lang="en-US" sz="1200" noProof="1"/>
          </a:p>
        </p:txBody>
      </p:sp>
      <p:sp>
        <p:nvSpPr>
          <p:cNvPr id="29" name="eff-sep1"/>
          <p:cNvSpPr/>
          <p:nvPr/>
        </p:nvSpPr>
        <p:spPr>
          <a:xfrm>
            <a:off x="4267200" y="4521200"/>
            <a:ext cx="12700" cy="7112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30" name="eff2-h"/>
          <p:cNvSpPr txBox="1"/>
          <p:nvPr/>
        </p:nvSpPr>
        <p:spPr>
          <a:xfrm>
            <a:off x="4572000" y="4470400"/>
            <a:ext cx="345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繁忙时</a:t>
            </a:r>
            <a:endParaRPr lang="en-US" sz="1350" noProof="1"/>
          </a:p>
        </p:txBody>
      </p:sp>
      <p:sp>
        <p:nvSpPr>
          <p:cNvPr id="31" name="eff2-t"/>
          <p:cNvSpPr txBox="1"/>
          <p:nvPr/>
        </p:nvSpPr>
        <p:spPr>
          <a:xfrm>
            <a:off x="4572000" y="4775200"/>
            <a:ext cx="3454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批处理推进搬运，中断次数被压低</a:t>
            </a:r>
            <a:endParaRPr lang="en-US" sz="1200" noProof="1"/>
          </a:p>
        </p:txBody>
      </p:sp>
      <p:sp>
        <p:nvSpPr>
          <p:cNvPr id="32" name="eff-sep2"/>
          <p:cNvSpPr/>
          <p:nvPr/>
        </p:nvSpPr>
        <p:spPr>
          <a:xfrm>
            <a:off x="8229600" y="4521200"/>
            <a:ext cx="12700" cy="7112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33" name="eff3-h"/>
          <p:cNvSpPr txBox="1"/>
          <p:nvPr/>
        </p:nvSpPr>
        <p:spPr>
          <a:xfrm>
            <a:off x="8534400" y="4470400"/>
            <a:ext cx="345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背压与恢复</a:t>
            </a:r>
            <a:endParaRPr lang="en-US" sz="1350" noProof="1"/>
          </a:p>
        </p:txBody>
      </p:sp>
      <p:sp>
        <p:nvSpPr>
          <p:cNvPr id="34" name="eff3-t"/>
          <p:cNvSpPr txBox="1"/>
          <p:nvPr/>
        </p:nvSpPr>
        <p:spPr>
          <a:xfrm>
            <a:off x="8534400" y="4775200"/>
            <a:ext cx="3454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队列有界、背压</a:t>
            </a:r>
            <a:r>
              <a:rPr lang="zh-CN" alt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（上游流速大于下游</a:t>
            </a:r>
            <a:r>
              <a:rPr lang="zh-CN" alt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）</a:t>
            </a: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可见、故障可恢复</a:t>
            </a:r>
            <a:endParaRPr lang="en-US" sz="1200" noProof="1"/>
          </a:p>
        </p:txBody>
      </p:sp>
      <p:sp>
        <p:nvSpPr>
          <p:cNvPr id="35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36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37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05 / 12</a:t>
            </a:r>
            <a:endParaRPr lang="en-US" sz="10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05 · 开发范式 PATTERN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开发范式：四段触发链统一骨架，四条契约守住正确性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st1"/>
          <p:cNvSpPr/>
          <p:nvPr/>
        </p:nvSpPr>
        <p:spPr>
          <a:xfrm>
            <a:off x="609600" y="1346200"/>
            <a:ext cx="2489200" cy="7874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6" name="st1-t"/>
          <p:cNvSpPr txBox="1"/>
          <p:nvPr/>
        </p:nvSpPr>
        <p:spPr>
          <a:xfrm>
            <a:off x="609600" y="1346200"/>
            <a:ext cx="2489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1</a:t>
            </a:r>
            <a:r>
              <a:rPr lang="en-US" sz="14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　</a:t>
            </a: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ISR 收中断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中断到达，进入处理</a:t>
            </a:r>
            <a:endParaRPr lang="en-US" sz="1600" noProof="1"/>
          </a:p>
        </p:txBody>
      </p:sp>
      <p:sp>
        <p:nvSpPr>
          <p:cNvPr id="7" name="st-arr1"/>
          <p:cNvSpPr/>
          <p:nvPr/>
        </p:nvSpPr>
        <p:spPr>
          <a:xfrm>
            <a:off x="3124200" y="17145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8" name="st2"/>
          <p:cNvSpPr/>
          <p:nvPr/>
        </p:nvSpPr>
        <p:spPr>
          <a:xfrm>
            <a:off x="3429000" y="1346200"/>
            <a:ext cx="2489200" cy="7874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9" name="st2-t"/>
          <p:cNvSpPr txBox="1"/>
          <p:nvPr/>
        </p:nvSpPr>
        <p:spPr>
          <a:xfrm>
            <a:off x="3429000" y="1346200"/>
            <a:ext cx="2489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2</a:t>
            </a:r>
            <a:r>
              <a:rPr lang="en-US" sz="14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　</a:t>
            </a: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识别原因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读寄存器确认中断源</a:t>
            </a:r>
            <a:endParaRPr lang="en-US" sz="1600" noProof="1"/>
          </a:p>
        </p:txBody>
      </p:sp>
      <p:sp>
        <p:nvSpPr>
          <p:cNvPr id="10" name="st-arr2"/>
          <p:cNvSpPr/>
          <p:nvPr/>
        </p:nvSpPr>
        <p:spPr>
          <a:xfrm>
            <a:off x="5943600" y="17145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11" name="st3"/>
          <p:cNvSpPr/>
          <p:nvPr/>
        </p:nvSpPr>
        <p:spPr>
          <a:xfrm>
            <a:off x="6248400" y="1346200"/>
            <a:ext cx="2489200" cy="7874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12" name="st3-t"/>
          <p:cNvSpPr txBox="1"/>
          <p:nvPr/>
        </p:nvSpPr>
        <p:spPr>
          <a:xfrm>
            <a:off x="6248400" y="1346200"/>
            <a:ext cx="2489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3</a:t>
            </a:r>
            <a:r>
              <a:rPr lang="en-US" sz="14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　</a:t>
            </a: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唤醒 waker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通知等待中的任务</a:t>
            </a:r>
            <a:endParaRPr lang="en-US" sz="1600" noProof="1"/>
          </a:p>
        </p:txBody>
      </p:sp>
      <p:sp>
        <p:nvSpPr>
          <p:cNvPr id="13" name="st-arr3"/>
          <p:cNvSpPr/>
          <p:nvPr/>
        </p:nvSpPr>
        <p:spPr>
          <a:xfrm>
            <a:off x="8763000" y="17145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14" name="st4"/>
          <p:cNvSpPr/>
          <p:nvPr/>
        </p:nvSpPr>
        <p:spPr>
          <a:xfrm>
            <a:off x="9067800" y="1346200"/>
            <a:ext cx="2489200" cy="7874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15" name="st4-t"/>
          <p:cNvSpPr txBox="1"/>
          <p:nvPr/>
        </p:nvSpPr>
        <p:spPr>
          <a:xfrm>
            <a:off x="9067800" y="1346200"/>
            <a:ext cx="2489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4</a:t>
            </a:r>
            <a:r>
              <a:rPr lang="en-US" sz="14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　</a:t>
            </a: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调度任务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异步任务接管后续处理</a:t>
            </a:r>
            <a:endParaRPr lang="en-US" sz="1600" noProof="1"/>
          </a:p>
        </p:txBody>
      </p:sp>
      <p:sp>
        <p:nvSpPr>
          <p:cNvPr id="16" name="contract-label"/>
          <p:cNvSpPr txBox="1"/>
          <p:nvPr/>
        </p:nvSpPr>
        <p:spPr>
          <a:xfrm>
            <a:off x="6096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四条契约</a:t>
            </a:r>
            <a:endParaRPr lang="en-US" sz="1500" noProof="1"/>
          </a:p>
        </p:txBody>
      </p:sp>
      <p:sp>
        <p:nvSpPr>
          <p:cNvPr id="17" name="contract-line"/>
          <p:cNvSpPr/>
          <p:nvPr/>
        </p:nvSpPr>
        <p:spPr>
          <a:xfrm>
            <a:off x="1727200" y="2552700"/>
            <a:ext cx="98552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18" name="c1-num"/>
          <p:cNvSpPr txBox="1"/>
          <p:nvPr/>
        </p:nvSpPr>
        <p:spPr>
          <a:xfrm>
            <a:off x="609600" y="2921000"/>
            <a:ext cx="558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B9D6EC"/>
                </a:solidFill>
                <a:latin typeface="MiSans" charset="-122"/>
                <a:ea typeface="MiSans" charset="-122"/>
              </a:rPr>
              <a:t>01</a:t>
            </a:r>
            <a:endParaRPr lang="en-US" sz="2200" noProof="1"/>
          </a:p>
        </p:txBody>
      </p:sp>
      <p:sp>
        <p:nvSpPr>
          <p:cNvPr id="19" name="c1-t"/>
          <p:cNvSpPr txBox="1"/>
          <p:nvPr/>
        </p:nvSpPr>
        <p:spPr>
          <a:xfrm>
            <a:off x="1320800" y="2870200"/>
            <a:ext cx="10261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ISR 不搬数据</a:t>
            </a:r>
            <a:endParaRPr lang="en-US" sz="1600" noProof="1"/>
          </a:p>
          <a:p>
            <a:pPr algn="l">
              <a:lnSpc>
                <a:spcPct val="14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只做原因确认、清中断、唤醒，数据搬运交给后台任务</a:t>
            </a:r>
            <a:endParaRPr lang="en-US" sz="1600" noProof="1"/>
          </a:p>
        </p:txBody>
      </p:sp>
      <p:sp>
        <p:nvSpPr>
          <p:cNvPr id="20" name="c1-sep"/>
          <p:cNvSpPr/>
          <p:nvPr/>
        </p:nvSpPr>
        <p:spPr>
          <a:xfrm>
            <a:off x="609600" y="36576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21" name="c2-num"/>
          <p:cNvSpPr txBox="1"/>
          <p:nvPr/>
        </p:nvSpPr>
        <p:spPr>
          <a:xfrm>
            <a:off x="609600" y="3810000"/>
            <a:ext cx="558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B9D6EC"/>
                </a:solidFill>
                <a:latin typeface="MiSans" charset="-122"/>
                <a:ea typeface="MiSans" charset="-122"/>
              </a:rPr>
              <a:t>02</a:t>
            </a:r>
            <a:endParaRPr lang="en-US" sz="2200" noProof="1"/>
          </a:p>
        </p:txBody>
      </p:sp>
      <p:sp>
        <p:nvSpPr>
          <p:cNvPr id="22" name="c2-t"/>
          <p:cNvSpPr txBox="1"/>
          <p:nvPr/>
        </p:nvSpPr>
        <p:spPr>
          <a:xfrm>
            <a:off x="1320800" y="3759200"/>
            <a:ext cx="10261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注册后立即重查</a:t>
            </a:r>
            <a:endParaRPr lang="en-US" sz="1600" noProof="1"/>
          </a:p>
          <a:p>
            <a:pPr algn="l">
              <a:lnSpc>
                <a:spcPct val="14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waker 注册后立刻重查硬件状态，防止丢失唤醒</a:t>
            </a:r>
            <a:endParaRPr lang="en-US" sz="1600" noProof="1"/>
          </a:p>
        </p:txBody>
      </p:sp>
      <p:sp>
        <p:nvSpPr>
          <p:cNvPr id="23" name="c2-sep"/>
          <p:cNvSpPr/>
          <p:nvPr/>
        </p:nvSpPr>
        <p:spPr>
          <a:xfrm>
            <a:off x="609600" y="45466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24" name="c3-num"/>
          <p:cNvSpPr txBox="1"/>
          <p:nvPr/>
        </p:nvSpPr>
        <p:spPr>
          <a:xfrm>
            <a:off x="609600" y="4699000"/>
            <a:ext cx="558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B9D6EC"/>
                </a:solidFill>
                <a:latin typeface="MiSans" charset="-122"/>
                <a:ea typeface="MiSans" charset="-122"/>
              </a:rPr>
              <a:t>03</a:t>
            </a:r>
            <a:endParaRPr lang="en-US" sz="2200" noProof="1"/>
          </a:p>
        </p:txBody>
      </p:sp>
      <p:sp>
        <p:nvSpPr>
          <p:cNvPr id="25" name="c3-t"/>
          <p:cNvSpPr txBox="1"/>
          <p:nvPr/>
        </p:nvSpPr>
        <p:spPr>
          <a:xfrm>
            <a:off x="1320800" y="4648200"/>
            <a:ext cx="10261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每轮工作量有上限</a:t>
            </a:r>
            <a:endParaRPr lang="en-US" sz="1600" noProof="1"/>
          </a:p>
          <a:p>
            <a:pPr algn="l">
              <a:lnSpc>
                <a:spcPct val="14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单轮处理预算化，积压显式可见而非隐性堆积</a:t>
            </a:r>
            <a:endParaRPr lang="en-US" sz="1600" noProof="1"/>
          </a:p>
        </p:txBody>
      </p:sp>
      <p:sp>
        <p:nvSpPr>
          <p:cNvPr id="26" name="c3-sep"/>
          <p:cNvSpPr/>
          <p:nvPr/>
        </p:nvSpPr>
        <p:spPr>
          <a:xfrm>
            <a:off x="609600" y="54356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27" name="c4-num"/>
          <p:cNvSpPr txBox="1"/>
          <p:nvPr/>
        </p:nvSpPr>
        <p:spPr>
          <a:xfrm>
            <a:off x="609600" y="5588000"/>
            <a:ext cx="558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B9D6EC"/>
                </a:solidFill>
                <a:latin typeface="MiSans" charset="-122"/>
                <a:ea typeface="MiSans" charset="-122"/>
              </a:rPr>
              <a:t>04</a:t>
            </a:r>
            <a:endParaRPr lang="en-US" sz="2200" noProof="1"/>
          </a:p>
        </p:txBody>
      </p:sp>
      <p:sp>
        <p:nvSpPr>
          <p:cNvPr id="28" name="c4-t"/>
          <p:cNvSpPr txBox="1"/>
          <p:nvPr/>
        </p:nvSpPr>
        <p:spPr>
          <a:xfrm>
            <a:off x="1320800" y="5537200"/>
            <a:ext cx="10261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先放锁再唤醒</a:t>
            </a:r>
            <a:endParaRPr lang="en-US" sz="1600" noProof="1"/>
          </a:p>
          <a:p>
            <a:pPr algn="l">
              <a:lnSpc>
                <a:spcPct val="14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返回等待前先释放锁再唤醒，避免死锁</a:t>
            </a:r>
            <a:endParaRPr lang="en-US" sz="1600" noProof="1"/>
          </a:p>
        </p:txBody>
      </p:sp>
      <p:sp>
        <p:nvSpPr>
          <p:cNvPr id="29" name="c4-sep"/>
          <p:cNvSpPr/>
          <p:nvPr/>
        </p:nvSpPr>
        <p:spPr>
          <a:xfrm>
            <a:off x="609600" y="63246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30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31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06 / 12</a:t>
            </a:r>
            <a:endParaRPr lang="en-US" sz="10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06 · 范式对照 COMPARISON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串口 vs 网卡：同构的是骨架，差异留在数据层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graphicFrame>
        <p:nvGraphicFramePr>
          <p:cNvPr id="5" name="cmp-table"/>
          <p:cNvGraphicFramePr>
            <a:graphicFrameLocks noGrp="1"/>
          </p:cNvGraphicFramePr>
          <p:nvPr/>
        </p:nvGraphicFramePr>
        <p:xfrm>
          <a:off x="609600" y="1320800"/>
          <a:ext cx="10972800" cy="3962400"/>
        </p:xfrm>
        <a:graphic>
          <a:graphicData uri="http://schemas.openxmlformats.org/drawingml/2006/table">
            <a:tbl>
              <a:tblPr/>
              <a:tblGrid>
                <a:gridCol w="1865376"/>
                <a:gridCol w="4553712"/>
                <a:gridCol w="4553712"/>
              </a:tblGrid>
              <a:tr h="356616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维度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异步串口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异步网卡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</a:tr>
              <a:tr h="277368">
                <a:tc gridSpan="3"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b="1" noProof="1">
                          <a:solidFill>
                            <a:srgbClr val="2F6FB4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同构部分 · 范式覆盖</a:t>
                      </a:r>
                      <a:endParaRPr lang="en-US" sz="1200" b="1" noProof="1">
                        <a:solidFill>
                          <a:srgbClr val="2F6FB4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solidFill>
                      <a:srgbClr val="EAF3FB"/>
                    </a:solidFill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75488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触发链骨架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 gridSpan="2"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四段骨架，两个驱动同一套写法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75488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Waker 机制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 gridSpan="2"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同一个 embassy_sync::AtomicWaker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54736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OS 抽象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 gridSpan="2"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同一组 OsRuntime / OsWakerSet trait，驱动不依赖具体任务实现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77368">
                <a:tc gridSpan="3"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b="1" noProof="1">
                          <a:solidFill>
                            <a:srgbClr val="2F6FB4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差异部分 · 按设备设计</a:t>
                      </a:r>
                      <a:endParaRPr lang="en-US" sz="1200" b="1" noProof="1">
                        <a:solidFill>
                          <a:srgbClr val="2F6FB4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solidFill>
                      <a:srgbClr val="EAF3FB"/>
                    </a:solidFill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94360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数据结构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字节流 + 双 SPSC 环形缓冲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整包 + 描述符固定槽位 + 代际序号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950976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不抽象的理由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2F6FB4"/>
                      </a:solidFill>
                    </a:lnB>
                    <a:noFill/>
                  </a:tcPr>
                </a:tc>
                <a:tc gridSpan="2"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completion 语义、背压表达、故障分类在两个设备上完全不同，强抽 trait 会退化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2F6FB4"/>
                      </a:solidFill>
                    </a:lnB>
                    <a:noFill/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9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10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07 / 12</a:t>
            </a:r>
            <a:endParaRPr lang="en-US" sz="10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07 · 范式落地 IMPLEMENTATION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网卡五层数据流：每一层职责单一，故障语义完整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l1"/>
          <p:cNvSpPr/>
          <p:nvPr/>
        </p:nvSpPr>
        <p:spPr>
          <a:xfrm>
            <a:off x="609600" y="1320800"/>
            <a:ext cx="64516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6" name="l1-bar"/>
          <p:cNvSpPr/>
          <p:nvPr/>
        </p:nvSpPr>
        <p:spPr>
          <a:xfrm>
            <a:off x="609600" y="1320800"/>
            <a:ext cx="38100" cy="711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7" name="l1-t"/>
          <p:cNvSpPr txBox="1"/>
          <p:nvPr/>
        </p:nvSpPr>
        <p:spPr>
          <a:xfrm>
            <a:off x="812800" y="1320800"/>
            <a:ext cx="609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L1 · ISR</a:t>
            </a:r>
            <a:r>
              <a:rPr lang="en-US" sz="11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　收中断、识别原因、唤醒</a:t>
            </a:r>
            <a:endParaRPr lang="en-US" sz="1600" noProof="1"/>
          </a:p>
        </p:txBody>
      </p:sp>
      <p:sp>
        <p:nvSpPr>
          <p:cNvPr id="8" name="l-arr1"/>
          <p:cNvSpPr/>
          <p:nvPr/>
        </p:nvSpPr>
        <p:spPr>
          <a:xfrm>
            <a:off x="3822700" y="2044700"/>
            <a:ext cx="25400" cy="152400"/>
          </a:xfrm>
          <a:custGeom>
            <a:avLst/>
            <a:gdLst/>
            <a:ahLst/>
            <a:cxnLst/>
            <a:rect l="l" t="t" r="r" b="b"/>
            <a:pathLst>
              <a:path w="2" h="12">
                <a:moveTo>
                  <a:pt x="1" y="0"/>
                </a:moveTo>
                <a:lnTo>
                  <a:pt x="1" y="1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9" name="l2"/>
          <p:cNvSpPr/>
          <p:nvPr/>
        </p:nvSpPr>
        <p:spPr>
          <a:xfrm>
            <a:off x="609600" y="2209800"/>
            <a:ext cx="64516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10" name="l2-bar"/>
          <p:cNvSpPr/>
          <p:nvPr/>
        </p:nvSpPr>
        <p:spPr>
          <a:xfrm>
            <a:off x="609600" y="2209800"/>
            <a:ext cx="38100" cy="711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11" name="l2-t"/>
          <p:cNvSpPr txBox="1"/>
          <p:nvPr/>
        </p:nvSpPr>
        <p:spPr>
          <a:xfrm>
            <a:off x="812800" y="2209800"/>
            <a:ext cx="609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L2 · 队列 owner</a:t>
            </a:r>
            <a:r>
              <a:rPr lang="en-US" sz="11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　唯一后台任务，收发预算制推进</a:t>
            </a:r>
            <a:endParaRPr lang="en-US" sz="1600" noProof="1"/>
          </a:p>
        </p:txBody>
      </p:sp>
      <p:sp>
        <p:nvSpPr>
          <p:cNvPr id="12" name="l-arr2"/>
          <p:cNvSpPr/>
          <p:nvPr/>
        </p:nvSpPr>
        <p:spPr>
          <a:xfrm>
            <a:off x="3822700" y="2933700"/>
            <a:ext cx="25400" cy="152400"/>
          </a:xfrm>
          <a:custGeom>
            <a:avLst/>
            <a:gdLst/>
            <a:ahLst/>
            <a:cxnLst/>
            <a:rect l="l" t="t" r="r" b="b"/>
            <a:pathLst>
              <a:path w="2" h="12">
                <a:moveTo>
                  <a:pt x="1" y="0"/>
                </a:moveTo>
                <a:lnTo>
                  <a:pt x="1" y="1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13" name="l3"/>
          <p:cNvSpPr/>
          <p:nvPr/>
        </p:nvSpPr>
        <p:spPr>
          <a:xfrm>
            <a:off x="609600" y="3098800"/>
            <a:ext cx="64516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14" name="l3-bar"/>
          <p:cNvSpPr/>
          <p:nvPr/>
        </p:nvSpPr>
        <p:spPr>
          <a:xfrm>
            <a:off x="609600" y="3098800"/>
            <a:ext cx="38100" cy="711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15" name="l3-t"/>
          <p:cNvSpPr txBox="1"/>
          <p:nvPr/>
        </p:nvSpPr>
        <p:spPr>
          <a:xfrm>
            <a:off x="812800" y="3098800"/>
            <a:ext cx="609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L3 · 栈 runner</a:t>
            </a:r>
            <a:r>
              <a:rPr lang="en-US" sz="11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　推进 smoltcp 收发、维护与定时器</a:t>
            </a:r>
            <a:endParaRPr lang="en-US" sz="1600" noProof="1"/>
          </a:p>
        </p:txBody>
      </p:sp>
      <p:sp>
        <p:nvSpPr>
          <p:cNvPr id="16" name="l-arr3"/>
          <p:cNvSpPr/>
          <p:nvPr/>
        </p:nvSpPr>
        <p:spPr>
          <a:xfrm>
            <a:off x="3822700" y="3822700"/>
            <a:ext cx="25400" cy="152400"/>
          </a:xfrm>
          <a:custGeom>
            <a:avLst/>
            <a:gdLst/>
            <a:ahLst/>
            <a:cxnLst/>
            <a:rect l="l" t="t" r="r" b="b"/>
            <a:pathLst>
              <a:path w="2" h="12">
                <a:moveTo>
                  <a:pt x="1" y="0"/>
                </a:moveTo>
                <a:lnTo>
                  <a:pt x="1" y="1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17" name="l4"/>
          <p:cNvSpPr/>
          <p:nvPr/>
        </p:nvSpPr>
        <p:spPr>
          <a:xfrm>
            <a:off x="609600" y="3987800"/>
            <a:ext cx="64516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18" name="l4-bar"/>
          <p:cNvSpPr/>
          <p:nvPr/>
        </p:nvSpPr>
        <p:spPr>
          <a:xfrm>
            <a:off x="609600" y="3987800"/>
            <a:ext cx="38100" cy="711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19" name="l4-t"/>
          <p:cNvSpPr txBox="1"/>
          <p:nvPr/>
        </p:nvSpPr>
        <p:spPr>
          <a:xfrm>
            <a:off x="812800" y="3987800"/>
            <a:ext cx="609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L4 · 就绪桥</a:t>
            </a:r>
            <a:r>
              <a:rPr lang="en-US" sz="11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　单槽 waker 展开成多等待者，接 poll / select</a:t>
            </a:r>
            <a:endParaRPr lang="en-US" sz="1600" noProof="1"/>
          </a:p>
        </p:txBody>
      </p:sp>
      <p:sp>
        <p:nvSpPr>
          <p:cNvPr id="20" name="l-arr4"/>
          <p:cNvSpPr/>
          <p:nvPr/>
        </p:nvSpPr>
        <p:spPr>
          <a:xfrm>
            <a:off x="3822700" y="4711700"/>
            <a:ext cx="25400" cy="152400"/>
          </a:xfrm>
          <a:custGeom>
            <a:avLst/>
            <a:gdLst/>
            <a:ahLst/>
            <a:cxnLst/>
            <a:rect l="l" t="t" r="r" b="b"/>
            <a:pathLst>
              <a:path w="2" h="12">
                <a:moveTo>
                  <a:pt x="1" y="0"/>
                </a:moveTo>
                <a:lnTo>
                  <a:pt x="1" y="1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21" name="l5"/>
          <p:cNvSpPr/>
          <p:nvPr/>
        </p:nvSpPr>
        <p:spPr>
          <a:xfrm>
            <a:off x="609600" y="4876800"/>
            <a:ext cx="6451600" cy="7112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22" name="l5-bar"/>
          <p:cNvSpPr/>
          <p:nvPr/>
        </p:nvSpPr>
        <p:spPr>
          <a:xfrm>
            <a:off x="609600" y="4876800"/>
            <a:ext cx="38100" cy="711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23" name="l5-t"/>
          <p:cNvSpPr txBox="1"/>
          <p:nvPr/>
        </p:nvSpPr>
        <p:spPr>
          <a:xfrm>
            <a:off x="812800" y="4876800"/>
            <a:ext cx="609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L5 · socket</a:t>
            </a:r>
            <a:r>
              <a:rPr lang="en-US" sz="11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　面向应用的收发接口</a:t>
            </a:r>
            <a:endParaRPr lang="en-US" sz="1600" noProof="1"/>
          </a:p>
        </p:txBody>
      </p:sp>
      <p:sp>
        <p:nvSpPr>
          <p:cNvPr id="24" name="p1"/>
          <p:cNvSpPr/>
          <p:nvPr/>
        </p:nvSpPr>
        <p:spPr>
          <a:xfrm>
            <a:off x="7467600" y="1320800"/>
            <a:ext cx="41148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25" name="p1-h"/>
          <p:cNvSpPr txBox="1"/>
          <p:nvPr/>
        </p:nvSpPr>
        <p:spPr>
          <a:xfrm>
            <a:off x="7670800" y="1447800"/>
            <a:ext cx="3708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发送记录</a:t>
            </a:r>
            <a:endParaRPr lang="en-US" sz="1350" noProof="1"/>
          </a:p>
        </p:txBody>
      </p:sp>
      <p:sp>
        <p:nvSpPr>
          <p:cNvPr id="26" name="p1-t"/>
          <p:cNvSpPr txBox="1"/>
          <p:nvPr/>
        </p:nvSpPr>
        <p:spPr>
          <a:xfrm>
            <a:off x="7670800" y="1752600"/>
            <a:ext cx="37084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1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每次发送携带代际号 + 序号</a:t>
            </a:r>
            <a:endParaRPr lang="en-US" sz="1150" noProof="1"/>
          </a:p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1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提交 = 完成 = 回收，三处计数闭合后缓冲区才复用</a:t>
            </a:r>
            <a:endParaRPr lang="en-US" sz="1150" noProof="1"/>
          </a:p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1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迟到的完成通知不跨代生效</a:t>
            </a:r>
            <a:endParaRPr lang="en-US" sz="1150" noProof="1"/>
          </a:p>
        </p:txBody>
      </p:sp>
      <p:sp>
        <p:nvSpPr>
          <p:cNvPr id="27" name="p2"/>
          <p:cNvSpPr/>
          <p:nvPr/>
        </p:nvSpPr>
        <p:spPr>
          <a:xfrm>
            <a:off x="7467600" y="3556000"/>
            <a:ext cx="41148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28" name="p2-h"/>
          <p:cNvSpPr txBox="1"/>
          <p:nvPr/>
        </p:nvSpPr>
        <p:spPr>
          <a:xfrm>
            <a:off x="7670800" y="3683000"/>
            <a:ext cx="3708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恢复语义</a:t>
            </a:r>
            <a:endParaRPr lang="en-US" sz="1350" noProof="1"/>
          </a:p>
        </p:txBody>
      </p:sp>
      <p:sp>
        <p:nvSpPr>
          <p:cNvPr id="29" name="p2-t"/>
          <p:cNvSpPr txBox="1"/>
          <p:nvPr/>
        </p:nvSpPr>
        <p:spPr>
          <a:xfrm>
            <a:off x="7670800" y="3987800"/>
            <a:ext cx="37084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1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等待者取消 / 提交前撤销 / 设备持有，三段区分</a:t>
            </a:r>
            <a:endParaRPr lang="en-US" sz="1150" noProof="1"/>
          </a:p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1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复位须确认设备清零后才重建队列</a:t>
            </a:r>
            <a:endParaRPr lang="en-US" sz="1150" noProof="1"/>
          </a:p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1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故障注入：无重复释放、无永久挂起、无静默丢包</a:t>
            </a:r>
            <a:endParaRPr lang="en-US" sz="1150" noProof="1"/>
          </a:p>
        </p:txBody>
      </p:sp>
      <p:sp>
        <p:nvSpPr>
          <p:cNvPr id="30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31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32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08 / 12</a:t>
            </a:r>
            <a:endParaRPr lang="en-US" sz="1000" noProof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08 · 多核扩展 MULTICORE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多核绑核与跨核唤醒：角色固定落核，IPI 恰好一次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b1-h"/>
          <p:cNvSpPr txBox="1"/>
          <p:nvPr/>
        </p:nvSpPr>
        <p:spPr>
          <a:xfrm>
            <a:off x="609600" y="1320800"/>
            <a:ext cx="538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背景</a:t>
            </a:r>
            <a:endParaRPr lang="en-US" sz="1300" noProof="1"/>
          </a:p>
        </p:txBody>
      </p:sp>
      <p:sp>
        <p:nvSpPr>
          <p:cNvPr id="6" name="b1-t"/>
          <p:cNvSpPr txBox="1"/>
          <p:nvPr/>
        </p:nvSpPr>
        <p:spPr>
          <a:xfrm>
            <a:off x="609600" y="1600200"/>
            <a:ext cx="5384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K3 目标板：8 × X100 + 8 × A100，共 16 核；后台角色必须固定绑核</a:t>
            </a:r>
            <a:endParaRPr lang="en-US" sz="1200" noProof="1"/>
          </a:p>
        </p:txBody>
      </p:sp>
      <p:sp>
        <p:nvSpPr>
          <p:cNvPr id="7" name="b2-h"/>
          <p:cNvSpPr txBox="1"/>
          <p:nvPr/>
        </p:nvSpPr>
        <p:spPr>
          <a:xfrm>
            <a:off x="609600" y="2438400"/>
            <a:ext cx="538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绑核规则</a:t>
            </a:r>
            <a:endParaRPr lang="en-US" sz="1300" noProof="1"/>
          </a:p>
        </p:txBody>
      </p:sp>
      <p:sp>
        <p:nvSpPr>
          <p:cNvPr id="8" name="b2-t"/>
          <p:cNvSpPr txBox="1"/>
          <p:nvPr/>
        </p:nvSpPr>
        <p:spPr>
          <a:xfrm>
            <a:off x="609600" y="2717800"/>
            <a:ext cx="53848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角色 i → 可调度集合第 (anchor + i) 个，入队前完成；网卡 owner / runner、串口 RX / TX copier 各占一核</a:t>
            </a:r>
            <a:endParaRPr lang="en-US" sz="1200" noProof="1"/>
          </a:p>
        </p:txBody>
      </p:sp>
      <p:sp>
        <p:nvSpPr>
          <p:cNvPr id="9" name="b3-h"/>
          <p:cNvSpPr txBox="1"/>
          <p:nvPr/>
        </p:nvSpPr>
        <p:spPr>
          <a:xfrm>
            <a:off x="609600" y="3759200"/>
            <a:ext cx="538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跨核唤醒</a:t>
            </a:r>
            <a:endParaRPr lang="en-US" sz="1300" noProof="1"/>
          </a:p>
        </p:txBody>
      </p:sp>
      <p:sp>
        <p:nvSpPr>
          <p:cNvPr id="10" name="b3-t"/>
          <p:cNvSpPr txBox="1"/>
          <p:nvPr/>
        </p:nvSpPr>
        <p:spPr>
          <a:xfrm>
            <a:off x="609600" y="4038600"/>
            <a:ext cx="5384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本地优先；必须跨核时恰好一次 IPI，避免唤醒风暴</a:t>
            </a:r>
            <a:endParaRPr lang="en-US" sz="1200" noProof="1"/>
          </a:p>
        </p:txBody>
      </p:sp>
      <p:sp>
        <p:nvSpPr>
          <p:cNvPr id="11" name="b4-h"/>
          <p:cNvSpPr txBox="1"/>
          <p:nvPr/>
        </p:nvSpPr>
        <p:spPr>
          <a:xfrm>
            <a:off x="609600" y="4876800"/>
            <a:ext cx="538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观测手段</a:t>
            </a:r>
            <a:endParaRPr lang="en-US" sz="1300" noProof="1"/>
          </a:p>
        </p:txBody>
      </p:sp>
      <p:sp>
        <p:nvSpPr>
          <p:cNvPr id="12" name="b4-t"/>
          <p:cNvSpPr txBox="1"/>
          <p:nvPr/>
        </p:nvSpPr>
        <p:spPr>
          <a:xfrm>
            <a:off x="609600" y="5156200"/>
            <a:ext cx="5384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串口 152 字节、网卡 V5 两组快照命令，直接读出「谁跑在哪个核」</a:t>
            </a:r>
            <a:endParaRPr lang="en-US" sz="1200" noProof="1"/>
          </a:p>
        </p:txBody>
      </p:sp>
      <p:sp>
        <p:nvSpPr>
          <p:cNvPr id="14" name="x100-label"/>
          <p:cNvSpPr txBox="1"/>
          <p:nvPr/>
        </p:nvSpPr>
        <p:spPr>
          <a:xfrm>
            <a:off x="6654800" y="1905000"/>
            <a:ext cx="76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X100</a:t>
            </a:r>
            <a:endParaRPr lang="en-US" sz="1100" noProof="1"/>
          </a:p>
          <a:p>
            <a:pPr algn="ctr">
              <a:lnSpc>
                <a:spcPct val="13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×8</a:t>
            </a:r>
            <a:endParaRPr lang="en-US" sz="1100" noProof="1"/>
          </a:p>
        </p:txBody>
      </p:sp>
      <p:sp>
        <p:nvSpPr>
          <p:cNvPr id="15" name="a100-label"/>
          <p:cNvSpPr txBox="1"/>
          <p:nvPr/>
        </p:nvSpPr>
        <p:spPr>
          <a:xfrm>
            <a:off x="6654800" y="3683000"/>
            <a:ext cx="76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A100</a:t>
            </a:r>
            <a:endParaRPr lang="en-US" sz="1100" noProof="1"/>
          </a:p>
          <a:p>
            <a:pPr algn="ctr">
              <a:lnSpc>
                <a:spcPct val="13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×8</a:t>
            </a:r>
            <a:endParaRPr lang="en-US" sz="1100" noProof="1"/>
          </a:p>
        </p:txBody>
      </p:sp>
      <p:sp>
        <p:nvSpPr>
          <p:cNvPr id="16" name="core0"/>
          <p:cNvSpPr/>
          <p:nvPr/>
        </p:nvSpPr>
        <p:spPr>
          <a:xfrm>
            <a:off x="7620000" y="1320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17" name="core0-t"/>
          <p:cNvSpPr txBox="1"/>
          <p:nvPr/>
        </p:nvSpPr>
        <p:spPr>
          <a:xfrm>
            <a:off x="7620000" y="1320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C0</a:t>
            </a:r>
            <a:endParaRPr lang="en-US" sz="1000" noProof="1"/>
          </a:p>
        </p:txBody>
      </p:sp>
      <p:sp>
        <p:nvSpPr>
          <p:cNvPr id="18" name="core1"/>
          <p:cNvSpPr/>
          <p:nvPr/>
        </p:nvSpPr>
        <p:spPr>
          <a:xfrm>
            <a:off x="8509000" y="1320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19" name="core1-t"/>
          <p:cNvSpPr txBox="1"/>
          <p:nvPr/>
        </p:nvSpPr>
        <p:spPr>
          <a:xfrm>
            <a:off x="8509000" y="1320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C1</a:t>
            </a:r>
            <a:endParaRPr lang="en-US" sz="1000" noProof="1"/>
          </a:p>
        </p:txBody>
      </p:sp>
      <p:sp>
        <p:nvSpPr>
          <p:cNvPr id="20" name="core2"/>
          <p:cNvSpPr/>
          <p:nvPr/>
        </p:nvSpPr>
        <p:spPr>
          <a:xfrm>
            <a:off x="9398000" y="1320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21" name="core2-t"/>
          <p:cNvSpPr txBox="1"/>
          <p:nvPr/>
        </p:nvSpPr>
        <p:spPr>
          <a:xfrm>
            <a:off x="9398000" y="1320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C2</a:t>
            </a:r>
            <a:endParaRPr lang="en-US" sz="1000" noProof="1"/>
          </a:p>
        </p:txBody>
      </p:sp>
      <p:sp>
        <p:nvSpPr>
          <p:cNvPr id="22" name="core3"/>
          <p:cNvSpPr/>
          <p:nvPr/>
        </p:nvSpPr>
        <p:spPr>
          <a:xfrm>
            <a:off x="10287000" y="1320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23" name="core3-t"/>
          <p:cNvSpPr txBox="1"/>
          <p:nvPr/>
        </p:nvSpPr>
        <p:spPr>
          <a:xfrm>
            <a:off x="10287000" y="1320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C3</a:t>
            </a:r>
            <a:endParaRPr lang="en-US" sz="1000" noProof="1"/>
          </a:p>
        </p:txBody>
      </p:sp>
      <p:sp>
        <p:nvSpPr>
          <p:cNvPr id="24" name="core4"/>
          <p:cNvSpPr/>
          <p:nvPr/>
        </p:nvSpPr>
        <p:spPr>
          <a:xfrm>
            <a:off x="7620000" y="2209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25" name="core4-t"/>
          <p:cNvSpPr txBox="1"/>
          <p:nvPr/>
        </p:nvSpPr>
        <p:spPr>
          <a:xfrm>
            <a:off x="7620000" y="2209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C4</a:t>
            </a:r>
            <a:endParaRPr lang="en-US" sz="1000" noProof="1"/>
          </a:p>
        </p:txBody>
      </p:sp>
      <p:sp>
        <p:nvSpPr>
          <p:cNvPr id="26" name="core5"/>
          <p:cNvSpPr/>
          <p:nvPr/>
        </p:nvSpPr>
        <p:spPr>
          <a:xfrm>
            <a:off x="8509000" y="2209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27" name="core5-t"/>
          <p:cNvSpPr txBox="1"/>
          <p:nvPr/>
        </p:nvSpPr>
        <p:spPr>
          <a:xfrm>
            <a:off x="8509000" y="2209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C5</a:t>
            </a:r>
            <a:endParaRPr lang="en-US" sz="1000" noProof="1"/>
          </a:p>
        </p:txBody>
      </p:sp>
      <p:sp>
        <p:nvSpPr>
          <p:cNvPr id="28" name="core6"/>
          <p:cNvSpPr/>
          <p:nvPr/>
        </p:nvSpPr>
        <p:spPr>
          <a:xfrm>
            <a:off x="9398000" y="2209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29" name="core6-t"/>
          <p:cNvSpPr txBox="1"/>
          <p:nvPr/>
        </p:nvSpPr>
        <p:spPr>
          <a:xfrm>
            <a:off x="9398000" y="2209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C6</a:t>
            </a:r>
            <a:endParaRPr lang="en-US" sz="1000" noProof="1"/>
          </a:p>
        </p:txBody>
      </p:sp>
      <p:sp>
        <p:nvSpPr>
          <p:cNvPr id="30" name="core7"/>
          <p:cNvSpPr/>
          <p:nvPr/>
        </p:nvSpPr>
        <p:spPr>
          <a:xfrm>
            <a:off x="10287000" y="2209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31" name="core7-t"/>
          <p:cNvSpPr txBox="1"/>
          <p:nvPr/>
        </p:nvSpPr>
        <p:spPr>
          <a:xfrm>
            <a:off x="10287000" y="2209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C7</a:t>
            </a:r>
            <a:endParaRPr lang="en-US" sz="1000" noProof="1"/>
          </a:p>
        </p:txBody>
      </p:sp>
      <p:sp>
        <p:nvSpPr>
          <p:cNvPr id="32" name="core8"/>
          <p:cNvSpPr/>
          <p:nvPr/>
        </p:nvSpPr>
        <p:spPr>
          <a:xfrm>
            <a:off x="7620000" y="3098800"/>
            <a:ext cx="7874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33" name="core8-t"/>
          <p:cNvSpPr txBox="1"/>
          <p:nvPr/>
        </p:nvSpPr>
        <p:spPr>
          <a:xfrm>
            <a:off x="7620000" y="3098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C8</a:t>
            </a:r>
            <a:endParaRPr lang="en-US" sz="1000" noProof="1"/>
          </a:p>
        </p:txBody>
      </p:sp>
      <p:sp>
        <p:nvSpPr>
          <p:cNvPr id="34" name="core9"/>
          <p:cNvSpPr/>
          <p:nvPr/>
        </p:nvSpPr>
        <p:spPr>
          <a:xfrm>
            <a:off x="8509000" y="3098800"/>
            <a:ext cx="7874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35" name="core9-t"/>
          <p:cNvSpPr txBox="1"/>
          <p:nvPr/>
        </p:nvSpPr>
        <p:spPr>
          <a:xfrm>
            <a:off x="8509000" y="3098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C9</a:t>
            </a:r>
            <a:endParaRPr lang="en-US" sz="1000" noProof="1"/>
          </a:p>
        </p:txBody>
      </p:sp>
      <p:sp>
        <p:nvSpPr>
          <p:cNvPr id="36" name="core10"/>
          <p:cNvSpPr/>
          <p:nvPr/>
        </p:nvSpPr>
        <p:spPr>
          <a:xfrm>
            <a:off x="9398000" y="3098800"/>
            <a:ext cx="7874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37" name="core10-t"/>
          <p:cNvSpPr txBox="1"/>
          <p:nvPr/>
        </p:nvSpPr>
        <p:spPr>
          <a:xfrm>
            <a:off x="9398000" y="3098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C10</a:t>
            </a:r>
            <a:endParaRPr lang="en-US" sz="1000" noProof="1"/>
          </a:p>
        </p:txBody>
      </p:sp>
      <p:sp>
        <p:nvSpPr>
          <p:cNvPr id="38" name="core11"/>
          <p:cNvSpPr/>
          <p:nvPr/>
        </p:nvSpPr>
        <p:spPr>
          <a:xfrm>
            <a:off x="10287000" y="3098800"/>
            <a:ext cx="7874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39" name="core11-t"/>
          <p:cNvSpPr txBox="1"/>
          <p:nvPr/>
        </p:nvSpPr>
        <p:spPr>
          <a:xfrm>
            <a:off x="10287000" y="3098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C11</a:t>
            </a:r>
            <a:endParaRPr lang="en-US" sz="1000" noProof="1"/>
          </a:p>
        </p:txBody>
      </p:sp>
      <p:sp>
        <p:nvSpPr>
          <p:cNvPr id="40" name="core12"/>
          <p:cNvSpPr/>
          <p:nvPr/>
        </p:nvSpPr>
        <p:spPr>
          <a:xfrm>
            <a:off x="7620000" y="3987800"/>
            <a:ext cx="787400" cy="7874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41" name="core12-t"/>
          <p:cNvSpPr txBox="1"/>
          <p:nvPr/>
        </p:nvSpPr>
        <p:spPr>
          <a:xfrm>
            <a:off x="7620000" y="3987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100" b="1" noProof="1">
                <a:solidFill>
                  <a:srgbClr val="FFFFFF"/>
                </a:solidFill>
                <a:latin typeface="MiSans" charset="-122"/>
                <a:ea typeface="MiSans" charset="-122"/>
              </a:rPr>
              <a:t>C12</a:t>
            </a:r>
            <a:endParaRPr lang="en-US" sz="1600" noProof="1"/>
          </a:p>
          <a:p>
            <a:pPr algn="ctr">
              <a:lnSpc>
                <a:spcPct val="125000"/>
              </a:lnSpc>
            </a:pPr>
            <a:r>
              <a:rPr lang="en-US" sz="900" noProof="1">
                <a:solidFill>
                  <a:srgbClr val="FFFFFF"/>
                </a:solidFill>
                <a:latin typeface="MiSans" charset="-122"/>
                <a:ea typeface="MiSans" charset="-122"/>
              </a:rPr>
              <a:t>owner</a:t>
            </a:r>
            <a:endParaRPr lang="en-US" sz="1600" noProof="1"/>
          </a:p>
        </p:txBody>
      </p:sp>
      <p:sp>
        <p:nvSpPr>
          <p:cNvPr id="42" name="core13"/>
          <p:cNvSpPr/>
          <p:nvPr/>
        </p:nvSpPr>
        <p:spPr>
          <a:xfrm>
            <a:off x="8509000" y="3987800"/>
            <a:ext cx="787400" cy="7874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43" name="core13-t"/>
          <p:cNvSpPr txBox="1"/>
          <p:nvPr/>
        </p:nvSpPr>
        <p:spPr>
          <a:xfrm>
            <a:off x="8509000" y="3987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100" b="1" noProof="1">
                <a:solidFill>
                  <a:srgbClr val="FFFFFF"/>
                </a:solidFill>
                <a:latin typeface="MiSans" charset="-122"/>
                <a:ea typeface="MiSans" charset="-122"/>
              </a:rPr>
              <a:t>C13</a:t>
            </a:r>
            <a:endParaRPr lang="en-US" sz="1600" noProof="1"/>
          </a:p>
          <a:p>
            <a:pPr algn="ctr">
              <a:lnSpc>
                <a:spcPct val="125000"/>
              </a:lnSpc>
            </a:pPr>
            <a:r>
              <a:rPr lang="en-US" sz="900" noProof="1">
                <a:solidFill>
                  <a:srgbClr val="FFFFFF"/>
                </a:solidFill>
                <a:latin typeface="MiSans" charset="-122"/>
                <a:ea typeface="MiSans" charset="-122"/>
              </a:rPr>
              <a:t>runner</a:t>
            </a:r>
            <a:endParaRPr lang="en-US" sz="1600" noProof="1"/>
          </a:p>
        </p:txBody>
      </p:sp>
      <p:sp>
        <p:nvSpPr>
          <p:cNvPr id="44" name="core14"/>
          <p:cNvSpPr/>
          <p:nvPr/>
        </p:nvSpPr>
        <p:spPr>
          <a:xfrm>
            <a:off x="9398000" y="3987800"/>
            <a:ext cx="787400" cy="7874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45" name="core14-t"/>
          <p:cNvSpPr txBox="1"/>
          <p:nvPr/>
        </p:nvSpPr>
        <p:spPr>
          <a:xfrm>
            <a:off x="9398000" y="3987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100" b="1" noProof="1">
                <a:solidFill>
                  <a:srgbClr val="FFFFFF"/>
                </a:solidFill>
                <a:latin typeface="MiSans" charset="-122"/>
                <a:ea typeface="MiSans" charset="-122"/>
              </a:rPr>
              <a:t>C14</a:t>
            </a:r>
            <a:endParaRPr lang="en-US" sz="1600" noProof="1"/>
          </a:p>
          <a:p>
            <a:pPr algn="ctr">
              <a:lnSpc>
                <a:spcPct val="125000"/>
              </a:lnSpc>
            </a:pPr>
            <a:r>
              <a:rPr lang="en-US" sz="900" noProof="1">
                <a:solidFill>
                  <a:srgbClr val="FFFFFF"/>
                </a:solidFill>
                <a:latin typeface="MiSans" charset="-122"/>
                <a:ea typeface="MiSans" charset="-122"/>
              </a:rPr>
              <a:t>串口 RX</a:t>
            </a:r>
            <a:endParaRPr lang="en-US" sz="1600" noProof="1"/>
          </a:p>
        </p:txBody>
      </p:sp>
      <p:sp>
        <p:nvSpPr>
          <p:cNvPr id="46" name="core15"/>
          <p:cNvSpPr/>
          <p:nvPr/>
        </p:nvSpPr>
        <p:spPr>
          <a:xfrm>
            <a:off x="10287000" y="3987800"/>
            <a:ext cx="787400" cy="7874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47" name="core15-t"/>
          <p:cNvSpPr txBox="1"/>
          <p:nvPr/>
        </p:nvSpPr>
        <p:spPr>
          <a:xfrm>
            <a:off x="10287000" y="3987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100" b="1" noProof="1">
                <a:solidFill>
                  <a:srgbClr val="FFFFFF"/>
                </a:solidFill>
                <a:latin typeface="MiSans" charset="-122"/>
                <a:ea typeface="MiSans" charset="-122"/>
              </a:rPr>
              <a:t>C15</a:t>
            </a:r>
            <a:endParaRPr lang="en-US" sz="1600" noProof="1"/>
          </a:p>
          <a:p>
            <a:pPr algn="ctr">
              <a:lnSpc>
                <a:spcPct val="125000"/>
              </a:lnSpc>
            </a:pPr>
            <a:r>
              <a:rPr lang="en-US" sz="900" noProof="1">
                <a:solidFill>
                  <a:srgbClr val="FFFFFF"/>
                </a:solidFill>
                <a:latin typeface="MiSans" charset="-122"/>
                <a:ea typeface="MiSans" charset="-122"/>
              </a:rPr>
              <a:t>串口 TX</a:t>
            </a:r>
            <a:endParaRPr lang="en-US" sz="1600" noProof="1"/>
          </a:p>
        </p:txBody>
      </p:sp>
      <p:sp>
        <p:nvSpPr>
          <p:cNvPr id="48" name="legend"/>
          <p:cNvSpPr txBox="1"/>
          <p:nvPr/>
        </p:nvSpPr>
        <p:spPr>
          <a:xfrm>
            <a:off x="7620000" y="5003800"/>
            <a:ext cx="4064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05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■</a:t>
            </a: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 角色落点（示意）：C12 网卡 owner，C13 网卡 runner，C14 串口 RX copier，C15 串口 TX copier</a:t>
            </a:r>
            <a:endParaRPr lang="en-US" sz="1050" noProof="1"/>
          </a:p>
        </p:txBody>
      </p:sp>
      <p:sp>
        <p:nvSpPr>
          <p:cNvPr id="49" name="result"/>
          <p:cNvSpPr txBox="1"/>
          <p:nvPr/>
        </p:nvSpPr>
        <p:spPr>
          <a:xfrm>
            <a:off x="7620000" y="5664200"/>
            <a:ext cx="4064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2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结果：SMP=16 六组场景全过，</a:t>
            </a:r>
            <a:endParaRPr lang="en-US" sz="1600" noProof="1"/>
          </a:p>
          <a:p>
            <a:pPr algn="l">
              <a:lnSpc>
                <a:spcPct val="140000"/>
              </a:lnSpc>
            </a:pPr>
            <a:r>
              <a:rPr lang="en-US" sz="12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IPI 发送 = 接收</a:t>
            </a:r>
            <a:endParaRPr lang="en-US" sz="1600" noProof="1"/>
          </a:p>
        </p:txBody>
      </p:sp>
      <p:sp>
        <p:nvSpPr>
          <p:cNvPr id="50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51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52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09 / 12</a:t>
            </a:r>
            <a:endParaRPr lang="en-US" sz="100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09 · 共存与推广 GENERALIZATION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两驱动共存已被验证，范式可推广到新设备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co-bar"/>
          <p:cNvSpPr/>
          <p:nvPr/>
        </p:nvSpPr>
        <p:spPr>
          <a:xfrm>
            <a:off x="609600" y="1346200"/>
            <a:ext cx="50800" cy="10668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6" name="co-label"/>
          <p:cNvSpPr txBox="1"/>
          <p:nvPr/>
        </p:nvSpPr>
        <p:spPr>
          <a:xfrm>
            <a:off x="812800" y="1346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共存证据</a:t>
            </a:r>
            <a:endParaRPr lang="en-US" sz="1350" noProof="1"/>
          </a:p>
        </p:txBody>
      </p:sp>
      <p:sp>
        <p:nvSpPr>
          <p:cNvPr id="7" name="co-text"/>
          <p:cNvSpPr txBox="1"/>
          <p:nvPr/>
        </p:nvSpPr>
        <p:spPr>
          <a:xfrm>
            <a:off x="812800" y="1651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5000"/>
              </a:lnSpc>
            </a:pPr>
            <a:r>
              <a:rPr lang="en-US" sz="12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网卡开发与测试全程，串口一直承担控制台 I/O——SMP=16 的运行记录本身就是经串口打印的。两个驱动在同一内核中共存工作，互不干扰。</a:t>
            </a:r>
            <a:endParaRPr lang="en-US" sz="1250" noProof="1"/>
          </a:p>
        </p:txBody>
      </p:sp>
      <p:sp>
        <p:nvSpPr>
          <p:cNvPr id="8" name="paradigm-box"/>
          <p:cNvSpPr/>
          <p:nvPr/>
        </p:nvSpPr>
        <p:spPr>
          <a:xfrm>
            <a:off x="609600" y="2997200"/>
            <a:ext cx="3657600" cy="12700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9" name="paradigm-t"/>
          <p:cNvSpPr txBox="1"/>
          <p:nvPr/>
        </p:nvSpPr>
        <p:spPr>
          <a:xfrm>
            <a:off x="609600" y="2997200"/>
            <a:ext cx="3657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统一开发范式</a:t>
            </a:r>
            <a:endParaRPr lang="en-US" sz="1600" noProof="1"/>
          </a:p>
          <a:p>
            <a:pPr algn="ctr">
              <a:lnSpc>
                <a:spcPct val="140000"/>
              </a:lnSpc>
            </a:pPr>
            <a:r>
              <a:rPr lang="en-US" sz="11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四段触发链 + 四条契约</a:t>
            </a:r>
            <a:endParaRPr lang="en-US" sz="1600" noProof="1"/>
          </a:p>
        </p:txBody>
      </p:sp>
      <p:sp>
        <p:nvSpPr>
          <p:cNvPr id="10" name="arrow-a"/>
          <p:cNvSpPr/>
          <p:nvPr/>
        </p:nvSpPr>
        <p:spPr>
          <a:xfrm>
            <a:off x="4267200" y="3035300"/>
            <a:ext cx="1473200" cy="596900"/>
          </a:xfrm>
          <a:custGeom>
            <a:avLst/>
            <a:gdLst/>
            <a:ahLst/>
            <a:cxnLst/>
            <a:rect l="l" t="t" r="r" b="b"/>
            <a:pathLst>
              <a:path w="116" h="47">
                <a:moveTo>
                  <a:pt x="0" y="47"/>
                </a:moveTo>
                <a:lnTo>
                  <a:pt x="116" y="0"/>
                </a:lnTo>
              </a:path>
            </a:pathLst>
          </a:custGeom>
          <a:noFill/>
          <a:ln w="19050">
            <a:solidFill>
              <a:srgbClr val="2F6FB4"/>
            </a:solidFill>
            <a:tailEnd type="stealth"/>
          </a:ln>
        </p:spPr>
      </p:sp>
      <p:sp>
        <p:nvSpPr>
          <p:cNvPr id="11" name="arrow-b"/>
          <p:cNvSpPr/>
          <p:nvPr/>
        </p:nvSpPr>
        <p:spPr>
          <a:xfrm>
            <a:off x="4267200" y="3619500"/>
            <a:ext cx="1473200" cy="25400"/>
          </a:xfrm>
          <a:custGeom>
            <a:avLst/>
            <a:gdLst/>
            <a:ahLst/>
            <a:cxnLst/>
            <a:rect l="l" t="t" r="r" b="b"/>
            <a:pathLst>
              <a:path w="116" h="2">
                <a:moveTo>
                  <a:pt x="0" y="1"/>
                </a:moveTo>
                <a:lnTo>
                  <a:pt x="116" y="1"/>
                </a:lnTo>
              </a:path>
            </a:pathLst>
          </a:custGeom>
          <a:noFill/>
          <a:ln w="19050">
            <a:solidFill>
              <a:srgbClr val="2F6FB4"/>
            </a:solidFill>
            <a:tailEnd type="stealth"/>
          </a:ln>
        </p:spPr>
      </p:sp>
      <p:sp>
        <p:nvSpPr>
          <p:cNvPr id="12" name="arrow-c"/>
          <p:cNvSpPr/>
          <p:nvPr/>
        </p:nvSpPr>
        <p:spPr>
          <a:xfrm>
            <a:off x="4267200" y="3632200"/>
            <a:ext cx="1473200" cy="571500"/>
          </a:xfrm>
          <a:custGeom>
            <a:avLst/>
            <a:gdLst/>
            <a:ahLst/>
            <a:cxnLst/>
            <a:rect l="l" t="t" r="r" b="b"/>
            <a:pathLst>
              <a:path w="116" h="45">
                <a:moveTo>
                  <a:pt x="0" y="0"/>
                </a:moveTo>
                <a:lnTo>
                  <a:pt x="116" y="45"/>
                </a:lnTo>
              </a:path>
            </a:pathLst>
          </a:custGeom>
          <a:noFill/>
          <a:ln w="19050">
            <a:solidFill>
              <a:srgbClr val="2F6FB4"/>
            </a:solidFill>
            <a:tailEnd type="stealth"/>
          </a:ln>
        </p:spPr>
      </p:sp>
      <p:sp>
        <p:nvSpPr>
          <p:cNvPr id="13" name="dev1"/>
          <p:cNvSpPr/>
          <p:nvPr/>
        </p:nvSpPr>
        <p:spPr>
          <a:xfrm>
            <a:off x="5842000" y="2819400"/>
            <a:ext cx="32004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6FB4"/>
            </a:solidFill>
          </a:ln>
        </p:spPr>
      </p:sp>
      <p:sp>
        <p:nvSpPr>
          <p:cNvPr id="14" name="dev1-t"/>
          <p:cNvSpPr txBox="1"/>
          <p:nvPr/>
        </p:nvSpPr>
        <p:spPr>
          <a:xfrm>
            <a:off x="5842000" y="2819400"/>
            <a:ext cx="32004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异步串口</a:t>
            </a:r>
            <a:r>
              <a:rPr lang="en-US" sz="11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　已落地</a:t>
            </a:r>
            <a:endParaRPr lang="en-US" sz="1600" noProof="1"/>
          </a:p>
        </p:txBody>
      </p:sp>
      <p:sp>
        <p:nvSpPr>
          <p:cNvPr id="15" name="dev2"/>
          <p:cNvSpPr/>
          <p:nvPr/>
        </p:nvSpPr>
        <p:spPr>
          <a:xfrm>
            <a:off x="5842000" y="3416300"/>
            <a:ext cx="32004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6FB4"/>
            </a:solidFill>
          </a:ln>
        </p:spPr>
      </p:sp>
      <p:sp>
        <p:nvSpPr>
          <p:cNvPr id="16" name="dev2-t"/>
          <p:cNvSpPr txBox="1"/>
          <p:nvPr/>
        </p:nvSpPr>
        <p:spPr>
          <a:xfrm>
            <a:off x="5842000" y="3416300"/>
            <a:ext cx="32004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异步网卡</a:t>
            </a:r>
            <a:r>
              <a:rPr lang="en-US" sz="11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　已落地</a:t>
            </a:r>
            <a:endParaRPr lang="en-US" sz="1600" noProof="1"/>
          </a:p>
        </p:txBody>
      </p:sp>
      <p:sp>
        <p:nvSpPr>
          <p:cNvPr id="17" name="dev3"/>
          <p:cNvSpPr/>
          <p:nvPr/>
        </p:nvSpPr>
        <p:spPr>
          <a:xfrm>
            <a:off x="5842000" y="4013200"/>
            <a:ext cx="32004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FB4D6"/>
            </a:solidFill>
            <a:prstDash val="dash"/>
          </a:ln>
        </p:spPr>
      </p:sp>
      <p:sp>
        <p:nvSpPr>
          <p:cNvPr id="18" name="dev3-t"/>
          <p:cNvSpPr txBox="1"/>
          <p:nvPr/>
        </p:nvSpPr>
        <p:spPr>
          <a:xfrm>
            <a:off x="5842000" y="4013200"/>
            <a:ext cx="32004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新异步设备</a:t>
            </a:r>
            <a:r>
              <a:rPr lang="en-US" sz="1100" noProof="1">
                <a:solidFill>
                  <a:srgbClr val="8FB4D6"/>
                </a:solidFill>
                <a:latin typeface="MiSans" charset="-122"/>
                <a:ea typeface="MiSans" charset="-122"/>
              </a:rPr>
              <a:t>　数据层按设备设计</a:t>
            </a:r>
            <a:endParaRPr lang="en-US" sz="1600" noProof="1"/>
          </a:p>
        </p:txBody>
      </p:sp>
      <p:sp>
        <p:nvSpPr>
          <p:cNvPr id="21" name="promo-label"/>
          <p:cNvSpPr txBox="1"/>
          <p:nvPr/>
        </p:nvSpPr>
        <p:spPr>
          <a:xfrm>
            <a:off x="609600" y="50800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推广路径</a:t>
            </a:r>
            <a:endParaRPr lang="en-US" sz="1350" noProof="1"/>
          </a:p>
        </p:txBody>
      </p:sp>
      <p:sp>
        <p:nvSpPr>
          <p:cNvPr id="22" name="promo-text"/>
          <p:cNvSpPr txBox="1"/>
          <p:nvPr/>
        </p:nvSpPr>
        <p:spPr>
          <a:xfrm>
            <a:off x="609600" y="5384800"/>
            <a:ext cx="10972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5000"/>
              </a:lnSpc>
            </a:pPr>
            <a:r>
              <a:rPr lang="en-US" sz="12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新异步驱动照四段骨架写、守四条契约，数据结构层按设备设计——范式只管骨架，不管数据层。</a:t>
            </a:r>
            <a:endParaRPr lang="en-US" sz="1250" noProof="1"/>
          </a:p>
        </p:txBody>
      </p:sp>
      <p:sp>
        <p:nvSpPr>
          <p:cNvPr id="23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24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25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11 / 12</a:t>
            </a:r>
            <a:endParaRPr lang="en-US" sz="1000" noProof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10 · 总结 SUMMARY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总结：</a:t>
            </a:r>
            <a:r>
              <a:rPr lang="zh-CN" alt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用一个范式去研究</a:t>
            </a:r>
            <a:r>
              <a:rPr lang="zh-CN" alt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两个驱动</a:t>
            </a:r>
            <a:endParaRPr lang="zh-CN" altLang="en-US" sz="2300" b="1" noProof="1">
              <a:solidFill>
                <a:srgbClr val="1E2A36"/>
              </a:solidFill>
              <a:latin typeface="MiSans" charset="-122"/>
              <a:ea typeface="MiSans" charset="-122"/>
            </a:endParaRPr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r1-line"/>
          <p:cNvSpPr/>
          <p:nvPr/>
        </p:nvSpPr>
        <p:spPr>
          <a:xfrm>
            <a:off x="609600" y="15240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6" name="r1-label"/>
          <p:cNvSpPr txBox="1"/>
          <p:nvPr/>
        </p:nvSpPr>
        <p:spPr>
          <a:xfrm>
            <a:off x="609600" y="1854200"/>
            <a:ext cx="1397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成果</a:t>
            </a:r>
            <a:endParaRPr lang="en-US" sz="1800" noProof="1"/>
          </a:p>
        </p:txBody>
      </p:sp>
      <p:sp>
        <p:nvSpPr>
          <p:cNvPr id="7" name="r1-t"/>
          <p:cNvSpPr txBox="1"/>
          <p:nvPr/>
        </p:nvSpPr>
        <p:spPr>
          <a:xfrm>
            <a:off x="2286000" y="1752600"/>
            <a:ext cx="92964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60000"/>
              </a:lnSpc>
            </a:pPr>
            <a:r>
              <a:rPr 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串口</a:t>
            </a:r>
            <a:r>
              <a:rPr lang="zh-CN" alt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和</a:t>
            </a:r>
            <a:r>
              <a:rPr 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网卡正常工作，</a:t>
            </a:r>
            <a:r>
              <a:rPr lang="zh-CN" alt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都有</a:t>
            </a:r>
            <a:r>
              <a:rPr 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结论有</a:t>
            </a:r>
            <a:r>
              <a:rPr lang="zh-CN" alt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证据支撑</a:t>
            </a:r>
            <a:endParaRPr lang="zh-CN" altLang="en-US" sz="1600" noProof="1">
              <a:solidFill>
                <a:srgbClr val="1E2A36"/>
              </a:solidFill>
              <a:latin typeface="MiSans" charset="-122"/>
              <a:ea typeface="MiSans" charset="-122"/>
            </a:endParaRPr>
          </a:p>
        </p:txBody>
      </p:sp>
      <p:sp>
        <p:nvSpPr>
          <p:cNvPr id="8" name="r2-line"/>
          <p:cNvSpPr/>
          <p:nvPr/>
        </p:nvSpPr>
        <p:spPr>
          <a:xfrm>
            <a:off x="609600" y="31750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9" name="r2-label"/>
          <p:cNvSpPr txBox="1"/>
          <p:nvPr/>
        </p:nvSpPr>
        <p:spPr>
          <a:xfrm>
            <a:off x="609600" y="3505200"/>
            <a:ext cx="1397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方法</a:t>
            </a:r>
            <a:endParaRPr lang="en-US" sz="1800" noProof="1"/>
          </a:p>
        </p:txBody>
      </p:sp>
      <p:sp>
        <p:nvSpPr>
          <p:cNvPr id="10" name="r2-t"/>
          <p:cNvSpPr txBox="1"/>
          <p:nvPr/>
        </p:nvSpPr>
        <p:spPr>
          <a:xfrm>
            <a:off x="2286000" y="3403600"/>
            <a:ext cx="92964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60000"/>
              </a:lnSpc>
            </a:pPr>
            <a:r>
              <a:rPr 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两个驱动沉淀出一套统一开发范式</a:t>
            </a:r>
            <a:endParaRPr lang="en-US" sz="1600" noProof="1"/>
          </a:p>
        </p:txBody>
      </p:sp>
      <p:sp>
        <p:nvSpPr>
          <p:cNvPr id="11" name="r3-line"/>
          <p:cNvSpPr/>
          <p:nvPr/>
        </p:nvSpPr>
        <p:spPr>
          <a:xfrm>
            <a:off x="609600" y="48260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12" name="r3-label"/>
          <p:cNvSpPr txBox="1"/>
          <p:nvPr/>
        </p:nvSpPr>
        <p:spPr>
          <a:xfrm>
            <a:off x="609600" y="5156200"/>
            <a:ext cx="1397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后续</a:t>
            </a:r>
            <a:endParaRPr lang="en-US" sz="1800" noProof="1"/>
          </a:p>
        </p:txBody>
      </p:sp>
      <p:sp>
        <p:nvSpPr>
          <p:cNvPr id="13" name="r3-t"/>
          <p:cNvSpPr txBox="1"/>
          <p:nvPr/>
        </p:nvSpPr>
        <p:spPr>
          <a:xfrm>
            <a:off x="2286000" y="5054600"/>
            <a:ext cx="92964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60000"/>
              </a:lnSpc>
            </a:pPr>
            <a:r>
              <a:rPr 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K3 真板</a:t>
            </a:r>
            <a:r>
              <a:rPr lang="zh-CN" alt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验证，后续还只能看后续的，正在努力中</a:t>
            </a:r>
            <a:endParaRPr lang="zh-CN" altLang="en-US" sz="1600" noProof="1">
              <a:solidFill>
                <a:srgbClr val="1E2A36"/>
              </a:solidFill>
              <a:latin typeface="MiSans" charset="-122"/>
              <a:ea typeface="MiSans" charset="-122"/>
            </a:endParaRPr>
          </a:p>
        </p:txBody>
      </p:sp>
      <p:sp>
        <p:nvSpPr>
          <p:cNvPr id="14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15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16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12 / 12</a:t>
            </a:r>
            <a:endParaRPr lang="en-US" sz="1000" noProof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7910" y="1162050"/>
            <a:ext cx="4548505" cy="442023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755" y="1149985"/>
            <a:ext cx="4573270" cy="444436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ABLE_BEAUTIFY" val="smartTable{9cbc2806-0ac8-4758-bde4-674a0f6b66df}"/>
</p:tagLst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3368</Words>
  <Application>WPS 演示</Application>
  <PresentationFormat/>
  <Paragraphs>433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Arial</vt:lpstr>
      <vt:lpstr>宋体</vt:lpstr>
      <vt:lpstr>Wingdings</vt:lpstr>
      <vt:lpstr>MiSans</vt:lpstr>
      <vt:lpstr>Times New Roman</vt:lpstr>
      <vt:lpstr>微软雅黑</vt:lpstr>
      <vt:lpstr>Arial Unicode MS</vt:lpstr>
      <vt:lpstr>Calibri</vt:lpstr>
      <vt:lpstr>PPTD</vt:lpstr>
      <vt:lpstr>1_PPTD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实习总结汇报 · StarryOS 异步驱动开发</dc:title>
  <dc:creator/>
  <cp:lastModifiedBy>函数让人死亡</cp:lastModifiedBy>
  <cp:revision>19</cp:revision>
  <dcterms:created xsi:type="dcterms:W3CDTF">2026-10-02T04:50:00Z</dcterms:created>
  <dcterms:modified xsi:type="dcterms:W3CDTF">2026-10-04T09:32:00Z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  <property fmtid="{D5CDD505-2E9C-101B-9397-08002B2CF9AE}" pid="3" name="KSOProductBuildVer">
    <vt:lpwstr>2052-11.1.0.10009</vt:lpwstr>
  </property>
</Properties>
</file>
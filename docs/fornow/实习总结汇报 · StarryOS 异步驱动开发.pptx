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3"/>
  </p:sldMasterIdLst>
  <p:sldIdLst>
    <p:sldId id="256" r:id="rId4"/>
    <p:sldId id="257" r:id="rId5"/>
    <p:sldId id="258" r:id="rId6"/>
    <p:sldId id="269" r:id="rId7"/>
    <p:sldId id="268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70" r:id="rId16"/>
  </p:sldIdLst>
  <p:sldSz cx="12192000" cy="6858000"/>
  <p:notesSz cx="12192000" cy="6858000"/>
  <p:embeddedFontLst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daivy2333/StarryOS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-bottom"/>
          <p:cNvSpPr/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3" name="band-edge"/>
          <p:cNvSpPr/>
          <p:nvPr/>
        </p:nvSpPr>
        <p:spPr>
          <a:xfrm>
            <a:off x="0" y="5334000"/>
            <a:ext cx="12192000" cy="254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09600" y="558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kern="0" spc="2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实习总结汇报 · INTERNSHIP REPORT</a:t>
            </a:r>
            <a:endParaRPr lang="en-US" sz="1100" noProof="1"/>
          </a:p>
        </p:txBody>
      </p:sp>
      <p:sp>
        <p:nvSpPr>
          <p:cNvPr id="5" name="rule-top"/>
          <p:cNvSpPr/>
          <p:nvPr/>
        </p:nvSpPr>
        <p:spPr>
          <a:xfrm>
            <a:off x="5842000" y="1905000"/>
            <a:ext cx="508000" cy="381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1016000" y="2133600"/>
            <a:ext cx="1016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StarryOS 异步驱动开发</a:t>
            </a:r>
            <a:endParaRPr lang="en-US" sz="3800" noProof="1"/>
          </a:p>
        </p:txBody>
      </p:sp>
      <p:sp>
        <p:nvSpPr>
          <p:cNvPr id="8" name="info"/>
          <p:cNvSpPr txBox="1"/>
          <p:nvPr/>
        </p:nvSpPr>
        <p:spPr>
          <a:xfrm>
            <a:off x="1016000" y="3201035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汇报人：</a:t>
            </a:r>
            <a:r>
              <a:rPr lang="zh-CN" altLang="en-US" sz="12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刘卫</a:t>
            </a:r>
            <a:r>
              <a:rPr lang="en-US" sz="12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　｜　实习时间：2026-06-21 ~ 2026-10-4</a:t>
            </a:r>
            <a:endParaRPr lang="en-US" sz="1250" noProof="1"/>
          </a:p>
        </p:txBody>
      </p:sp>
      <p:sp>
        <p:nvSpPr>
          <p:cNvPr id="9" name="repo"/>
          <p:cNvSpPr txBox="1"/>
          <p:nvPr/>
        </p:nvSpPr>
        <p:spPr>
          <a:xfrm>
            <a:off x="1016000" y="380365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仓库：</a:t>
            </a:r>
            <a:r>
              <a:rPr lang="en-US" sz="1200" u="sng" noProof="1">
                <a:solidFill>
                  <a:srgbClr val="0563C1"/>
                </a:solidFill>
                <a:latin typeface="MiSans" charset="-122"/>
                <a:ea typeface="MiSans" charset="-122"/>
                <a:hlinkClick r:id="rId1"/>
              </a:rPr>
              <a:t>daivy2333/StarryOS</a:t>
            </a:r>
            <a:r>
              <a:rPr lang="en-US" sz="1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　·　mul-hart-k3 分支</a:t>
            </a:r>
            <a:endParaRPr lang="en-US" sz="1200" noProof="1"/>
          </a:p>
        </p:txBody>
      </p:sp>
      <p:sp>
        <p:nvSpPr>
          <p:cNvPr id="10" name="stat1"/>
          <p:cNvSpPr txBox="1"/>
          <p:nvPr/>
        </p:nvSpPr>
        <p:spPr>
          <a:xfrm>
            <a:off x="1524000" y="56388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14</a:t>
            </a:r>
            <a:r>
              <a:rPr lang="en-US" sz="13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 周</a:t>
            </a:r>
            <a:endParaRPr lang="en-US" sz="1600" noProof="1"/>
          </a:p>
        </p:txBody>
      </p:sp>
      <p:sp>
        <p:nvSpPr>
          <p:cNvPr id="11" name="stat1-label"/>
          <p:cNvSpPr txBox="1"/>
          <p:nvPr/>
        </p:nvSpPr>
        <p:spPr>
          <a:xfrm>
            <a:off x="1524000" y="62230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实习周期</a:t>
            </a:r>
            <a:endParaRPr lang="en-US" sz="1100" noProof="1"/>
          </a:p>
        </p:txBody>
      </p:sp>
      <p:sp>
        <p:nvSpPr>
          <p:cNvPr id="12" name="stat-sep1"/>
          <p:cNvSpPr/>
          <p:nvPr/>
        </p:nvSpPr>
        <p:spPr>
          <a:xfrm>
            <a:off x="4191000" y="5689600"/>
            <a:ext cx="12700" cy="660400"/>
          </a:xfrm>
          <a:prstGeom prst="rect">
            <a:avLst/>
          </a:prstGeom>
          <a:solidFill>
            <a:srgbClr val="B9D6EC"/>
          </a:solidFill>
          <a:ln>
            <a:noFill/>
          </a:ln>
        </p:spPr>
      </p:sp>
      <p:sp>
        <p:nvSpPr>
          <p:cNvPr id="13" name="stat2"/>
          <p:cNvSpPr txBox="1"/>
          <p:nvPr/>
        </p:nvSpPr>
        <p:spPr>
          <a:xfrm>
            <a:off x="5080000" y="56388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153</a:t>
            </a:r>
            <a:r>
              <a:rPr lang="en-US" sz="13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 次</a:t>
            </a:r>
            <a:endParaRPr lang="en-US" sz="1600" noProof="1"/>
          </a:p>
        </p:txBody>
      </p:sp>
      <p:sp>
        <p:nvSpPr>
          <p:cNvPr id="14" name="stat2-label"/>
          <p:cNvSpPr txBox="1"/>
          <p:nvPr/>
        </p:nvSpPr>
        <p:spPr>
          <a:xfrm>
            <a:off x="5080000" y="62230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代码提交</a:t>
            </a:r>
            <a:endParaRPr lang="en-US" sz="1100" noProof="1"/>
          </a:p>
        </p:txBody>
      </p:sp>
      <p:sp>
        <p:nvSpPr>
          <p:cNvPr id="15" name="stat-sep2"/>
          <p:cNvSpPr/>
          <p:nvPr/>
        </p:nvSpPr>
        <p:spPr>
          <a:xfrm>
            <a:off x="8001000" y="5689600"/>
            <a:ext cx="12700" cy="660400"/>
          </a:xfrm>
          <a:prstGeom prst="rect">
            <a:avLst/>
          </a:prstGeom>
          <a:solidFill>
            <a:srgbClr val="B9D6EC"/>
          </a:solidFill>
          <a:ln>
            <a:noFill/>
          </a:ln>
        </p:spPr>
      </p:sp>
      <p:sp>
        <p:nvSpPr>
          <p:cNvPr id="16" name="stat3"/>
          <p:cNvSpPr txBox="1"/>
          <p:nvPr/>
        </p:nvSpPr>
        <p:spPr>
          <a:xfrm>
            <a:off x="8636000" y="56388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42</a:t>
            </a:r>
            <a:r>
              <a:rPr lang="en-US" sz="13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 篇</a:t>
            </a:r>
            <a:endParaRPr lang="en-US" sz="1600" noProof="1"/>
          </a:p>
        </p:txBody>
      </p:sp>
      <p:sp>
        <p:nvSpPr>
          <p:cNvPr id="17" name="stat3-label"/>
          <p:cNvSpPr txBox="1"/>
          <p:nvPr/>
        </p:nvSpPr>
        <p:spPr>
          <a:xfrm>
            <a:off x="8636000" y="62230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周记与笔记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01 · 内容总览 OVERVIEW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842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三个月，两个异步驱动：</a:t>
            </a:r>
            <a:r>
              <a:rPr lang="zh-CN" alt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先</a:t>
            </a:r>
            <a:r>
              <a:rPr 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串口，</a:t>
            </a:r>
            <a:r>
              <a:rPr lang="zh-CN" alt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然后</a:t>
            </a:r>
            <a:r>
              <a:rPr 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网卡多核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17600"/>
            <a:ext cx="457200" cy="381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5" name="tl-line"/>
          <p:cNvSpPr/>
          <p:nvPr/>
        </p:nvSpPr>
        <p:spPr>
          <a:xfrm>
            <a:off x="1016000" y="2641600"/>
            <a:ext cx="10160000" cy="19050"/>
          </a:xfrm>
          <a:prstGeom prst="rect">
            <a:avLst/>
          </a:prstGeom>
          <a:solidFill>
            <a:srgbClr val="B9D6EC"/>
          </a:solidFill>
          <a:ln>
            <a:noFill/>
          </a:ln>
        </p:spPr>
      </p:sp>
      <p:sp>
        <p:nvSpPr>
          <p:cNvPr id="6" name="tl-node1"/>
          <p:cNvSpPr/>
          <p:nvPr/>
        </p:nvSpPr>
        <p:spPr>
          <a:xfrm>
            <a:off x="2209800" y="2565400"/>
            <a:ext cx="152400" cy="152400"/>
          </a:xfrm>
          <a:prstGeom prst="ellipse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7" name="tl-node2"/>
          <p:cNvSpPr/>
          <p:nvPr/>
        </p:nvSpPr>
        <p:spPr>
          <a:xfrm>
            <a:off x="6019800" y="2565400"/>
            <a:ext cx="152400" cy="152400"/>
          </a:xfrm>
          <a:prstGeom prst="ellipse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8" name="tl-node3"/>
          <p:cNvSpPr/>
          <p:nvPr/>
        </p:nvSpPr>
        <p:spPr>
          <a:xfrm>
            <a:off x="9829800" y="2565400"/>
            <a:ext cx="152400" cy="152400"/>
          </a:xfrm>
          <a:prstGeom prst="ellipse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9" name="p1-tag"/>
          <p:cNvSpPr txBox="1"/>
          <p:nvPr/>
        </p:nvSpPr>
        <p:spPr>
          <a:xfrm>
            <a:off x="1016000" y="16764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kern="0" spc="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PHASE 1</a:t>
            </a:r>
            <a:endParaRPr lang="en-US" sz="1000" noProof="1"/>
          </a:p>
        </p:txBody>
      </p:sp>
      <p:sp>
        <p:nvSpPr>
          <p:cNvPr id="10" name="p1-date"/>
          <p:cNvSpPr txBox="1"/>
          <p:nvPr/>
        </p:nvSpPr>
        <p:spPr>
          <a:xfrm>
            <a:off x="1016000" y="19050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6/21 – 7/25</a:t>
            </a:r>
            <a:endParaRPr lang="en-US" sz="1400" noProof="1"/>
          </a:p>
        </p:txBody>
      </p:sp>
      <p:sp>
        <p:nvSpPr>
          <p:cNvPr id="11" name="p1-name"/>
          <p:cNvSpPr txBox="1"/>
          <p:nvPr/>
        </p:nvSpPr>
        <p:spPr>
          <a:xfrm>
            <a:off x="889000" y="28956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异步串口 · D1 真板</a:t>
            </a:r>
            <a:endParaRPr lang="en-US" sz="1500" noProof="1"/>
          </a:p>
        </p:txBody>
      </p:sp>
      <p:sp>
        <p:nvSpPr>
          <p:cNvPr id="12" name="p1-desc"/>
          <p:cNvSpPr txBox="1"/>
          <p:nvPr/>
        </p:nvSpPr>
        <p:spPr>
          <a:xfrm>
            <a:off x="889000" y="3200400"/>
            <a:ext cx="279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Lichee RV Dock D1 真板跑通串口收发，拿到完整性能数据</a:t>
            </a:r>
            <a:endParaRPr lang="en-US" sz="1200" noProof="1"/>
          </a:p>
        </p:txBody>
      </p:sp>
      <p:sp>
        <p:nvSpPr>
          <p:cNvPr id="13" name="p2-tag"/>
          <p:cNvSpPr txBox="1"/>
          <p:nvPr/>
        </p:nvSpPr>
        <p:spPr>
          <a:xfrm>
            <a:off x="4826000" y="16764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kern="0" spc="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PHASE 2</a:t>
            </a:r>
            <a:endParaRPr lang="en-US" sz="1000" noProof="1"/>
          </a:p>
        </p:txBody>
      </p:sp>
      <p:sp>
        <p:nvSpPr>
          <p:cNvPr id="14" name="p2-date"/>
          <p:cNvSpPr txBox="1"/>
          <p:nvPr/>
        </p:nvSpPr>
        <p:spPr>
          <a:xfrm>
            <a:off x="4826000" y="19050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7/26 – 9/4</a:t>
            </a:r>
            <a:endParaRPr lang="en-US" sz="1400" noProof="1"/>
          </a:p>
        </p:txBody>
      </p:sp>
      <p:sp>
        <p:nvSpPr>
          <p:cNvPr id="15" name="p2-name"/>
          <p:cNvSpPr txBox="1"/>
          <p:nvPr/>
        </p:nvSpPr>
        <p:spPr>
          <a:xfrm>
            <a:off x="4699000" y="28956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异步网卡 · QEMU 单核</a:t>
            </a:r>
            <a:endParaRPr lang="en-US" sz="1500" noProof="1"/>
          </a:p>
        </p:txBody>
      </p:sp>
      <p:sp>
        <p:nvSpPr>
          <p:cNvPr id="16" name="p2-desc"/>
          <p:cNvSpPr txBox="1"/>
          <p:nvPr/>
        </p:nvSpPr>
        <p:spPr>
          <a:xfrm>
            <a:off x="4699000" y="3200400"/>
            <a:ext cx="279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从同步接通到故障恢复共八个步骤，逐项验证推进</a:t>
            </a:r>
            <a:endParaRPr lang="en-US" sz="1200" noProof="1"/>
          </a:p>
        </p:txBody>
      </p:sp>
      <p:sp>
        <p:nvSpPr>
          <p:cNvPr id="17" name="p3-tag"/>
          <p:cNvSpPr txBox="1"/>
          <p:nvPr/>
        </p:nvSpPr>
        <p:spPr>
          <a:xfrm>
            <a:off x="8636000" y="16764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kern="0" spc="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PHASE 3</a:t>
            </a:r>
            <a:endParaRPr lang="en-US" sz="1000" noProof="1"/>
          </a:p>
        </p:txBody>
      </p:sp>
      <p:sp>
        <p:nvSpPr>
          <p:cNvPr id="18" name="p3-date"/>
          <p:cNvSpPr txBox="1"/>
          <p:nvPr/>
        </p:nvSpPr>
        <p:spPr>
          <a:xfrm>
            <a:off x="8636000" y="19050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9/5 – 9/27</a:t>
            </a:r>
            <a:endParaRPr lang="en-US" sz="1400" noProof="1"/>
          </a:p>
        </p:txBody>
      </p:sp>
      <p:sp>
        <p:nvSpPr>
          <p:cNvPr id="19" name="p3-name"/>
          <p:cNvSpPr txBox="1"/>
          <p:nvPr/>
        </p:nvSpPr>
        <p:spPr>
          <a:xfrm>
            <a:off x="8509000" y="28956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K3 接入 + 多核适配</a:t>
            </a:r>
            <a:endParaRPr lang="en-US" sz="1500" noProof="1"/>
          </a:p>
        </p:txBody>
      </p:sp>
      <p:sp>
        <p:nvSpPr>
          <p:cNvPr id="20" name="p3-desc"/>
          <p:cNvSpPr txBox="1"/>
          <p:nvPr/>
        </p:nvSpPr>
        <p:spPr>
          <a:xfrm>
            <a:off x="8509000" y="3200400"/>
            <a:ext cx="279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两驱动多核绑核适配，SMP=16 场景收口</a:t>
            </a:r>
            <a:endParaRPr lang="en-US" sz="1200" noProof="1"/>
          </a:p>
        </p:txBody>
      </p:sp>
      <p:sp>
        <p:nvSpPr>
          <p:cNvPr id="21" name="banner"/>
          <p:cNvSpPr/>
          <p:nvPr/>
        </p:nvSpPr>
        <p:spPr>
          <a:xfrm>
            <a:off x="609600" y="4470400"/>
            <a:ext cx="10972800" cy="1397000"/>
          </a:xfrm>
          <a:prstGeom prst="rect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2" name="banner-bar"/>
          <p:cNvSpPr/>
          <p:nvPr/>
        </p:nvSpPr>
        <p:spPr>
          <a:xfrm>
            <a:off x="609600" y="4470400"/>
            <a:ext cx="50800" cy="13970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23" name="banner-label"/>
          <p:cNvSpPr txBox="1"/>
          <p:nvPr/>
        </p:nvSpPr>
        <p:spPr>
          <a:xfrm>
            <a:off x="914400" y="46482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成果</a:t>
            </a:r>
            <a:endParaRPr lang="en-US" sz="1400" noProof="1"/>
          </a:p>
        </p:txBody>
      </p:sp>
      <p:sp>
        <p:nvSpPr>
          <p:cNvPr id="24" name="banner-sq1"/>
          <p:cNvSpPr/>
          <p:nvPr/>
        </p:nvSpPr>
        <p:spPr>
          <a:xfrm>
            <a:off x="965200" y="5054600"/>
            <a:ext cx="76200" cy="762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25" name="banner-t1"/>
          <p:cNvSpPr txBox="1"/>
          <p:nvPr/>
        </p:nvSpPr>
        <p:spPr>
          <a:xfrm>
            <a:off x="1168400" y="49657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串口：D1 真板正常收发，64B 短包达 </a:t>
            </a:r>
            <a:r>
              <a:rPr lang="en-US" sz="1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96.6% 线速</a:t>
            </a:r>
            <a:endParaRPr lang="en-US" sz="1300" noProof="1"/>
          </a:p>
        </p:txBody>
      </p:sp>
      <p:sp>
        <p:nvSpPr>
          <p:cNvPr id="26" name="banner-sq2"/>
          <p:cNvSpPr/>
          <p:nvPr/>
        </p:nvSpPr>
        <p:spPr>
          <a:xfrm>
            <a:off x="965200" y="5410200"/>
            <a:ext cx="76200" cy="762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27" name="banner-t2"/>
          <p:cNvSpPr txBox="1"/>
          <p:nvPr/>
        </p:nvSpPr>
        <p:spPr>
          <a:xfrm>
            <a:off x="1168400" y="53213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网卡：SMP=16 下 TCP / UDP 双向正常，poll / select 可用，故障注入后可恢复</a:t>
            </a:r>
            <a:endParaRPr lang="en-US" sz="1300" noProof="1"/>
          </a:p>
        </p:txBody>
      </p:sp>
      <p:sp>
        <p:nvSpPr>
          <p:cNvPr id="28" name="footer-line"/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29" name="footer-left"/>
          <p:cNvSpPr txBox="1"/>
          <p:nvPr/>
        </p:nvSpPr>
        <p:spPr>
          <a:xfrm>
            <a:off x="6096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StarryOS 异步驱动开发 · 实习总结汇报</a:t>
            </a:r>
            <a:endParaRPr lang="en-US" sz="1000" noProof="1"/>
          </a:p>
        </p:txBody>
      </p:sp>
      <p:sp>
        <p:nvSpPr>
          <p:cNvPr id="30" name="footer-page"/>
          <p:cNvSpPr txBox="1"/>
          <p:nvPr/>
        </p:nvSpPr>
        <p:spPr>
          <a:xfrm>
            <a:off x="10160000" y="6502400"/>
            <a:ext cx="142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02 / 12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02 · 运行效果 RESULTS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842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运行效果：两个驱动均正常工作，指标全部来自实测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17600"/>
            <a:ext cx="457200" cy="381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5" name="cap-left"/>
          <p:cNvSpPr txBox="1"/>
          <p:nvPr/>
        </p:nvSpPr>
        <p:spPr>
          <a:xfrm>
            <a:off x="609600" y="1320800"/>
            <a:ext cx="538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异步串口 · D1 真板</a:t>
            </a:r>
            <a:r>
              <a:rPr lang="en-US" sz="10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　物理线速 11.52 KB/s @ 115200 bps</a:t>
            </a:r>
            <a:endParaRPr lang="en-US" sz="1600" noProof="1"/>
          </a:p>
        </p:txBody>
      </p:sp>
      <p:graphicFrame>
        <p:nvGraphicFramePr>
          <p:cNvPr id="6" name="table-left"/>
          <p:cNvGraphicFramePr>
            <a:graphicFrameLocks noGrp="1"/>
          </p:cNvGraphicFramePr>
          <p:nvPr/>
        </p:nvGraphicFramePr>
        <p:xfrm>
          <a:off x="609600" y="1651000"/>
          <a:ext cx="5384800" cy="3657600"/>
        </p:xfrm>
        <a:graphic>
          <a:graphicData uri="http://schemas.openxmlformats.org/drawingml/2006/table">
            <a:tbl>
              <a:tblPr/>
              <a:tblGrid>
                <a:gridCol w="2369312"/>
                <a:gridCol w="3015488"/>
              </a:tblGrid>
              <a:tr h="475488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50" b="1" noProof="1">
                          <a:solidFill>
                            <a:srgbClr val="1B4F8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测试项</a:t>
                      </a:r>
                      <a:endParaRPr lang="en-US" sz="1250" b="1" noProof="1">
                        <a:solidFill>
                          <a:srgbClr val="1B4F8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F6FB4"/>
                      </a:solidFill>
                    </a:lnT>
                    <a:lnB w="12700">
                      <a:solidFill>
                        <a:srgbClr val="2F6FB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50" b="1" noProof="1">
                          <a:solidFill>
                            <a:srgbClr val="1B4F8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结果</a:t>
                      </a:r>
                      <a:endParaRPr lang="en-US" sz="1250" b="1" noProof="1">
                        <a:solidFill>
                          <a:srgbClr val="1B4F8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F6FB4"/>
                      </a:solidFill>
                    </a:lnT>
                    <a:lnB w="12700">
                      <a:solidFill>
                        <a:srgbClr val="2F6FB4"/>
                      </a:solidFill>
                    </a:lnB>
                    <a:noFill/>
                  </a:tcPr>
                </a:tc>
              </a:tr>
              <a:tr h="636422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64B 写 + 排空 ×100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b="1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11.13 KB/s</a:t>
                      </a:r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，</a:t>
                      </a:r>
                      <a:r>
                        <a:rPr lang="en-US" sz="1200" b="1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96.6%</a:t>
                      </a:r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线速，错误 0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</a:tr>
              <a:tr h="636422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1024B 批量排空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b="1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99.1%</a:t>
                      </a:r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线速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</a:tr>
              <a:tr h="636422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单字节发送延迟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平均 </a:t>
                      </a:r>
                      <a:r>
                        <a:rPr lang="en-US" sz="1200" b="1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0.186 ms</a:t>
                      </a:r>
                      <a:endParaRPr lang="en-US" sz="1200" b="1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</a:tr>
              <a:tr h="636422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非阻塞读 O_NONBLOCK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PASS，空读返回 EAGAIN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</a:tr>
              <a:tr h="636422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整轮基准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F6FB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进程 exit 0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F6FB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cap-right"/>
          <p:cNvSpPr txBox="1"/>
          <p:nvPr/>
        </p:nvSpPr>
        <p:spPr>
          <a:xfrm>
            <a:off x="6299200" y="1320800"/>
            <a:ext cx="538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异步网卡 · SMP=16</a:t>
            </a:r>
            <a:r>
              <a:rPr lang="en-US" sz="10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　2026-09-26 运行记录</a:t>
            </a:r>
            <a:endParaRPr lang="en-US" sz="1600" noProof="1"/>
          </a:p>
        </p:txBody>
      </p:sp>
      <p:graphicFrame>
        <p:nvGraphicFramePr>
          <p:cNvPr id="8" name="table-right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299200" y="1651000"/>
          <a:ext cx="5384800" cy="3657600"/>
        </p:xfrm>
        <a:graphic>
          <a:graphicData uri="http://schemas.openxmlformats.org/drawingml/2006/table">
            <a:tbl>
              <a:tblPr/>
              <a:tblGrid>
                <a:gridCol w="2261616"/>
                <a:gridCol w="3123184"/>
              </a:tblGrid>
              <a:tr h="475488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50" b="1" noProof="1">
                          <a:solidFill>
                            <a:srgbClr val="1B4F8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测试项</a:t>
                      </a:r>
                      <a:endParaRPr lang="en-US" sz="1250" b="1" noProof="1">
                        <a:solidFill>
                          <a:srgbClr val="1B4F8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F6FB4"/>
                      </a:solidFill>
                    </a:lnT>
                    <a:lnB w="12700">
                      <a:solidFill>
                        <a:srgbClr val="2F6FB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50" b="1" noProof="1">
                          <a:solidFill>
                            <a:srgbClr val="1B4F8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结果</a:t>
                      </a:r>
                      <a:endParaRPr lang="en-US" sz="1250" b="1" noProof="1">
                        <a:solidFill>
                          <a:srgbClr val="1B4F8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F6FB4"/>
                      </a:solidFill>
                    </a:lnT>
                    <a:lnB w="12700">
                      <a:solidFill>
                        <a:srgbClr val="2F6FB4"/>
                      </a:solidFill>
                    </a:lnB>
                    <a:noFill/>
                  </a:tcPr>
                </a:tc>
              </a:tr>
              <a:tr h="636422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绑核检查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零拒绝，PASS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</a:tr>
              <a:tr h="636422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关定时器跨核唤醒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IPI 发送 = 接收 = </a:t>
                      </a:r>
                      <a:r>
                        <a:rPr lang="en-US" sz="1200" b="1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191</a:t>
                      </a:r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，PASS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</a:tr>
              <a:tr h="636422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TCP / UDP 双向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各发 8 收 8，提交 = 完成 = 回收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</a:tr>
              <a:tr h="636422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队列满载恢复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64 槽压满再释放，计数 </a:t>
                      </a:r>
                      <a:r>
                        <a:rPr lang="en-US" sz="1200" b="1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322</a:t>
                      </a:r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闭合，在途 0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</a:tr>
              <a:tr h="636422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探针退出 &amp; 抓包核对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F6FB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exit 0，与宿主机抓包逐项一致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F6FB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source"/>
          <p:cNvSpPr txBox="1"/>
          <p:nvPr/>
        </p:nvSpPr>
        <p:spPr>
          <a:xfrm>
            <a:off x="609600" y="56388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数据出处：StarryOS 仓库留档（W15 实习总结），网卡数据为 2026-09-26 运行记录；实际运行截图见下一页</a:t>
            </a:r>
            <a:endParaRPr lang="en-US" sz="1000" noProof="1"/>
          </a:p>
        </p:txBody>
      </p:sp>
      <p:sp>
        <p:nvSpPr>
          <p:cNvPr id="10" name="footer-line"/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11" name="footer-left"/>
          <p:cNvSpPr txBox="1"/>
          <p:nvPr/>
        </p:nvSpPr>
        <p:spPr>
          <a:xfrm>
            <a:off x="6096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StarryOS 异步驱动开发 · 实习总结汇报</a:t>
            </a:r>
            <a:endParaRPr lang="en-US" sz="1000" noProof="1"/>
          </a:p>
        </p:txBody>
      </p:sp>
      <p:sp>
        <p:nvSpPr>
          <p:cNvPr id="12" name="footer-page"/>
          <p:cNvSpPr txBox="1"/>
          <p:nvPr/>
        </p:nvSpPr>
        <p:spPr>
          <a:xfrm>
            <a:off x="10160000" y="6502400"/>
            <a:ext cx="142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03 / 12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03 · 运行截图 DEMO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842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运行截图：串口与网卡实测终端输出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17600"/>
            <a:ext cx="457200" cy="381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6" name="ph-icon"/>
          <p:cNvSpPr/>
          <p:nvPr/>
        </p:nvSpPr>
        <p:spPr>
          <a:xfrm>
            <a:off x="5918200" y="322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FB4D6"/>
          </a:solidFill>
          <a:ln>
            <a:noFill/>
          </a:ln>
        </p:spPr>
      </p:sp>
      <p:sp>
        <p:nvSpPr>
          <p:cNvPr id="7" name="ph-text"/>
          <p:cNvSpPr txBox="1"/>
          <p:nvPr/>
        </p:nvSpPr>
        <p:spPr>
          <a:xfrm>
            <a:off x="2743200" y="3733800"/>
            <a:ext cx="6705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E93B8"/>
                </a:solidFill>
                <a:latin typeface="MiSans" charset="-122"/>
                <a:ea typeface="MiSans" charset="-122"/>
              </a:rPr>
              <a:t>演示图片占位：请替换为串口 / 网卡实际运行截图</a:t>
            </a:r>
            <a:endParaRPr lang="en-US" sz="1400" noProof="1"/>
          </a:p>
        </p:txBody>
      </p:sp>
      <p:sp>
        <p:nvSpPr>
          <p:cNvPr id="8" name="ph-note"/>
          <p:cNvSpPr txBox="1"/>
          <p:nvPr/>
        </p:nvSpPr>
        <p:spPr>
          <a:xfrm>
            <a:off x="2743200" y="4089400"/>
            <a:ext cx="6705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93AEC9"/>
                </a:solidFill>
                <a:latin typeface="MiSans" charset="-122"/>
                <a:ea typeface="MiSans" charset="-122"/>
              </a:rPr>
              <a:t>建议放终端输出或基准测试全过程截图，图片较大，独占本页展示</a:t>
            </a:r>
            <a:endParaRPr lang="en-US" sz="1100" noProof="1"/>
          </a:p>
        </p:txBody>
      </p:sp>
      <p:sp>
        <p:nvSpPr>
          <p:cNvPr id="9" name="footer-line"/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10" name="footer-left"/>
          <p:cNvSpPr txBox="1"/>
          <p:nvPr/>
        </p:nvSpPr>
        <p:spPr>
          <a:xfrm>
            <a:off x="6096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StarryOS 异步驱动开发 · 实习总结汇报</a:t>
            </a:r>
            <a:endParaRPr lang="en-US" sz="1000" noProof="1"/>
          </a:p>
        </p:txBody>
      </p:sp>
      <p:sp>
        <p:nvSpPr>
          <p:cNvPr id="11" name="footer-page"/>
          <p:cNvSpPr txBox="1"/>
          <p:nvPr/>
        </p:nvSpPr>
        <p:spPr>
          <a:xfrm>
            <a:off x="10160000" y="6502400"/>
            <a:ext cx="142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04 / 12</a:t>
            </a:r>
            <a:endParaRPr lang="en-US" sz="1000" noProof="1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755" y="1233170"/>
            <a:ext cx="8564245" cy="48177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03 · 运行截图 DEMO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842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运行截图：串口与网卡实测终端输出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17600"/>
            <a:ext cx="457200" cy="381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6" name="ph-icon"/>
          <p:cNvSpPr/>
          <p:nvPr/>
        </p:nvSpPr>
        <p:spPr>
          <a:xfrm>
            <a:off x="5918200" y="322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FB4D6"/>
          </a:solidFill>
          <a:ln>
            <a:noFill/>
          </a:ln>
        </p:spPr>
      </p:sp>
      <p:sp>
        <p:nvSpPr>
          <p:cNvPr id="7" name="ph-text"/>
          <p:cNvSpPr txBox="1"/>
          <p:nvPr/>
        </p:nvSpPr>
        <p:spPr>
          <a:xfrm>
            <a:off x="2743200" y="3733800"/>
            <a:ext cx="6705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E93B8"/>
                </a:solidFill>
                <a:latin typeface="MiSans" charset="-122"/>
                <a:ea typeface="MiSans" charset="-122"/>
              </a:rPr>
              <a:t>演示图片占位：请替换为串口 / 网卡实际运行截图</a:t>
            </a:r>
            <a:endParaRPr lang="en-US" sz="1400" noProof="1"/>
          </a:p>
        </p:txBody>
      </p:sp>
      <p:sp>
        <p:nvSpPr>
          <p:cNvPr id="8" name="ph-note"/>
          <p:cNvSpPr txBox="1"/>
          <p:nvPr/>
        </p:nvSpPr>
        <p:spPr>
          <a:xfrm>
            <a:off x="2743200" y="4089400"/>
            <a:ext cx="6705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93AEC9"/>
                </a:solidFill>
                <a:latin typeface="MiSans" charset="-122"/>
                <a:ea typeface="MiSans" charset="-122"/>
              </a:rPr>
              <a:t>建议放终端输出或基准测试全过程截图，图片较大，独占本页展示</a:t>
            </a:r>
            <a:endParaRPr lang="en-US" sz="1100" noProof="1"/>
          </a:p>
        </p:txBody>
      </p:sp>
      <p:sp>
        <p:nvSpPr>
          <p:cNvPr id="9" name="footer-line"/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10" name="footer-left"/>
          <p:cNvSpPr txBox="1"/>
          <p:nvPr/>
        </p:nvSpPr>
        <p:spPr>
          <a:xfrm>
            <a:off x="6096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StarryOS 异步驱动开发 · 实习总结汇报</a:t>
            </a:r>
            <a:endParaRPr lang="en-US" sz="1000" noProof="1"/>
          </a:p>
        </p:txBody>
      </p:sp>
      <p:sp>
        <p:nvSpPr>
          <p:cNvPr id="11" name="footer-page"/>
          <p:cNvSpPr txBox="1"/>
          <p:nvPr/>
        </p:nvSpPr>
        <p:spPr>
          <a:xfrm>
            <a:off x="10160000" y="6502400"/>
            <a:ext cx="142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04 / 12</a:t>
            </a:r>
            <a:endParaRPr lang="en-US" sz="1000" noProof="1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085" y="1388745"/>
            <a:ext cx="8547100" cy="4664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04 · 动机 MOTIVATION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842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为什么做异步驱动：中断只负责唤醒，搬运交给后台批处理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17600"/>
            <a:ext cx="457200" cy="381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5" name="pain1-sq"/>
          <p:cNvSpPr/>
          <p:nvPr/>
        </p:nvSpPr>
        <p:spPr>
          <a:xfrm>
            <a:off x="609600" y="1409700"/>
            <a:ext cx="101600" cy="101600"/>
          </a:xfrm>
          <a:prstGeom prst="rect">
            <a:avLst/>
          </a:prstGeom>
          <a:solidFill>
            <a:srgbClr val="8FB4D6"/>
          </a:solidFill>
          <a:ln>
            <a:noFill/>
          </a:ln>
        </p:spPr>
      </p:sp>
      <p:sp>
        <p:nvSpPr>
          <p:cNvPr id="6" name="pain1-h"/>
          <p:cNvSpPr txBox="1"/>
          <p:nvPr/>
        </p:nvSpPr>
        <p:spPr>
          <a:xfrm>
            <a:off x="812800" y="13208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纯轮询</a:t>
            </a:r>
            <a:endParaRPr lang="en-US" sz="1500" noProof="1"/>
          </a:p>
        </p:txBody>
      </p:sp>
      <p:sp>
        <p:nvSpPr>
          <p:cNvPr id="7" name="pain1-t"/>
          <p:cNvSpPr txBox="1"/>
          <p:nvPr/>
        </p:nvSpPr>
        <p:spPr>
          <a:xfrm>
            <a:off x="609600" y="1676400"/>
            <a:ext cx="513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设备没事也反复查询，空闲时 CPU 空转，功耗白白消耗</a:t>
            </a:r>
            <a:endParaRPr lang="en-US" sz="1250" noProof="1"/>
          </a:p>
        </p:txBody>
      </p:sp>
      <p:sp>
        <p:nvSpPr>
          <p:cNvPr id="8" name="divider"/>
          <p:cNvSpPr/>
          <p:nvPr/>
        </p:nvSpPr>
        <p:spPr>
          <a:xfrm>
            <a:off x="6096000" y="1346200"/>
            <a:ext cx="12700" cy="8890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9" name="pain2-sq"/>
          <p:cNvSpPr/>
          <p:nvPr/>
        </p:nvSpPr>
        <p:spPr>
          <a:xfrm>
            <a:off x="6375400" y="1409700"/>
            <a:ext cx="101600" cy="101600"/>
          </a:xfrm>
          <a:prstGeom prst="rect">
            <a:avLst/>
          </a:prstGeom>
          <a:solidFill>
            <a:srgbClr val="8FB4D6"/>
          </a:solidFill>
          <a:ln>
            <a:noFill/>
          </a:ln>
        </p:spPr>
      </p:sp>
      <p:sp>
        <p:nvSpPr>
          <p:cNvPr id="10" name="pain2-h"/>
          <p:cNvSpPr txBox="1"/>
          <p:nvPr/>
        </p:nvSpPr>
        <p:spPr>
          <a:xfrm>
            <a:off x="6578600" y="13208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纯中断</a:t>
            </a:r>
            <a:endParaRPr lang="en-US" sz="1500" noProof="1"/>
          </a:p>
        </p:txBody>
      </p:sp>
      <p:sp>
        <p:nvSpPr>
          <p:cNvPr id="11" name="pain2-t"/>
          <p:cNvSpPr txBox="1"/>
          <p:nvPr/>
        </p:nvSpPr>
        <p:spPr>
          <a:xfrm>
            <a:off x="6375400" y="1676400"/>
            <a:ext cx="513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每次到达都进 ISR，吞吐</a:t>
            </a:r>
            <a:r>
              <a:rPr lang="zh-CN" altLang="en-US" sz="12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量变大</a:t>
            </a:r>
            <a:r>
              <a:rPr lang="en-US" sz="12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就是中断风暴，CPU 被中断处理占满</a:t>
            </a:r>
            <a:endParaRPr lang="en-US" sz="1250" noProof="1"/>
          </a:p>
        </p:txBody>
      </p:sp>
      <p:sp>
        <p:nvSpPr>
          <p:cNvPr id="12" name="plan"/>
          <p:cNvSpPr txBox="1"/>
          <p:nvPr/>
        </p:nvSpPr>
        <p:spPr>
          <a:xfrm>
            <a:off x="609600" y="248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方案：中断只负责</a:t>
            </a:r>
            <a:r>
              <a:rPr lang="en-US" sz="15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唤醒</a:t>
            </a:r>
            <a:r>
              <a:rPr lang="en-US" sz="15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，后台 copier </a:t>
            </a:r>
            <a:r>
              <a:rPr lang="en-US" sz="15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批量搬运</a:t>
            </a:r>
            <a:r>
              <a:rPr lang="en-US" sz="15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（NAPI 思路）</a:t>
            </a:r>
            <a:endParaRPr lang="en-US" sz="1500" noProof="1"/>
          </a:p>
        </p:txBody>
      </p:sp>
      <p:sp>
        <p:nvSpPr>
          <p:cNvPr id="13" name="box1"/>
          <p:cNvSpPr/>
          <p:nvPr/>
        </p:nvSpPr>
        <p:spPr>
          <a:xfrm>
            <a:off x="609600" y="3098800"/>
            <a:ext cx="1930400" cy="812800"/>
          </a:xfrm>
          <a:prstGeom prst="rect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4" name="box1-t"/>
          <p:cNvSpPr txBox="1"/>
          <p:nvPr/>
        </p:nvSpPr>
        <p:spPr>
          <a:xfrm>
            <a:off x="609600" y="3098800"/>
            <a:ext cx="1930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外设 IRQ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数据到达触发中断</a:t>
            </a:r>
            <a:endParaRPr lang="en-US" sz="1600" noProof="1"/>
          </a:p>
        </p:txBody>
      </p:sp>
      <p:sp>
        <p:nvSpPr>
          <p:cNvPr id="15" name="arr1"/>
          <p:cNvSpPr/>
          <p:nvPr/>
        </p:nvSpPr>
        <p:spPr>
          <a:xfrm>
            <a:off x="2565400" y="34798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22" h="4">
                <a:moveTo>
                  <a:pt x="0" y="2"/>
                </a:moveTo>
                <a:lnTo>
                  <a:pt x="22" y="2"/>
                </a:lnTo>
              </a:path>
            </a:pathLst>
          </a:custGeom>
          <a:noFill/>
          <a:ln w="19050" cap="rnd">
            <a:solidFill>
              <a:srgbClr val="2F6FB4"/>
            </a:solidFill>
            <a:round/>
            <a:tailEnd type="stealth"/>
          </a:ln>
        </p:spPr>
      </p:sp>
      <p:sp>
        <p:nvSpPr>
          <p:cNvPr id="16" name="box2"/>
          <p:cNvSpPr/>
          <p:nvPr/>
        </p:nvSpPr>
        <p:spPr>
          <a:xfrm>
            <a:off x="2870200" y="3098800"/>
            <a:ext cx="19304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17" name="box2-t"/>
          <p:cNvSpPr txBox="1"/>
          <p:nvPr/>
        </p:nvSpPr>
        <p:spPr>
          <a:xfrm>
            <a:off x="2870200" y="3098800"/>
            <a:ext cx="1930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ISR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仅确认原因、清中断</a:t>
            </a:r>
            <a:endParaRPr lang="en-US" sz="1600" noProof="1"/>
          </a:p>
        </p:txBody>
      </p:sp>
      <p:sp>
        <p:nvSpPr>
          <p:cNvPr id="18" name="arr2"/>
          <p:cNvSpPr/>
          <p:nvPr/>
        </p:nvSpPr>
        <p:spPr>
          <a:xfrm>
            <a:off x="4826000" y="34798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22" h="4">
                <a:moveTo>
                  <a:pt x="0" y="2"/>
                </a:moveTo>
                <a:lnTo>
                  <a:pt x="22" y="2"/>
                </a:lnTo>
              </a:path>
            </a:pathLst>
          </a:custGeom>
          <a:noFill/>
          <a:ln w="19050" cap="rnd">
            <a:solidFill>
              <a:srgbClr val="2F6FB4"/>
            </a:solidFill>
            <a:round/>
            <a:tailEnd type="stealth"/>
          </a:ln>
        </p:spPr>
      </p:sp>
      <p:sp>
        <p:nvSpPr>
          <p:cNvPr id="19" name="box3"/>
          <p:cNvSpPr/>
          <p:nvPr/>
        </p:nvSpPr>
        <p:spPr>
          <a:xfrm>
            <a:off x="5130800" y="3098800"/>
            <a:ext cx="19304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20" name="box3-t"/>
          <p:cNvSpPr txBox="1"/>
          <p:nvPr/>
        </p:nvSpPr>
        <p:spPr>
          <a:xfrm>
            <a:off x="5130800" y="3098800"/>
            <a:ext cx="1930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Waker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唤醒等待中的任务</a:t>
            </a:r>
            <a:endParaRPr lang="en-US" sz="1600" noProof="1"/>
          </a:p>
        </p:txBody>
      </p:sp>
      <p:sp>
        <p:nvSpPr>
          <p:cNvPr id="21" name="arr3"/>
          <p:cNvSpPr/>
          <p:nvPr/>
        </p:nvSpPr>
        <p:spPr>
          <a:xfrm>
            <a:off x="7086600" y="34798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22" h="4">
                <a:moveTo>
                  <a:pt x="0" y="2"/>
                </a:moveTo>
                <a:lnTo>
                  <a:pt x="22" y="2"/>
                </a:lnTo>
              </a:path>
            </a:pathLst>
          </a:custGeom>
          <a:noFill/>
          <a:ln w="19050" cap="rnd">
            <a:solidFill>
              <a:srgbClr val="2F6FB4"/>
            </a:solidFill>
            <a:round/>
            <a:tailEnd type="stealth"/>
          </a:ln>
        </p:spPr>
      </p:sp>
      <p:sp>
        <p:nvSpPr>
          <p:cNvPr id="22" name="box4"/>
          <p:cNvSpPr/>
          <p:nvPr/>
        </p:nvSpPr>
        <p:spPr>
          <a:xfrm>
            <a:off x="7391400" y="3098800"/>
            <a:ext cx="19304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23" name="box4-t"/>
          <p:cNvSpPr txBox="1"/>
          <p:nvPr/>
        </p:nvSpPr>
        <p:spPr>
          <a:xfrm>
            <a:off x="7391400" y="3098800"/>
            <a:ext cx="1930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Copier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后台批量搬运数据</a:t>
            </a:r>
            <a:endParaRPr lang="en-US" sz="1600" noProof="1"/>
          </a:p>
        </p:txBody>
      </p:sp>
      <p:sp>
        <p:nvSpPr>
          <p:cNvPr id="24" name="arr4"/>
          <p:cNvSpPr/>
          <p:nvPr/>
        </p:nvSpPr>
        <p:spPr>
          <a:xfrm>
            <a:off x="9347200" y="34798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22" h="4">
                <a:moveTo>
                  <a:pt x="0" y="2"/>
                </a:moveTo>
                <a:lnTo>
                  <a:pt x="22" y="2"/>
                </a:lnTo>
              </a:path>
            </a:pathLst>
          </a:custGeom>
          <a:noFill/>
          <a:ln w="19050" cap="rnd">
            <a:solidFill>
              <a:srgbClr val="2F6FB4"/>
            </a:solidFill>
            <a:round/>
            <a:tailEnd type="stealth"/>
          </a:ln>
        </p:spPr>
      </p:sp>
      <p:sp>
        <p:nvSpPr>
          <p:cNvPr id="25" name="box5"/>
          <p:cNvSpPr/>
          <p:nvPr/>
        </p:nvSpPr>
        <p:spPr>
          <a:xfrm>
            <a:off x="9652000" y="3098800"/>
            <a:ext cx="19304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26" name="box5-t"/>
          <p:cNvSpPr txBox="1"/>
          <p:nvPr/>
        </p:nvSpPr>
        <p:spPr>
          <a:xfrm>
            <a:off x="9652000" y="3098800"/>
            <a:ext cx="1930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异步任务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协议处理与业务逻辑</a:t>
            </a:r>
            <a:endParaRPr lang="en-US" sz="1600" noProof="1"/>
          </a:p>
        </p:txBody>
      </p:sp>
      <p:sp>
        <p:nvSpPr>
          <p:cNvPr id="27" name="eff1-h"/>
          <p:cNvSpPr txBox="1"/>
          <p:nvPr/>
        </p:nvSpPr>
        <p:spPr>
          <a:xfrm>
            <a:off x="609600" y="4470400"/>
            <a:ext cx="345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空闲时</a:t>
            </a:r>
            <a:endParaRPr lang="en-US" sz="1350" noProof="1"/>
          </a:p>
        </p:txBody>
      </p:sp>
      <p:sp>
        <p:nvSpPr>
          <p:cNvPr id="28" name="eff1-t"/>
          <p:cNvSpPr txBox="1"/>
          <p:nvPr/>
        </p:nvSpPr>
        <p:spPr>
          <a:xfrm>
            <a:off x="609600" y="4775200"/>
            <a:ext cx="345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全链路睡眠，CPU 不做无用轮询</a:t>
            </a:r>
            <a:endParaRPr lang="en-US" sz="1200" noProof="1"/>
          </a:p>
        </p:txBody>
      </p:sp>
      <p:sp>
        <p:nvSpPr>
          <p:cNvPr id="29" name="eff-sep1"/>
          <p:cNvSpPr/>
          <p:nvPr/>
        </p:nvSpPr>
        <p:spPr>
          <a:xfrm>
            <a:off x="4267200" y="4521200"/>
            <a:ext cx="12700" cy="7112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30" name="eff2-h"/>
          <p:cNvSpPr txBox="1"/>
          <p:nvPr/>
        </p:nvSpPr>
        <p:spPr>
          <a:xfrm>
            <a:off x="4572000" y="4470400"/>
            <a:ext cx="345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繁忙时</a:t>
            </a:r>
            <a:endParaRPr lang="en-US" sz="1350" noProof="1"/>
          </a:p>
        </p:txBody>
      </p:sp>
      <p:sp>
        <p:nvSpPr>
          <p:cNvPr id="31" name="eff2-t"/>
          <p:cNvSpPr txBox="1"/>
          <p:nvPr/>
        </p:nvSpPr>
        <p:spPr>
          <a:xfrm>
            <a:off x="4572000" y="4775200"/>
            <a:ext cx="345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批处理推进搬运，中断次数被压低</a:t>
            </a:r>
            <a:endParaRPr lang="en-US" sz="1200" noProof="1"/>
          </a:p>
        </p:txBody>
      </p:sp>
      <p:sp>
        <p:nvSpPr>
          <p:cNvPr id="32" name="eff-sep2"/>
          <p:cNvSpPr/>
          <p:nvPr/>
        </p:nvSpPr>
        <p:spPr>
          <a:xfrm>
            <a:off x="8229600" y="4521200"/>
            <a:ext cx="12700" cy="7112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33" name="eff3-h"/>
          <p:cNvSpPr txBox="1"/>
          <p:nvPr/>
        </p:nvSpPr>
        <p:spPr>
          <a:xfrm>
            <a:off x="8534400" y="4470400"/>
            <a:ext cx="345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背压与恢复</a:t>
            </a:r>
            <a:endParaRPr lang="en-US" sz="1350" noProof="1"/>
          </a:p>
        </p:txBody>
      </p:sp>
      <p:sp>
        <p:nvSpPr>
          <p:cNvPr id="34" name="eff3-t"/>
          <p:cNvSpPr txBox="1"/>
          <p:nvPr/>
        </p:nvSpPr>
        <p:spPr>
          <a:xfrm>
            <a:off x="8534400" y="4775200"/>
            <a:ext cx="345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队列有界、背压可见、故障可恢复</a:t>
            </a:r>
            <a:endParaRPr lang="en-US" sz="1200" noProof="1"/>
          </a:p>
        </p:txBody>
      </p:sp>
      <p:sp>
        <p:nvSpPr>
          <p:cNvPr id="35" name="footer-line"/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36" name="footer-left"/>
          <p:cNvSpPr txBox="1"/>
          <p:nvPr/>
        </p:nvSpPr>
        <p:spPr>
          <a:xfrm>
            <a:off x="6096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StarryOS 异步驱动开发 · 实习总结汇报</a:t>
            </a:r>
            <a:endParaRPr lang="en-US" sz="1000" noProof="1"/>
          </a:p>
        </p:txBody>
      </p:sp>
      <p:sp>
        <p:nvSpPr>
          <p:cNvPr id="37" name="footer-page"/>
          <p:cNvSpPr txBox="1"/>
          <p:nvPr/>
        </p:nvSpPr>
        <p:spPr>
          <a:xfrm>
            <a:off x="10160000" y="6502400"/>
            <a:ext cx="142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05 / 12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05 · 开发范式 PATTERN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842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开发范式：四段触发链统一骨架，四条契约守住正确性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17600"/>
            <a:ext cx="457200" cy="381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5" name="st1"/>
          <p:cNvSpPr/>
          <p:nvPr/>
        </p:nvSpPr>
        <p:spPr>
          <a:xfrm>
            <a:off x="609600" y="1346200"/>
            <a:ext cx="2489200" cy="787400"/>
          </a:xfrm>
          <a:prstGeom prst="rect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6" name="st1-t"/>
          <p:cNvSpPr txBox="1"/>
          <p:nvPr/>
        </p:nvSpPr>
        <p:spPr>
          <a:xfrm>
            <a:off x="609600" y="1346200"/>
            <a:ext cx="2489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1</a:t>
            </a:r>
            <a:r>
              <a:rPr lang="en-US" sz="14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　</a:t>
            </a:r>
            <a:r>
              <a:rPr lang="en-US" sz="14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ISR 收中断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中断到达，进入处理</a:t>
            </a:r>
            <a:endParaRPr lang="en-US" sz="1600" noProof="1"/>
          </a:p>
        </p:txBody>
      </p:sp>
      <p:sp>
        <p:nvSpPr>
          <p:cNvPr id="7" name="st-arr1"/>
          <p:cNvSpPr/>
          <p:nvPr/>
        </p:nvSpPr>
        <p:spPr>
          <a:xfrm>
            <a:off x="3124200" y="17145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22" h="4">
                <a:moveTo>
                  <a:pt x="0" y="2"/>
                </a:moveTo>
                <a:lnTo>
                  <a:pt x="22" y="2"/>
                </a:lnTo>
              </a:path>
            </a:pathLst>
          </a:custGeom>
          <a:noFill/>
          <a:ln w="19050" cap="rnd">
            <a:solidFill>
              <a:srgbClr val="2F6FB4"/>
            </a:solidFill>
            <a:round/>
            <a:tailEnd type="stealth"/>
          </a:ln>
        </p:spPr>
      </p:sp>
      <p:sp>
        <p:nvSpPr>
          <p:cNvPr id="8" name="st2"/>
          <p:cNvSpPr/>
          <p:nvPr/>
        </p:nvSpPr>
        <p:spPr>
          <a:xfrm>
            <a:off x="3429000" y="1346200"/>
            <a:ext cx="2489200" cy="787400"/>
          </a:xfrm>
          <a:prstGeom prst="rect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9" name="st2-t"/>
          <p:cNvSpPr txBox="1"/>
          <p:nvPr/>
        </p:nvSpPr>
        <p:spPr>
          <a:xfrm>
            <a:off x="3429000" y="1346200"/>
            <a:ext cx="2489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2</a:t>
            </a:r>
            <a:r>
              <a:rPr lang="en-US" sz="14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　</a:t>
            </a:r>
            <a:r>
              <a:rPr lang="en-US" sz="14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识别原因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读寄存器确认中断源</a:t>
            </a:r>
            <a:endParaRPr lang="en-US" sz="1600" noProof="1"/>
          </a:p>
        </p:txBody>
      </p:sp>
      <p:sp>
        <p:nvSpPr>
          <p:cNvPr id="10" name="st-arr2"/>
          <p:cNvSpPr/>
          <p:nvPr/>
        </p:nvSpPr>
        <p:spPr>
          <a:xfrm>
            <a:off x="5943600" y="17145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22" h="4">
                <a:moveTo>
                  <a:pt x="0" y="2"/>
                </a:moveTo>
                <a:lnTo>
                  <a:pt x="22" y="2"/>
                </a:lnTo>
              </a:path>
            </a:pathLst>
          </a:custGeom>
          <a:noFill/>
          <a:ln w="19050" cap="rnd">
            <a:solidFill>
              <a:srgbClr val="2F6FB4"/>
            </a:solidFill>
            <a:round/>
            <a:tailEnd type="stealth"/>
          </a:ln>
        </p:spPr>
      </p:sp>
      <p:sp>
        <p:nvSpPr>
          <p:cNvPr id="11" name="st3"/>
          <p:cNvSpPr/>
          <p:nvPr/>
        </p:nvSpPr>
        <p:spPr>
          <a:xfrm>
            <a:off x="6248400" y="1346200"/>
            <a:ext cx="2489200" cy="787400"/>
          </a:xfrm>
          <a:prstGeom prst="rect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2" name="st3-t"/>
          <p:cNvSpPr txBox="1"/>
          <p:nvPr/>
        </p:nvSpPr>
        <p:spPr>
          <a:xfrm>
            <a:off x="6248400" y="1346200"/>
            <a:ext cx="2489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3</a:t>
            </a:r>
            <a:r>
              <a:rPr lang="en-US" sz="14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　</a:t>
            </a:r>
            <a:r>
              <a:rPr lang="en-US" sz="14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唤醒 waker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通知等待中的任务</a:t>
            </a:r>
            <a:endParaRPr lang="en-US" sz="1600" noProof="1"/>
          </a:p>
        </p:txBody>
      </p:sp>
      <p:sp>
        <p:nvSpPr>
          <p:cNvPr id="13" name="st-arr3"/>
          <p:cNvSpPr/>
          <p:nvPr/>
        </p:nvSpPr>
        <p:spPr>
          <a:xfrm>
            <a:off x="8763000" y="17145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22" h="4">
                <a:moveTo>
                  <a:pt x="0" y="2"/>
                </a:moveTo>
                <a:lnTo>
                  <a:pt x="22" y="2"/>
                </a:lnTo>
              </a:path>
            </a:pathLst>
          </a:custGeom>
          <a:noFill/>
          <a:ln w="19050" cap="rnd">
            <a:solidFill>
              <a:srgbClr val="2F6FB4"/>
            </a:solidFill>
            <a:round/>
            <a:tailEnd type="stealth"/>
          </a:ln>
        </p:spPr>
      </p:sp>
      <p:sp>
        <p:nvSpPr>
          <p:cNvPr id="14" name="st4"/>
          <p:cNvSpPr/>
          <p:nvPr/>
        </p:nvSpPr>
        <p:spPr>
          <a:xfrm>
            <a:off x="9067800" y="1346200"/>
            <a:ext cx="2489200" cy="787400"/>
          </a:xfrm>
          <a:prstGeom prst="rect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5" name="st4-t"/>
          <p:cNvSpPr txBox="1"/>
          <p:nvPr/>
        </p:nvSpPr>
        <p:spPr>
          <a:xfrm>
            <a:off x="9067800" y="1346200"/>
            <a:ext cx="2489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4</a:t>
            </a:r>
            <a:r>
              <a:rPr lang="en-US" sz="14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　</a:t>
            </a:r>
            <a:r>
              <a:rPr lang="en-US" sz="14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调度任务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异步任务接管后续处理</a:t>
            </a:r>
            <a:endParaRPr lang="en-US" sz="1600" noProof="1"/>
          </a:p>
        </p:txBody>
      </p:sp>
      <p:sp>
        <p:nvSpPr>
          <p:cNvPr id="16" name="contract-label"/>
          <p:cNvSpPr txBox="1"/>
          <p:nvPr/>
        </p:nvSpPr>
        <p:spPr>
          <a:xfrm>
            <a:off x="609600" y="2413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四条契约</a:t>
            </a:r>
            <a:endParaRPr lang="en-US" sz="1500" noProof="1"/>
          </a:p>
        </p:txBody>
      </p:sp>
      <p:sp>
        <p:nvSpPr>
          <p:cNvPr id="17" name="contract-line"/>
          <p:cNvSpPr/>
          <p:nvPr/>
        </p:nvSpPr>
        <p:spPr>
          <a:xfrm>
            <a:off x="1727200" y="2552700"/>
            <a:ext cx="98552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18" name="c1-num"/>
          <p:cNvSpPr txBox="1"/>
          <p:nvPr/>
        </p:nvSpPr>
        <p:spPr>
          <a:xfrm>
            <a:off x="609600" y="2921000"/>
            <a:ext cx="558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B9D6EC"/>
                </a:solidFill>
                <a:latin typeface="MiSans" charset="-122"/>
                <a:ea typeface="MiSans" charset="-122"/>
              </a:rPr>
              <a:t>01</a:t>
            </a:r>
            <a:endParaRPr lang="en-US" sz="2200" noProof="1"/>
          </a:p>
        </p:txBody>
      </p:sp>
      <p:sp>
        <p:nvSpPr>
          <p:cNvPr id="19" name="c1-t"/>
          <p:cNvSpPr txBox="1"/>
          <p:nvPr/>
        </p:nvSpPr>
        <p:spPr>
          <a:xfrm>
            <a:off x="1320800" y="2870200"/>
            <a:ext cx="10261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ISR 不搬数据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只做原因确认、清中断、唤醒，数据搬运交给后台任务</a:t>
            </a:r>
            <a:endParaRPr lang="en-US" sz="1600" noProof="1"/>
          </a:p>
        </p:txBody>
      </p:sp>
      <p:sp>
        <p:nvSpPr>
          <p:cNvPr id="20" name="c1-sep"/>
          <p:cNvSpPr/>
          <p:nvPr/>
        </p:nvSpPr>
        <p:spPr>
          <a:xfrm>
            <a:off x="609600" y="36576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21" name="c2-num"/>
          <p:cNvSpPr txBox="1"/>
          <p:nvPr/>
        </p:nvSpPr>
        <p:spPr>
          <a:xfrm>
            <a:off x="609600" y="3810000"/>
            <a:ext cx="558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B9D6EC"/>
                </a:solidFill>
                <a:latin typeface="MiSans" charset="-122"/>
                <a:ea typeface="MiSans" charset="-122"/>
              </a:rPr>
              <a:t>02</a:t>
            </a:r>
            <a:endParaRPr lang="en-US" sz="2200" noProof="1"/>
          </a:p>
        </p:txBody>
      </p:sp>
      <p:sp>
        <p:nvSpPr>
          <p:cNvPr id="22" name="c2-t"/>
          <p:cNvSpPr txBox="1"/>
          <p:nvPr/>
        </p:nvSpPr>
        <p:spPr>
          <a:xfrm>
            <a:off x="1320800" y="3759200"/>
            <a:ext cx="10261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注册后立即重查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waker 注册后立刻重查硬件状态，防止丢失唤醒</a:t>
            </a:r>
            <a:endParaRPr lang="en-US" sz="1600" noProof="1"/>
          </a:p>
        </p:txBody>
      </p:sp>
      <p:sp>
        <p:nvSpPr>
          <p:cNvPr id="23" name="c2-sep"/>
          <p:cNvSpPr/>
          <p:nvPr/>
        </p:nvSpPr>
        <p:spPr>
          <a:xfrm>
            <a:off x="609600" y="45466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24" name="c3-num"/>
          <p:cNvSpPr txBox="1"/>
          <p:nvPr/>
        </p:nvSpPr>
        <p:spPr>
          <a:xfrm>
            <a:off x="609600" y="4699000"/>
            <a:ext cx="558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B9D6EC"/>
                </a:solidFill>
                <a:latin typeface="MiSans" charset="-122"/>
                <a:ea typeface="MiSans" charset="-122"/>
              </a:rPr>
              <a:t>03</a:t>
            </a:r>
            <a:endParaRPr lang="en-US" sz="2200" noProof="1"/>
          </a:p>
        </p:txBody>
      </p:sp>
      <p:sp>
        <p:nvSpPr>
          <p:cNvPr id="25" name="c3-t"/>
          <p:cNvSpPr txBox="1"/>
          <p:nvPr/>
        </p:nvSpPr>
        <p:spPr>
          <a:xfrm>
            <a:off x="1320800" y="4648200"/>
            <a:ext cx="10261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每轮工作量有上限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单轮处理预算化，积压显式可见而非隐性堆积</a:t>
            </a:r>
            <a:endParaRPr lang="en-US" sz="1600" noProof="1"/>
          </a:p>
        </p:txBody>
      </p:sp>
      <p:sp>
        <p:nvSpPr>
          <p:cNvPr id="26" name="c3-sep"/>
          <p:cNvSpPr/>
          <p:nvPr/>
        </p:nvSpPr>
        <p:spPr>
          <a:xfrm>
            <a:off x="609600" y="54356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27" name="c4-num"/>
          <p:cNvSpPr txBox="1"/>
          <p:nvPr/>
        </p:nvSpPr>
        <p:spPr>
          <a:xfrm>
            <a:off x="609600" y="5588000"/>
            <a:ext cx="558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B9D6EC"/>
                </a:solidFill>
                <a:latin typeface="MiSans" charset="-122"/>
                <a:ea typeface="MiSans" charset="-122"/>
              </a:rPr>
              <a:t>04</a:t>
            </a:r>
            <a:endParaRPr lang="en-US" sz="2200" noProof="1"/>
          </a:p>
        </p:txBody>
      </p:sp>
      <p:sp>
        <p:nvSpPr>
          <p:cNvPr id="28" name="c4-t"/>
          <p:cNvSpPr txBox="1"/>
          <p:nvPr/>
        </p:nvSpPr>
        <p:spPr>
          <a:xfrm>
            <a:off x="1320800" y="5537200"/>
            <a:ext cx="10261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先放锁再唤醒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返回等待前先释放锁再唤醒，避免死锁</a:t>
            </a:r>
            <a:endParaRPr lang="en-US" sz="1600" noProof="1"/>
          </a:p>
        </p:txBody>
      </p:sp>
      <p:sp>
        <p:nvSpPr>
          <p:cNvPr id="29" name="c4-sep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30" name="footer-left"/>
          <p:cNvSpPr txBox="1"/>
          <p:nvPr/>
        </p:nvSpPr>
        <p:spPr>
          <a:xfrm>
            <a:off x="6096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StarryOS 异步驱动开发 · 实习总结汇报</a:t>
            </a:r>
            <a:endParaRPr lang="en-US" sz="1000" noProof="1"/>
          </a:p>
        </p:txBody>
      </p:sp>
      <p:sp>
        <p:nvSpPr>
          <p:cNvPr id="31" name="footer-page"/>
          <p:cNvSpPr txBox="1"/>
          <p:nvPr/>
        </p:nvSpPr>
        <p:spPr>
          <a:xfrm>
            <a:off x="10160000" y="6502400"/>
            <a:ext cx="142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06 / 12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06 · 范式对照 COMPARISON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842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串口 vs 网卡：同构的是骨架，差异留在数据层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17600"/>
            <a:ext cx="457200" cy="381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graphicFrame>
        <p:nvGraphicFramePr>
          <p:cNvPr id="5" name="cmp-table"/>
          <p:cNvGraphicFramePr>
            <a:graphicFrameLocks noGrp="1"/>
          </p:cNvGraphicFramePr>
          <p:nvPr/>
        </p:nvGraphicFramePr>
        <p:xfrm>
          <a:off x="609600" y="1320800"/>
          <a:ext cx="10972800" cy="3962400"/>
        </p:xfrm>
        <a:graphic>
          <a:graphicData uri="http://schemas.openxmlformats.org/drawingml/2006/table">
            <a:tbl>
              <a:tblPr/>
              <a:tblGrid>
                <a:gridCol w="1865376"/>
                <a:gridCol w="4553712"/>
                <a:gridCol w="4553712"/>
              </a:tblGrid>
              <a:tr h="356616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50" b="1" noProof="1">
                          <a:solidFill>
                            <a:srgbClr val="1B4F8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维度</a:t>
                      </a:r>
                      <a:endParaRPr lang="en-US" sz="1250" b="1" noProof="1">
                        <a:solidFill>
                          <a:srgbClr val="1B4F8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F6FB4"/>
                      </a:solidFill>
                    </a:lnT>
                    <a:lnB w="12700">
                      <a:solidFill>
                        <a:srgbClr val="2F6FB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50" b="1" noProof="1">
                          <a:solidFill>
                            <a:srgbClr val="1B4F8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异步串口</a:t>
                      </a:r>
                      <a:endParaRPr lang="en-US" sz="1250" b="1" noProof="1">
                        <a:solidFill>
                          <a:srgbClr val="1B4F8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F6FB4"/>
                      </a:solidFill>
                    </a:lnT>
                    <a:lnB w="12700">
                      <a:solidFill>
                        <a:srgbClr val="2F6FB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50" b="1" noProof="1">
                          <a:solidFill>
                            <a:srgbClr val="1B4F8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异步网卡</a:t>
                      </a:r>
                      <a:endParaRPr lang="en-US" sz="1250" b="1" noProof="1">
                        <a:solidFill>
                          <a:srgbClr val="1B4F8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F6FB4"/>
                      </a:solidFill>
                    </a:lnT>
                    <a:lnB w="12700">
                      <a:solidFill>
                        <a:srgbClr val="2F6FB4"/>
                      </a:solidFill>
                    </a:lnB>
                    <a:noFill/>
                  </a:tcPr>
                </a:tc>
              </a:tr>
              <a:tr h="277368">
                <a:tc gridSpan="3"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b="1" noProof="1">
                          <a:solidFill>
                            <a:srgbClr val="2F6FB4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同构部分 · 范式覆盖</a:t>
                      </a:r>
                      <a:endParaRPr lang="en-US" sz="1200" b="1" noProof="1">
                        <a:solidFill>
                          <a:srgbClr val="2F6FB4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solidFill>
                      <a:srgbClr val="EAF3FB"/>
                    </a:solidFill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5488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触发链骨架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 gridSpan="2"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四段骨架，两个驱动同一套写法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5488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Waker 机制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 gridSpan="2"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同一个 embassy_sync::AtomicWaker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4736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OS 抽象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 gridSpan="2"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同一组 OsRuntime / OsWakerSet trait，驱动不依赖具体任务实现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368">
                <a:tc gridSpan="3"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b="1" noProof="1">
                          <a:solidFill>
                            <a:srgbClr val="2F6FB4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差异部分 · 按设备设计</a:t>
                      </a:r>
                      <a:endParaRPr lang="en-US" sz="1200" b="1" noProof="1">
                        <a:solidFill>
                          <a:srgbClr val="2F6FB4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solidFill>
                      <a:srgbClr val="EAF3FB"/>
                    </a:solidFill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4360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数据结构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字节流 + 双 SPSC 环形缓冲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整包 + 描述符固定槽位 + 代际序号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7F0"/>
                      </a:solidFill>
                    </a:lnB>
                    <a:noFill/>
                  </a:tcPr>
                </a:tc>
              </a:tr>
              <a:tr h="950976">
                <a:tc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不抽象的理由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F6FB4"/>
                      </a:solidFill>
                    </a:lnB>
                    <a:noFill/>
                  </a:tcPr>
                </a:tc>
                <a:tc gridSpan="2">
                  <a:txBody>
                    <a:bodyPr wrap="square" rtlCol="0"/>
                    <a:lstStyle/>
                    <a:p>
                      <a:pPr marL="101600" algn="l"/>
                      <a:r>
                        <a:rPr lang="en-US" sz="1200" noProof="1">
                          <a:solidFill>
                            <a:srgbClr val="1E2A3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completion 语义、背压表达、故障分类在两个设备上完全不同，强抽 trait 会退化</a:t>
                      </a:r>
                      <a:endParaRPr lang="en-US" sz="1200" noProof="1">
                        <a:solidFill>
                          <a:srgbClr val="1E2A3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F6FB4"/>
                      </a:solidFill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footer-line"/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9" name="footer-left"/>
          <p:cNvSpPr txBox="1"/>
          <p:nvPr/>
        </p:nvSpPr>
        <p:spPr>
          <a:xfrm>
            <a:off x="6096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StarryOS 异步驱动开发 · 实习总结汇报</a:t>
            </a:r>
            <a:endParaRPr lang="en-US" sz="1000" noProof="1"/>
          </a:p>
        </p:txBody>
      </p:sp>
      <p:sp>
        <p:nvSpPr>
          <p:cNvPr id="10" name="footer-page"/>
          <p:cNvSpPr txBox="1"/>
          <p:nvPr/>
        </p:nvSpPr>
        <p:spPr>
          <a:xfrm>
            <a:off x="10160000" y="6502400"/>
            <a:ext cx="142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07 / 12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07 · 范式落地 IMPLEMENTATION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842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网卡五层数据流：每一层职责单一，故障语义完整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17600"/>
            <a:ext cx="457200" cy="381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5" name="l1"/>
          <p:cNvSpPr/>
          <p:nvPr/>
        </p:nvSpPr>
        <p:spPr>
          <a:xfrm>
            <a:off x="609600" y="1320800"/>
            <a:ext cx="64516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6" name="l1-bar"/>
          <p:cNvSpPr/>
          <p:nvPr/>
        </p:nvSpPr>
        <p:spPr>
          <a:xfrm>
            <a:off x="609600" y="1320800"/>
            <a:ext cx="38100" cy="7112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7" name="l1-t"/>
          <p:cNvSpPr txBox="1"/>
          <p:nvPr/>
        </p:nvSpPr>
        <p:spPr>
          <a:xfrm>
            <a:off x="812800" y="1320800"/>
            <a:ext cx="6096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L1 · ISR</a:t>
            </a:r>
            <a:r>
              <a:rPr lang="en-US" sz="11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　　收中断、识别原因、唤醒</a:t>
            </a:r>
            <a:endParaRPr lang="en-US" sz="1600" noProof="1"/>
          </a:p>
        </p:txBody>
      </p:sp>
      <p:sp>
        <p:nvSpPr>
          <p:cNvPr id="8" name="l-arr1"/>
          <p:cNvSpPr/>
          <p:nvPr/>
        </p:nvSpPr>
        <p:spPr>
          <a:xfrm>
            <a:off x="3822700" y="2044700"/>
            <a:ext cx="25400" cy="152400"/>
          </a:xfrm>
          <a:custGeom>
            <a:avLst/>
            <a:gdLst/>
            <a:ahLst/>
            <a:cxnLst/>
            <a:rect l="l" t="t" r="r" b="b"/>
            <a:pathLst>
              <a:path w="2" h="12">
                <a:moveTo>
                  <a:pt x="1" y="0"/>
                </a:moveTo>
                <a:lnTo>
                  <a:pt x="1" y="12"/>
                </a:lnTo>
              </a:path>
            </a:pathLst>
          </a:custGeom>
          <a:noFill/>
          <a:ln w="19050" cap="rnd">
            <a:solidFill>
              <a:srgbClr val="2F6FB4"/>
            </a:solidFill>
            <a:round/>
            <a:tailEnd type="stealth"/>
          </a:ln>
        </p:spPr>
      </p:sp>
      <p:sp>
        <p:nvSpPr>
          <p:cNvPr id="9" name="l2"/>
          <p:cNvSpPr/>
          <p:nvPr/>
        </p:nvSpPr>
        <p:spPr>
          <a:xfrm>
            <a:off x="609600" y="2209800"/>
            <a:ext cx="64516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10" name="l2-bar"/>
          <p:cNvSpPr/>
          <p:nvPr/>
        </p:nvSpPr>
        <p:spPr>
          <a:xfrm>
            <a:off x="609600" y="2209800"/>
            <a:ext cx="38100" cy="7112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11" name="l2-t"/>
          <p:cNvSpPr txBox="1"/>
          <p:nvPr/>
        </p:nvSpPr>
        <p:spPr>
          <a:xfrm>
            <a:off x="812800" y="2209800"/>
            <a:ext cx="6096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L2 · 队列 owner</a:t>
            </a:r>
            <a:r>
              <a:rPr lang="en-US" sz="11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　　唯一后台任务，收发预算制推进</a:t>
            </a:r>
            <a:endParaRPr lang="en-US" sz="1600" noProof="1"/>
          </a:p>
        </p:txBody>
      </p:sp>
      <p:sp>
        <p:nvSpPr>
          <p:cNvPr id="12" name="l-arr2"/>
          <p:cNvSpPr/>
          <p:nvPr/>
        </p:nvSpPr>
        <p:spPr>
          <a:xfrm>
            <a:off x="3822700" y="2933700"/>
            <a:ext cx="25400" cy="152400"/>
          </a:xfrm>
          <a:custGeom>
            <a:avLst/>
            <a:gdLst/>
            <a:ahLst/>
            <a:cxnLst/>
            <a:rect l="l" t="t" r="r" b="b"/>
            <a:pathLst>
              <a:path w="2" h="12">
                <a:moveTo>
                  <a:pt x="1" y="0"/>
                </a:moveTo>
                <a:lnTo>
                  <a:pt x="1" y="12"/>
                </a:lnTo>
              </a:path>
            </a:pathLst>
          </a:custGeom>
          <a:noFill/>
          <a:ln w="19050" cap="rnd">
            <a:solidFill>
              <a:srgbClr val="2F6FB4"/>
            </a:solidFill>
            <a:round/>
            <a:tailEnd type="stealth"/>
          </a:ln>
        </p:spPr>
      </p:sp>
      <p:sp>
        <p:nvSpPr>
          <p:cNvPr id="13" name="l3"/>
          <p:cNvSpPr/>
          <p:nvPr/>
        </p:nvSpPr>
        <p:spPr>
          <a:xfrm>
            <a:off x="609600" y="3098800"/>
            <a:ext cx="64516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14" name="l3-bar"/>
          <p:cNvSpPr/>
          <p:nvPr/>
        </p:nvSpPr>
        <p:spPr>
          <a:xfrm>
            <a:off x="609600" y="3098800"/>
            <a:ext cx="38100" cy="7112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15" name="l3-t"/>
          <p:cNvSpPr txBox="1"/>
          <p:nvPr/>
        </p:nvSpPr>
        <p:spPr>
          <a:xfrm>
            <a:off x="812800" y="3098800"/>
            <a:ext cx="6096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L3 · 栈 runner</a:t>
            </a:r>
            <a:r>
              <a:rPr lang="en-US" sz="11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　　推进 smoltcp 收发、维护与定时器</a:t>
            </a:r>
            <a:endParaRPr lang="en-US" sz="1600" noProof="1"/>
          </a:p>
        </p:txBody>
      </p:sp>
      <p:sp>
        <p:nvSpPr>
          <p:cNvPr id="16" name="l-arr3"/>
          <p:cNvSpPr/>
          <p:nvPr/>
        </p:nvSpPr>
        <p:spPr>
          <a:xfrm>
            <a:off x="3822700" y="3822700"/>
            <a:ext cx="25400" cy="152400"/>
          </a:xfrm>
          <a:custGeom>
            <a:avLst/>
            <a:gdLst/>
            <a:ahLst/>
            <a:cxnLst/>
            <a:rect l="l" t="t" r="r" b="b"/>
            <a:pathLst>
              <a:path w="2" h="12">
                <a:moveTo>
                  <a:pt x="1" y="0"/>
                </a:moveTo>
                <a:lnTo>
                  <a:pt x="1" y="12"/>
                </a:lnTo>
              </a:path>
            </a:pathLst>
          </a:custGeom>
          <a:noFill/>
          <a:ln w="19050" cap="rnd">
            <a:solidFill>
              <a:srgbClr val="2F6FB4"/>
            </a:solidFill>
            <a:round/>
            <a:tailEnd type="stealth"/>
          </a:ln>
        </p:spPr>
      </p:sp>
      <p:sp>
        <p:nvSpPr>
          <p:cNvPr id="17" name="l4"/>
          <p:cNvSpPr/>
          <p:nvPr/>
        </p:nvSpPr>
        <p:spPr>
          <a:xfrm>
            <a:off x="609600" y="3987800"/>
            <a:ext cx="64516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18" name="l4-bar"/>
          <p:cNvSpPr/>
          <p:nvPr/>
        </p:nvSpPr>
        <p:spPr>
          <a:xfrm>
            <a:off x="609600" y="3987800"/>
            <a:ext cx="38100" cy="7112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19" name="l4-t"/>
          <p:cNvSpPr txBox="1"/>
          <p:nvPr/>
        </p:nvSpPr>
        <p:spPr>
          <a:xfrm>
            <a:off x="812800" y="3987800"/>
            <a:ext cx="6096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L4 · 就绪桥</a:t>
            </a:r>
            <a:r>
              <a:rPr lang="en-US" sz="11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　　单槽 waker 展开成多等待者，接 poll / select</a:t>
            </a:r>
            <a:endParaRPr lang="en-US" sz="1600" noProof="1"/>
          </a:p>
        </p:txBody>
      </p:sp>
      <p:sp>
        <p:nvSpPr>
          <p:cNvPr id="20" name="l-arr4"/>
          <p:cNvSpPr/>
          <p:nvPr/>
        </p:nvSpPr>
        <p:spPr>
          <a:xfrm>
            <a:off x="3822700" y="4711700"/>
            <a:ext cx="25400" cy="152400"/>
          </a:xfrm>
          <a:custGeom>
            <a:avLst/>
            <a:gdLst/>
            <a:ahLst/>
            <a:cxnLst/>
            <a:rect l="l" t="t" r="r" b="b"/>
            <a:pathLst>
              <a:path w="2" h="12">
                <a:moveTo>
                  <a:pt x="1" y="0"/>
                </a:moveTo>
                <a:lnTo>
                  <a:pt x="1" y="12"/>
                </a:lnTo>
              </a:path>
            </a:pathLst>
          </a:custGeom>
          <a:noFill/>
          <a:ln w="19050" cap="rnd">
            <a:solidFill>
              <a:srgbClr val="2F6FB4"/>
            </a:solidFill>
            <a:round/>
            <a:tailEnd type="stealth"/>
          </a:ln>
        </p:spPr>
      </p:sp>
      <p:sp>
        <p:nvSpPr>
          <p:cNvPr id="21" name="l5"/>
          <p:cNvSpPr/>
          <p:nvPr/>
        </p:nvSpPr>
        <p:spPr>
          <a:xfrm>
            <a:off x="609600" y="4876800"/>
            <a:ext cx="6451600" cy="711200"/>
          </a:xfrm>
          <a:prstGeom prst="rect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2" name="l5-bar"/>
          <p:cNvSpPr/>
          <p:nvPr/>
        </p:nvSpPr>
        <p:spPr>
          <a:xfrm>
            <a:off x="609600" y="4876800"/>
            <a:ext cx="38100" cy="7112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23" name="l5-t"/>
          <p:cNvSpPr txBox="1"/>
          <p:nvPr/>
        </p:nvSpPr>
        <p:spPr>
          <a:xfrm>
            <a:off x="812800" y="4876800"/>
            <a:ext cx="6096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L5 · socket</a:t>
            </a:r>
            <a:r>
              <a:rPr lang="en-US" sz="11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　　面向应用的收发接口</a:t>
            </a:r>
            <a:endParaRPr lang="en-US" sz="1600" noProof="1"/>
          </a:p>
        </p:txBody>
      </p:sp>
      <p:sp>
        <p:nvSpPr>
          <p:cNvPr id="24" name="p1"/>
          <p:cNvSpPr/>
          <p:nvPr/>
        </p:nvSpPr>
        <p:spPr>
          <a:xfrm>
            <a:off x="7467600" y="1320800"/>
            <a:ext cx="41148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25" name="p1-h"/>
          <p:cNvSpPr txBox="1"/>
          <p:nvPr/>
        </p:nvSpPr>
        <p:spPr>
          <a:xfrm>
            <a:off x="7670800" y="1447800"/>
            <a:ext cx="370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发送记录</a:t>
            </a:r>
            <a:endParaRPr lang="en-US" sz="1350" noProof="1"/>
          </a:p>
        </p:txBody>
      </p:sp>
      <p:sp>
        <p:nvSpPr>
          <p:cNvPr id="26" name="p1-t"/>
          <p:cNvSpPr txBox="1"/>
          <p:nvPr/>
        </p:nvSpPr>
        <p:spPr>
          <a:xfrm>
            <a:off x="7670800" y="1752600"/>
            <a:ext cx="37084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每次发送携带代际号 + 序号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提交 = 完成 = 回收，三处计数闭合后缓冲区才复用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迟到的完成通知不跨代生效</a:t>
            </a:r>
            <a:endParaRPr lang="en-US" sz="1150" noProof="1"/>
          </a:p>
        </p:txBody>
      </p:sp>
      <p:sp>
        <p:nvSpPr>
          <p:cNvPr id="27" name="p2"/>
          <p:cNvSpPr/>
          <p:nvPr/>
        </p:nvSpPr>
        <p:spPr>
          <a:xfrm>
            <a:off x="7467600" y="3556000"/>
            <a:ext cx="41148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28" name="p2-h"/>
          <p:cNvSpPr txBox="1"/>
          <p:nvPr/>
        </p:nvSpPr>
        <p:spPr>
          <a:xfrm>
            <a:off x="7670800" y="3683000"/>
            <a:ext cx="370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恢复语义</a:t>
            </a:r>
            <a:endParaRPr lang="en-US" sz="1350" noProof="1"/>
          </a:p>
        </p:txBody>
      </p:sp>
      <p:sp>
        <p:nvSpPr>
          <p:cNvPr id="29" name="p2-t"/>
          <p:cNvSpPr txBox="1"/>
          <p:nvPr/>
        </p:nvSpPr>
        <p:spPr>
          <a:xfrm>
            <a:off x="7670800" y="3987800"/>
            <a:ext cx="37084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等待者取消 / 提交前撤销 / 设备持有，三段区分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复位须确认设备清零后才重建队列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15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故障注入：无重复释放、无永久挂起、无静默丢包</a:t>
            </a:r>
            <a:endParaRPr lang="en-US" sz="1150" noProof="1"/>
          </a:p>
        </p:txBody>
      </p:sp>
      <p:sp>
        <p:nvSpPr>
          <p:cNvPr id="30" name="footer-line"/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31" name="footer-left"/>
          <p:cNvSpPr txBox="1"/>
          <p:nvPr/>
        </p:nvSpPr>
        <p:spPr>
          <a:xfrm>
            <a:off x="6096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StarryOS 异步驱动开发 · 实习总结汇报</a:t>
            </a:r>
            <a:endParaRPr lang="en-US" sz="1000" noProof="1"/>
          </a:p>
        </p:txBody>
      </p:sp>
      <p:sp>
        <p:nvSpPr>
          <p:cNvPr id="32" name="footer-page"/>
          <p:cNvSpPr txBox="1"/>
          <p:nvPr/>
        </p:nvSpPr>
        <p:spPr>
          <a:xfrm>
            <a:off x="10160000" y="6502400"/>
            <a:ext cx="142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08 / 12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08 · 多核扩展 MULTICORE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842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多核绑核与跨核唤醒：角色固定落核，IPI 恰好一次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17600"/>
            <a:ext cx="457200" cy="381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5" name="b1-h"/>
          <p:cNvSpPr txBox="1"/>
          <p:nvPr/>
        </p:nvSpPr>
        <p:spPr>
          <a:xfrm>
            <a:off x="609600" y="1320800"/>
            <a:ext cx="538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背景</a:t>
            </a:r>
            <a:endParaRPr lang="en-US" sz="1300" noProof="1"/>
          </a:p>
        </p:txBody>
      </p:sp>
      <p:sp>
        <p:nvSpPr>
          <p:cNvPr id="6" name="b1-t"/>
          <p:cNvSpPr txBox="1"/>
          <p:nvPr/>
        </p:nvSpPr>
        <p:spPr>
          <a:xfrm>
            <a:off x="609600" y="1600200"/>
            <a:ext cx="538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K3 目标板：8 × X100 + 8 × A100，共 16 核；后台角色必须固定绑核</a:t>
            </a:r>
            <a:endParaRPr lang="en-US" sz="1200" noProof="1"/>
          </a:p>
        </p:txBody>
      </p:sp>
      <p:sp>
        <p:nvSpPr>
          <p:cNvPr id="7" name="b2-h"/>
          <p:cNvSpPr txBox="1"/>
          <p:nvPr/>
        </p:nvSpPr>
        <p:spPr>
          <a:xfrm>
            <a:off x="609600" y="2438400"/>
            <a:ext cx="538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绑核规则</a:t>
            </a:r>
            <a:endParaRPr lang="en-US" sz="1300" noProof="1"/>
          </a:p>
        </p:txBody>
      </p:sp>
      <p:sp>
        <p:nvSpPr>
          <p:cNvPr id="8" name="b2-t"/>
          <p:cNvSpPr txBox="1"/>
          <p:nvPr/>
        </p:nvSpPr>
        <p:spPr>
          <a:xfrm>
            <a:off x="609600" y="2717800"/>
            <a:ext cx="5384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角色 i → 可调度集合第 (anchor + i) 个，入队前完成；网卡 owner / runner、串口 RX / TX copier 各占一核</a:t>
            </a:r>
            <a:endParaRPr lang="en-US" sz="1200" noProof="1"/>
          </a:p>
        </p:txBody>
      </p:sp>
      <p:sp>
        <p:nvSpPr>
          <p:cNvPr id="9" name="b3-h"/>
          <p:cNvSpPr txBox="1"/>
          <p:nvPr/>
        </p:nvSpPr>
        <p:spPr>
          <a:xfrm>
            <a:off x="609600" y="3759200"/>
            <a:ext cx="538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跨核唤醒</a:t>
            </a:r>
            <a:endParaRPr lang="en-US" sz="1300" noProof="1"/>
          </a:p>
        </p:txBody>
      </p:sp>
      <p:sp>
        <p:nvSpPr>
          <p:cNvPr id="10" name="b3-t"/>
          <p:cNvSpPr txBox="1"/>
          <p:nvPr/>
        </p:nvSpPr>
        <p:spPr>
          <a:xfrm>
            <a:off x="609600" y="4038600"/>
            <a:ext cx="538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本地优先；必须跨核时恰好一次 IPI，避免唤醒风暴</a:t>
            </a:r>
            <a:endParaRPr lang="en-US" sz="1200" noProof="1"/>
          </a:p>
        </p:txBody>
      </p:sp>
      <p:sp>
        <p:nvSpPr>
          <p:cNvPr id="11" name="b4-h"/>
          <p:cNvSpPr txBox="1"/>
          <p:nvPr/>
        </p:nvSpPr>
        <p:spPr>
          <a:xfrm>
            <a:off x="609600" y="4876800"/>
            <a:ext cx="538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观测手段</a:t>
            </a:r>
            <a:endParaRPr lang="en-US" sz="1300" noProof="1"/>
          </a:p>
        </p:txBody>
      </p:sp>
      <p:sp>
        <p:nvSpPr>
          <p:cNvPr id="12" name="b4-t"/>
          <p:cNvSpPr txBox="1"/>
          <p:nvPr/>
        </p:nvSpPr>
        <p:spPr>
          <a:xfrm>
            <a:off x="609600" y="5156200"/>
            <a:ext cx="538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串口 152 字节、网卡 V5 两组快照命令，直接读出「谁跑在哪个核」</a:t>
            </a:r>
            <a:endParaRPr lang="en-US" sz="1200" noProof="1"/>
          </a:p>
        </p:txBody>
      </p:sp>
      <p:sp>
        <p:nvSpPr>
          <p:cNvPr id="14" name="x100-label"/>
          <p:cNvSpPr txBox="1"/>
          <p:nvPr/>
        </p:nvSpPr>
        <p:spPr>
          <a:xfrm>
            <a:off x="6654800" y="19050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X100</a:t>
            </a:r>
            <a:endParaRPr lang="en-US" sz="1100" noProof="1"/>
          </a:p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×8</a:t>
            </a:r>
            <a:endParaRPr lang="en-US" sz="1100" noProof="1"/>
          </a:p>
        </p:txBody>
      </p:sp>
      <p:sp>
        <p:nvSpPr>
          <p:cNvPr id="15" name="a100-label"/>
          <p:cNvSpPr txBox="1"/>
          <p:nvPr/>
        </p:nvSpPr>
        <p:spPr>
          <a:xfrm>
            <a:off x="6654800" y="36830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A100</a:t>
            </a:r>
            <a:endParaRPr lang="en-US" sz="1100" noProof="1"/>
          </a:p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×8</a:t>
            </a:r>
            <a:endParaRPr lang="en-US" sz="1100" noProof="1"/>
          </a:p>
        </p:txBody>
      </p:sp>
      <p:sp>
        <p:nvSpPr>
          <p:cNvPr id="16" name="core0"/>
          <p:cNvSpPr/>
          <p:nvPr/>
        </p:nvSpPr>
        <p:spPr>
          <a:xfrm>
            <a:off x="7620000" y="1320800"/>
            <a:ext cx="787400" cy="787400"/>
          </a:xfrm>
          <a:prstGeom prst="rect">
            <a:avLst/>
          </a:prstGeom>
          <a:solidFill>
            <a:srgbClr val="F4F9FD"/>
          </a:solidFill>
          <a:ln w="12700">
            <a:solidFill>
              <a:srgbClr val="DCE7F0"/>
            </a:solidFill>
          </a:ln>
        </p:spPr>
      </p:sp>
      <p:sp>
        <p:nvSpPr>
          <p:cNvPr id="17" name="core0-t"/>
          <p:cNvSpPr txBox="1"/>
          <p:nvPr/>
        </p:nvSpPr>
        <p:spPr>
          <a:xfrm>
            <a:off x="7620000" y="1320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C0</a:t>
            </a:r>
            <a:endParaRPr lang="en-US" sz="1000" noProof="1"/>
          </a:p>
        </p:txBody>
      </p:sp>
      <p:sp>
        <p:nvSpPr>
          <p:cNvPr id="18" name="core1"/>
          <p:cNvSpPr/>
          <p:nvPr/>
        </p:nvSpPr>
        <p:spPr>
          <a:xfrm>
            <a:off x="8509000" y="1320800"/>
            <a:ext cx="787400" cy="787400"/>
          </a:xfrm>
          <a:prstGeom prst="rect">
            <a:avLst/>
          </a:prstGeom>
          <a:solidFill>
            <a:srgbClr val="F4F9FD"/>
          </a:solidFill>
          <a:ln w="12700">
            <a:solidFill>
              <a:srgbClr val="DCE7F0"/>
            </a:solidFill>
          </a:ln>
        </p:spPr>
      </p:sp>
      <p:sp>
        <p:nvSpPr>
          <p:cNvPr id="19" name="core1-t"/>
          <p:cNvSpPr txBox="1"/>
          <p:nvPr/>
        </p:nvSpPr>
        <p:spPr>
          <a:xfrm>
            <a:off x="8509000" y="1320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C1</a:t>
            </a:r>
            <a:endParaRPr lang="en-US" sz="1000" noProof="1"/>
          </a:p>
        </p:txBody>
      </p:sp>
      <p:sp>
        <p:nvSpPr>
          <p:cNvPr id="20" name="core2"/>
          <p:cNvSpPr/>
          <p:nvPr/>
        </p:nvSpPr>
        <p:spPr>
          <a:xfrm>
            <a:off x="9398000" y="1320800"/>
            <a:ext cx="787400" cy="787400"/>
          </a:xfrm>
          <a:prstGeom prst="rect">
            <a:avLst/>
          </a:prstGeom>
          <a:solidFill>
            <a:srgbClr val="F4F9FD"/>
          </a:solidFill>
          <a:ln w="12700">
            <a:solidFill>
              <a:srgbClr val="DCE7F0"/>
            </a:solidFill>
          </a:ln>
        </p:spPr>
      </p:sp>
      <p:sp>
        <p:nvSpPr>
          <p:cNvPr id="21" name="core2-t"/>
          <p:cNvSpPr txBox="1"/>
          <p:nvPr/>
        </p:nvSpPr>
        <p:spPr>
          <a:xfrm>
            <a:off x="9398000" y="1320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C2</a:t>
            </a:r>
            <a:endParaRPr lang="en-US" sz="1000" noProof="1"/>
          </a:p>
        </p:txBody>
      </p:sp>
      <p:sp>
        <p:nvSpPr>
          <p:cNvPr id="22" name="core3"/>
          <p:cNvSpPr/>
          <p:nvPr/>
        </p:nvSpPr>
        <p:spPr>
          <a:xfrm>
            <a:off x="10287000" y="1320800"/>
            <a:ext cx="787400" cy="787400"/>
          </a:xfrm>
          <a:prstGeom prst="rect">
            <a:avLst/>
          </a:prstGeom>
          <a:solidFill>
            <a:srgbClr val="F4F9FD"/>
          </a:solidFill>
          <a:ln w="12700">
            <a:solidFill>
              <a:srgbClr val="DCE7F0"/>
            </a:solidFill>
          </a:ln>
        </p:spPr>
      </p:sp>
      <p:sp>
        <p:nvSpPr>
          <p:cNvPr id="23" name="core3-t"/>
          <p:cNvSpPr txBox="1"/>
          <p:nvPr/>
        </p:nvSpPr>
        <p:spPr>
          <a:xfrm>
            <a:off x="10287000" y="1320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C3</a:t>
            </a:r>
            <a:endParaRPr lang="en-US" sz="1000" noProof="1"/>
          </a:p>
        </p:txBody>
      </p:sp>
      <p:sp>
        <p:nvSpPr>
          <p:cNvPr id="24" name="core4"/>
          <p:cNvSpPr/>
          <p:nvPr/>
        </p:nvSpPr>
        <p:spPr>
          <a:xfrm>
            <a:off x="7620000" y="2209800"/>
            <a:ext cx="787400" cy="787400"/>
          </a:xfrm>
          <a:prstGeom prst="rect">
            <a:avLst/>
          </a:prstGeom>
          <a:solidFill>
            <a:srgbClr val="F4F9FD"/>
          </a:solidFill>
          <a:ln w="12700">
            <a:solidFill>
              <a:srgbClr val="DCE7F0"/>
            </a:solidFill>
          </a:ln>
        </p:spPr>
      </p:sp>
      <p:sp>
        <p:nvSpPr>
          <p:cNvPr id="25" name="core4-t"/>
          <p:cNvSpPr txBox="1"/>
          <p:nvPr/>
        </p:nvSpPr>
        <p:spPr>
          <a:xfrm>
            <a:off x="7620000" y="2209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C4</a:t>
            </a:r>
            <a:endParaRPr lang="en-US" sz="1000" noProof="1"/>
          </a:p>
        </p:txBody>
      </p:sp>
      <p:sp>
        <p:nvSpPr>
          <p:cNvPr id="26" name="core5"/>
          <p:cNvSpPr/>
          <p:nvPr/>
        </p:nvSpPr>
        <p:spPr>
          <a:xfrm>
            <a:off x="8509000" y="2209800"/>
            <a:ext cx="787400" cy="787400"/>
          </a:xfrm>
          <a:prstGeom prst="rect">
            <a:avLst/>
          </a:prstGeom>
          <a:solidFill>
            <a:srgbClr val="F4F9FD"/>
          </a:solidFill>
          <a:ln w="12700">
            <a:solidFill>
              <a:srgbClr val="DCE7F0"/>
            </a:solidFill>
          </a:ln>
        </p:spPr>
      </p:sp>
      <p:sp>
        <p:nvSpPr>
          <p:cNvPr id="27" name="core5-t"/>
          <p:cNvSpPr txBox="1"/>
          <p:nvPr/>
        </p:nvSpPr>
        <p:spPr>
          <a:xfrm>
            <a:off x="8509000" y="2209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C5</a:t>
            </a:r>
            <a:endParaRPr lang="en-US" sz="1000" noProof="1"/>
          </a:p>
        </p:txBody>
      </p:sp>
      <p:sp>
        <p:nvSpPr>
          <p:cNvPr id="28" name="core6"/>
          <p:cNvSpPr/>
          <p:nvPr/>
        </p:nvSpPr>
        <p:spPr>
          <a:xfrm>
            <a:off x="9398000" y="2209800"/>
            <a:ext cx="787400" cy="787400"/>
          </a:xfrm>
          <a:prstGeom prst="rect">
            <a:avLst/>
          </a:prstGeom>
          <a:solidFill>
            <a:srgbClr val="F4F9FD"/>
          </a:solidFill>
          <a:ln w="12700">
            <a:solidFill>
              <a:srgbClr val="DCE7F0"/>
            </a:solidFill>
          </a:ln>
        </p:spPr>
      </p:sp>
      <p:sp>
        <p:nvSpPr>
          <p:cNvPr id="29" name="core6-t"/>
          <p:cNvSpPr txBox="1"/>
          <p:nvPr/>
        </p:nvSpPr>
        <p:spPr>
          <a:xfrm>
            <a:off x="9398000" y="2209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C6</a:t>
            </a:r>
            <a:endParaRPr lang="en-US" sz="1000" noProof="1"/>
          </a:p>
        </p:txBody>
      </p:sp>
      <p:sp>
        <p:nvSpPr>
          <p:cNvPr id="30" name="core7"/>
          <p:cNvSpPr/>
          <p:nvPr/>
        </p:nvSpPr>
        <p:spPr>
          <a:xfrm>
            <a:off x="10287000" y="2209800"/>
            <a:ext cx="787400" cy="787400"/>
          </a:xfrm>
          <a:prstGeom prst="rect">
            <a:avLst/>
          </a:prstGeom>
          <a:solidFill>
            <a:srgbClr val="F4F9FD"/>
          </a:solidFill>
          <a:ln w="12700">
            <a:solidFill>
              <a:srgbClr val="DCE7F0"/>
            </a:solidFill>
          </a:ln>
        </p:spPr>
      </p:sp>
      <p:sp>
        <p:nvSpPr>
          <p:cNvPr id="31" name="core7-t"/>
          <p:cNvSpPr txBox="1"/>
          <p:nvPr/>
        </p:nvSpPr>
        <p:spPr>
          <a:xfrm>
            <a:off x="10287000" y="2209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C7</a:t>
            </a:r>
            <a:endParaRPr lang="en-US" sz="1000" noProof="1"/>
          </a:p>
        </p:txBody>
      </p:sp>
      <p:sp>
        <p:nvSpPr>
          <p:cNvPr id="32" name="core8"/>
          <p:cNvSpPr/>
          <p:nvPr/>
        </p:nvSpPr>
        <p:spPr>
          <a:xfrm>
            <a:off x="7620000" y="3098800"/>
            <a:ext cx="7874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33" name="core8-t"/>
          <p:cNvSpPr txBox="1"/>
          <p:nvPr/>
        </p:nvSpPr>
        <p:spPr>
          <a:xfrm>
            <a:off x="7620000" y="3098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C8</a:t>
            </a:r>
            <a:endParaRPr lang="en-US" sz="1000" noProof="1"/>
          </a:p>
        </p:txBody>
      </p:sp>
      <p:sp>
        <p:nvSpPr>
          <p:cNvPr id="34" name="core9"/>
          <p:cNvSpPr/>
          <p:nvPr/>
        </p:nvSpPr>
        <p:spPr>
          <a:xfrm>
            <a:off x="8509000" y="3098800"/>
            <a:ext cx="7874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35" name="core9-t"/>
          <p:cNvSpPr txBox="1"/>
          <p:nvPr/>
        </p:nvSpPr>
        <p:spPr>
          <a:xfrm>
            <a:off x="8509000" y="3098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C9</a:t>
            </a:r>
            <a:endParaRPr lang="en-US" sz="1000" noProof="1"/>
          </a:p>
        </p:txBody>
      </p:sp>
      <p:sp>
        <p:nvSpPr>
          <p:cNvPr id="36" name="core10"/>
          <p:cNvSpPr/>
          <p:nvPr/>
        </p:nvSpPr>
        <p:spPr>
          <a:xfrm>
            <a:off x="9398000" y="3098800"/>
            <a:ext cx="7874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37" name="core10-t"/>
          <p:cNvSpPr txBox="1"/>
          <p:nvPr/>
        </p:nvSpPr>
        <p:spPr>
          <a:xfrm>
            <a:off x="9398000" y="3098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C10</a:t>
            </a:r>
            <a:endParaRPr lang="en-US" sz="1000" noProof="1"/>
          </a:p>
        </p:txBody>
      </p:sp>
      <p:sp>
        <p:nvSpPr>
          <p:cNvPr id="38" name="core11"/>
          <p:cNvSpPr/>
          <p:nvPr/>
        </p:nvSpPr>
        <p:spPr>
          <a:xfrm>
            <a:off x="10287000" y="3098800"/>
            <a:ext cx="7874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</p:sp>
      <p:sp>
        <p:nvSpPr>
          <p:cNvPr id="39" name="core11-t"/>
          <p:cNvSpPr txBox="1"/>
          <p:nvPr/>
        </p:nvSpPr>
        <p:spPr>
          <a:xfrm>
            <a:off x="10287000" y="3098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C11</a:t>
            </a:r>
            <a:endParaRPr lang="en-US" sz="1000" noProof="1"/>
          </a:p>
        </p:txBody>
      </p:sp>
      <p:sp>
        <p:nvSpPr>
          <p:cNvPr id="40" name="core12"/>
          <p:cNvSpPr/>
          <p:nvPr/>
        </p:nvSpPr>
        <p:spPr>
          <a:xfrm>
            <a:off x="7620000" y="3987800"/>
            <a:ext cx="787400" cy="7874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41" name="core12-t"/>
          <p:cNvSpPr txBox="1"/>
          <p:nvPr/>
        </p:nvSpPr>
        <p:spPr>
          <a:xfrm>
            <a:off x="7620000" y="3987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C12</a:t>
            </a:r>
            <a:endParaRPr lang="en-US" sz="1600" noProof="1"/>
          </a:p>
          <a:p>
            <a:pPr algn="ctr">
              <a:lnSpc>
                <a:spcPct val="125000"/>
              </a:lnSpc>
            </a:pPr>
            <a:r>
              <a:rPr lang="en-US" sz="9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owner</a:t>
            </a:r>
            <a:endParaRPr lang="en-US" sz="1600" noProof="1"/>
          </a:p>
        </p:txBody>
      </p:sp>
      <p:sp>
        <p:nvSpPr>
          <p:cNvPr id="42" name="core13"/>
          <p:cNvSpPr/>
          <p:nvPr/>
        </p:nvSpPr>
        <p:spPr>
          <a:xfrm>
            <a:off x="8509000" y="3987800"/>
            <a:ext cx="787400" cy="7874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43" name="core13-t"/>
          <p:cNvSpPr txBox="1"/>
          <p:nvPr/>
        </p:nvSpPr>
        <p:spPr>
          <a:xfrm>
            <a:off x="8509000" y="3987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C13</a:t>
            </a:r>
            <a:endParaRPr lang="en-US" sz="1600" noProof="1"/>
          </a:p>
          <a:p>
            <a:pPr algn="ctr">
              <a:lnSpc>
                <a:spcPct val="125000"/>
              </a:lnSpc>
            </a:pPr>
            <a:r>
              <a:rPr lang="en-US" sz="9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runner</a:t>
            </a:r>
            <a:endParaRPr lang="en-US" sz="1600" noProof="1"/>
          </a:p>
        </p:txBody>
      </p:sp>
      <p:sp>
        <p:nvSpPr>
          <p:cNvPr id="44" name="core14"/>
          <p:cNvSpPr/>
          <p:nvPr/>
        </p:nvSpPr>
        <p:spPr>
          <a:xfrm>
            <a:off x="9398000" y="3987800"/>
            <a:ext cx="787400" cy="7874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45" name="core14-t"/>
          <p:cNvSpPr txBox="1"/>
          <p:nvPr/>
        </p:nvSpPr>
        <p:spPr>
          <a:xfrm>
            <a:off x="9398000" y="3987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C14</a:t>
            </a:r>
            <a:endParaRPr lang="en-US" sz="1600" noProof="1"/>
          </a:p>
          <a:p>
            <a:pPr algn="ctr">
              <a:lnSpc>
                <a:spcPct val="125000"/>
              </a:lnSpc>
            </a:pPr>
            <a:r>
              <a:rPr lang="en-US" sz="9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串口 RX</a:t>
            </a:r>
            <a:endParaRPr lang="en-US" sz="1600" noProof="1"/>
          </a:p>
        </p:txBody>
      </p:sp>
      <p:sp>
        <p:nvSpPr>
          <p:cNvPr id="46" name="core15"/>
          <p:cNvSpPr/>
          <p:nvPr/>
        </p:nvSpPr>
        <p:spPr>
          <a:xfrm>
            <a:off x="10287000" y="3987800"/>
            <a:ext cx="787400" cy="7874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47" name="core15-t"/>
          <p:cNvSpPr txBox="1"/>
          <p:nvPr/>
        </p:nvSpPr>
        <p:spPr>
          <a:xfrm>
            <a:off x="10287000" y="3987800"/>
            <a:ext cx="787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C15</a:t>
            </a:r>
            <a:endParaRPr lang="en-US" sz="1600" noProof="1"/>
          </a:p>
          <a:p>
            <a:pPr algn="ctr">
              <a:lnSpc>
                <a:spcPct val="125000"/>
              </a:lnSpc>
            </a:pPr>
            <a:r>
              <a:rPr lang="en-US" sz="9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串口 TX</a:t>
            </a:r>
            <a:endParaRPr lang="en-US" sz="1600" noProof="1"/>
          </a:p>
        </p:txBody>
      </p:sp>
      <p:sp>
        <p:nvSpPr>
          <p:cNvPr id="48" name="legend"/>
          <p:cNvSpPr txBox="1"/>
          <p:nvPr/>
        </p:nvSpPr>
        <p:spPr>
          <a:xfrm>
            <a:off x="7620000" y="50038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■</a:t>
            </a:r>
            <a:r>
              <a:rPr lang="en-US" sz="10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 角色落点（示意）：C12 网卡 owner，C13 网卡 runner，C14 串口 RX copier，C15 串口 TX copier</a:t>
            </a:r>
            <a:endParaRPr lang="en-US" sz="1050" noProof="1"/>
          </a:p>
        </p:txBody>
      </p:sp>
      <p:sp>
        <p:nvSpPr>
          <p:cNvPr id="49" name="result"/>
          <p:cNvSpPr txBox="1"/>
          <p:nvPr/>
        </p:nvSpPr>
        <p:spPr>
          <a:xfrm>
            <a:off x="7620000" y="56642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5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结果：SMP=16 六组场景全过，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25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IPI 发送 = 接收</a:t>
            </a:r>
            <a:endParaRPr lang="en-US" sz="1600" noProof="1"/>
          </a:p>
        </p:txBody>
      </p:sp>
      <p:sp>
        <p:nvSpPr>
          <p:cNvPr id="50" name="footer-line"/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51" name="footer-left"/>
          <p:cNvSpPr txBox="1"/>
          <p:nvPr/>
        </p:nvSpPr>
        <p:spPr>
          <a:xfrm>
            <a:off x="6096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StarryOS 异步驱动开发 · 实习总结汇报</a:t>
            </a:r>
            <a:endParaRPr lang="en-US" sz="1000" noProof="1"/>
          </a:p>
        </p:txBody>
      </p:sp>
      <p:sp>
        <p:nvSpPr>
          <p:cNvPr id="52" name="footer-page"/>
          <p:cNvSpPr txBox="1"/>
          <p:nvPr/>
        </p:nvSpPr>
        <p:spPr>
          <a:xfrm>
            <a:off x="10160000" y="6502400"/>
            <a:ext cx="142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09 / 12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09 · 共存与推广 GENERALIZATION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842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两驱动共存已被验证，范式可推广到新设备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17600"/>
            <a:ext cx="457200" cy="381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5" name="co-bar"/>
          <p:cNvSpPr/>
          <p:nvPr/>
        </p:nvSpPr>
        <p:spPr>
          <a:xfrm>
            <a:off x="609600" y="1346200"/>
            <a:ext cx="50800" cy="10668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6" name="co-label"/>
          <p:cNvSpPr txBox="1"/>
          <p:nvPr/>
        </p:nvSpPr>
        <p:spPr>
          <a:xfrm>
            <a:off x="812800" y="1346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共存证据</a:t>
            </a:r>
            <a:endParaRPr lang="en-US" sz="1350" noProof="1"/>
          </a:p>
        </p:txBody>
      </p:sp>
      <p:sp>
        <p:nvSpPr>
          <p:cNvPr id="7" name="co-text"/>
          <p:cNvSpPr txBox="1"/>
          <p:nvPr/>
        </p:nvSpPr>
        <p:spPr>
          <a:xfrm>
            <a:off x="812800" y="16510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网卡开发与测试全程，串口一直承担控制台 I/O——SMP=16 的运行记录本身就是经串口打印的。两个驱动在同一内核中共存工作，互不干扰。</a:t>
            </a:r>
            <a:endParaRPr lang="en-US" sz="1250" noProof="1"/>
          </a:p>
        </p:txBody>
      </p:sp>
      <p:sp>
        <p:nvSpPr>
          <p:cNvPr id="8" name="paradigm-box"/>
          <p:cNvSpPr/>
          <p:nvPr/>
        </p:nvSpPr>
        <p:spPr>
          <a:xfrm>
            <a:off x="609600" y="2997200"/>
            <a:ext cx="3657600" cy="1270000"/>
          </a:xfrm>
          <a:prstGeom prst="rect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9" name="paradigm-t"/>
          <p:cNvSpPr txBox="1"/>
          <p:nvPr/>
        </p:nvSpPr>
        <p:spPr>
          <a:xfrm>
            <a:off x="609600" y="2997200"/>
            <a:ext cx="3657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统一开发范式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11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四段触发链 + 四条契约</a:t>
            </a:r>
            <a:endParaRPr lang="en-US" sz="1600" noProof="1"/>
          </a:p>
        </p:txBody>
      </p:sp>
      <p:sp>
        <p:nvSpPr>
          <p:cNvPr id="10" name="arrow-a"/>
          <p:cNvSpPr/>
          <p:nvPr/>
        </p:nvSpPr>
        <p:spPr>
          <a:xfrm>
            <a:off x="4267200" y="3035300"/>
            <a:ext cx="1473200" cy="596900"/>
          </a:xfrm>
          <a:custGeom>
            <a:avLst/>
            <a:gdLst/>
            <a:ahLst/>
            <a:cxnLst/>
            <a:rect l="l" t="t" r="r" b="b"/>
            <a:pathLst>
              <a:path w="116" h="47">
                <a:moveTo>
                  <a:pt x="0" y="47"/>
                </a:moveTo>
                <a:lnTo>
                  <a:pt x="116" y="0"/>
                </a:lnTo>
              </a:path>
            </a:pathLst>
          </a:custGeom>
          <a:noFill/>
          <a:ln w="19050">
            <a:solidFill>
              <a:srgbClr val="2F6FB4"/>
            </a:solidFill>
            <a:tailEnd type="stealth"/>
          </a:ln>
        </p:spPr>
      </p:sp>
      <p:sp>
        <p:nvSpPr>
          <p:cNvPr id="11" name="arrow-b"/>
          <p:cNvSpPr/>
          <p:nvPr/>
        </p:nvSpPr>
        <p:spPr>
          <a:xfrm>
            <a:off x="4267200" y="3619500"/>
            <a:ext cx="1473200" cy="25400"/>
          </a:xfrm>
          <a:custGeom>
            <a:avLst/>
            <a:gdLst/>
            <a:ahLst/>
            <a:cxnLst/>
            <a:rect l="l" t="t" r="r" b="b"/>
            <a:pathLst>
              <a:path w="116" h="2">
                <a:moveTo>
                  <a:pt x="0" y="1"/>
                </a:moveTo>
                <a:lnTo>
                  <a:pt x="116" y="1"/>
                </a:lnTo>
              </a:path>
            </a:pathLst>
          </a:custGeom>
          <a:noFill/>
          <a:ln w="19050">
            <a:solidFill>
              <a:srgbClr val="2F6FB4"/>
            </a:solidFill>
            <a:tailEnd type="stealth"/>
          </a:ln>
        </p:spPr>
      </p:sp>
      <p:sp>
        <p:nvSpPr>
          <p:cNvPr id="12" name="arrow-c"/>
          <p:cNvSpPr/>
          <p:nvPr/>
        </p:nvSpPr>
        <p:spPr>
          <a:xfrm>
            <a:off x="4267200" y="3632200"/>
            <a:ext cx="1473200" cy="571500"/>
          </a:xfrm>
          <a:custGeom>
            <a:avLst/>
            <a:gdLst/>
            <a:ahLst/>
            <a:cxnLst/>
            <a:rect l="l" t="t" r="r" b="b"/>
            <a:pathLst>
              <a:path w="116" h="45">
                <a:moveTo>
                  <a:pt x="0" y="0"/>
                </a:moveTo>
                <a:lnTo>
                  <a:pt x="116" y="45"/>
                </a:lnTo>
              </a:path>
            </a:pathLst>
          </a:custGeom>
          <a:noFill/>
          <a:ln w="19050">
            <a:solidFill>
              <a:srgbClr val="2F6FB4"/>
            </a:solidFill>
            <a:tailEnd type="stealth"/>
          </a:ln>
        </p:spPr>
      </p:sp>
      <p:sp>
        <p:nvSpPr>
          <p:cNvPr id="13" name="dev1"/>
          <p:cNvSpPr/>
          <p:nvPr/>
        </p:nvSpPr>
        <p:spPr>
          <a:xfrm>
            <a:off x="5842000" y="2819400"/>
            <a:ext cx="32004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B4"/>
            </a:solidFill>
          </a:ln>
        </p:spPr>
      </p:sp>
      <p:sp>
        <p:nvSpPr>
          <p:cNvPr id="14" name="dev1-t"/>
          <p:cNvSpPr txBox="1"/>
          <p:nvPr/>
        </p:nvSpPr>
        <p:spPr>
          <a:xfrm>
            <a:off x="5842000" y="2819400"/>
            <a:ext cx="3200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异步串口</a:t>
            </a:r>
            <a:r>
              <a:rPr lang="en-US" sz="11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　已落地</a:t>
            </a:r>
            <a:endParaRPr lang="en-US" sz="1600" noProof="1"/>
          </a:p>
        </p:txBody>
      </p:sp>
      <p:sp>
        <p:nvSpPr>
          <p:cNvPr id="15" name="dev2"/>
          <p:cNvSpPr/>
          <p:nvPr/>
        </p:nvSpPr>
        <p:spPr>
          <a:xfrm>
            <a:off x="5842000" y="3416300"/>
            <a:ext cx="32004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B4"/>
            </a:solidFill>
          </a:ln>
        </p:spPr>
      </p:sp>
      <p:sp>
        <p:nvSpPr>
          <p:cNvPr id="16" name="dev2-t"/>
          <p:cNvSpPr txBox="1"/>
          <p:nvPr/>
        </p:nvSpPr>
        <p:spPr>
          <a:xfrm>
            <a:off x="5842000" y="3416300"/>
            <a:ext cx="3200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异步网卡</a:t>
            </a:r>
            <a:r>
              <a:rPr lang="en-US" sz="11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　已落地</a:t>
            </a:r>
            <a:endParaRPr lang="en-US" sz="1600" noProof="1"/>
          </a:p>
        </p:txBody>
      </p:sp>
      <p:sp>
        <p:nvSpPr>
          <p:cNvPr id="17" name="dev3"/>
          <p:cNvSpPr/>
          <p:nvPr/>
        </p:nvSpPr>
        <p:spPr>
          <a:xfrm>
            <a:off x="5842000" y="4013200"/>
            <a:ext cx="32004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B4D6"/>
            </a:solidFill>
            <a:prstDash val="dash"/>
          </a:ln>
        </p:spPr>
      </p:sp>
      <p:sp>
        <p:nvSpPr>
          <p:cNvPr id="18" name="dev3-t"/>
          <p:cNvSpPr txBox="1"/>
          <p:nvPr/>
        </p:nvSpPr>
        <p:spPr>
          <a:xfrm>
            <a:off x="5842000" y="4013200"/>
            <a:ext cx="3200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新异步设备</a:t>
            </a:r>
            <a:r>
              <a:rPr lang="en-US" sz="1100" noProof="1">
                <a:solidFill>
                  <a:srgbClr val="8FB4D6"/>
                </a:solidFill>
                <a:latin typeface="MiSans" charset="-122"/>
                <a:ea typeface="MiSans" charset="-122"/>
              </a:rPr>
              <a:t>　数据层按设备设计</a:t>
            </a:r>
            <a:endParaRPr lang="en-US" sz="1600" noProof="1"/>
          </a:p>
        </p:txBody>
      </p:sp>
      <p:sp>
        <p:nvSpPr>
          <p:cNvPr id="21" name="promo-label"/>
          <p:cNvSpPr txBox="1"/>
          <p:nvPr/>
        </p:nvSpPr>
        <p:spPr>
          <a:xfrm>
            <a:off x="609600" y="50800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推广路径</a:t>
            </a:r>
            <a:endParaRPr lang="en-US" sz="1350" noProof="1"/>
          </a:p>
        </p:txBody>
      </p:sp>
      <p:sp>
        <p:nvSpPr>
          <p:cNvPr id="22" name="promo-text"/>
          <p:cNvSpPr txBox="1"/>
          <p:nvPr/>
        </p:nvSpPr>
        <p:spPr>
          <a:xfrm>
            <a:off x="609600" y="53848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新异步驱动照四段骨架写、守四条契约，数据结构层按设备设计——范式只管骨架，不管数据层。</a:t>
            </a:r>
            <a:endParaRPr lang="en-US" sz="1250" noProof="1"/>
          </a:p>
        </p:txBody>
      </p:sp>
      <p:sp>
        <p:nvSpPr>
          <p:cNvPr id="23" name="footer-line"/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24" name="footer-left"/>
          <p:cNvSpPr txBox="1"/>
          <p:nvPr/>
        </p:nvSpPr>
        <p:spPr>
          <a:xfrm>
            <a:off x="6096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StarryOS 异步驱动开发 · 实习总结汇报</a:t>
            </a:r>
            <a:endParaRPr lang="en-US" sz="1000" noProof="1"/>
          </a:p>
        </p:txBody>
      </p:sp>
      <p:sp>
        <p:nvSpPr>
          <p:cNvPr id="25" name="footer-page"/>
          <p:cNvSpPr txBox="1"/>
          <p:nvPr/>
        </p:nvSpPr>
        <p:spPr>
          <a:xfrm>
            <a:off x="10160000" y="6502400"/>
            <a:ext cx="142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11 / 12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2F6FB4"/>
                </a:solidFill>
                <a:latin typeface="MiSans" charset="-122"/>
                <a:ea typeface="MiSans" charset="-122"/>
              </a:rPr>
              <a:t>10 · 总结 SUMMARY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842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总结：</a:t>
            </a:r>
            <a:r>
              <a:rPr lang="zh-CN" alt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用一个范式去研究</a:t>
            </a:r>
            <a:r>
              <a:rPr lang="zh-CN" altLang="en-US" sz="2300" b="1" noProof="1">
                <a:solidFill>
                  <a:srgbClr val="1E2A36"/>
                </a:solidFill>
                <a:latin typeface="MiSans" charset="-122"/>
                <a:ea typeface="MiSans" charset="-122"/>
              </a:rPr>
              <a:t>两个驱动</a:t>
            </a:r>
            <a:endParaRPr lang="zh-CN" altLang="en-US" sz="2300" b="1" noProof="1">
              <a:solidFill>
                <a:srgbClr val="1E2A3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4" name="title-rule"/>
          <p:cNvSpPr/>
          <p:nvPr/>
        </p:nvSpPr>
        <p:spPr>
          <a:xfrm>
            <a:off x="609600" y="1117600"/>
            <a:ext cx="457200" cy="38100"/>
          </a:xfrm>
          <a:prstGeom prst="rect">
            <a:avLst/>
          </a:prstGeom>
          <a:solidFill>
            <a:srgbClr val="2F6FB4"/>
          </a:solidFill>
          <a:ln>
            <a:noFill/>
          </a:ln>
        </p:spPr>
      </p:sp>
      <p:sp>
        <p:nvSpPr>
          <p:cNvPr id="5" name="r1-line"/>
          <p:cNvSpPr/>
          <p:nvPr/>
        </p:nvSpPr>
        <p:spPr>
          <a:xfrm>
            <a:off x="609600" y="15240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6" name="r1-label"/>
          <p:cNvSpPr txBox="1"/>
          <p:nvPr/>
        </p:nvSpPr>
        <p:spPr>
          <a:xfrm>
            <a:off x="609600" y="1854200"/>
            <a:ext cx="1397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成果</a:t>
            </a:r>
            <a:endParaRPr lang="en-US" sz="1800" noProof="1"/>
          </a:p>
        </p:txBody>
      </p:sp>
      <p:sp>
        <p:nvSpPr>
          <p:cNvPr id="7" name="r1-t"/>
          <p:cNvSpPr txBox="1"/>
          <p:nvPr/>
        </p:nvSpPr>
        <p:spPr>
          <a:xfrm>
            <a:off x="2286000" y="1752600"/>
            <a:ext cx="92964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6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串口</a:t>
            </a:r>
            <a:r>
              <a:rPr lang="zh-CN" altLang="en-US" sz="16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和</a:t>
            </a:r>
            <a:r>
              <a:rPr lang="en-US" sz="16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网卡正常工作，</a:t>
            </a:r>
            <a:r>
              <a:rPr lang="zh-CN" altLang="en-US" sz="16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都有</a:t>
            </a:r>
            <a:r>
              <a:rPr lang="en-US" sz="16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结论有</a:t>
            </a:r>
            <a:r>
              <a:rPr lang="zh-CN" altLang="en-US" sz="16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证据支撑</a:t>
            </a:r>
            <a:endParaRPr lang="zh-CN" altLang="en-US" sz="1600" noProof="1">
              <a:solidFill>
                <a:srgbClr val="1E2A3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8" name="r2-line"/>
          <p:cNvSpPr/>
          <p:nvPr/>
        </p:nvSpPr>
        <p:spPr>
          <a:xfrm>
            <a:off x="609600" y="31750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9" name="r2-label"/>
          <p:cNvSpPr txBox="1"/>
          <p:nvPr/>
        </p:nvSpPr>
        <p:spPr>
          <a:xfrm>
            <a:off x="609600" y="3505200"/>
            <a:ext cx="1397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方法</a:t>
            </a:r>
            <a:endParaRPr lang="en-US" sz="1800" noProof="1"/>
          </a:p>
        </p:txBody>
      </p:sp>
      <p:sp>
        <p:nvSpPr>
          <p:cNvPr id="10" name="r2-t"/>
          <p:cNvSpPr txBox="1"/>
          <p:nvPr/>
        </p:nvSpPr>
        <p:spPr>
          <a:xfrm>
            <a:off x="2286000" y="3403600"/>
            <a:ext cx="92964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6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两个驱动沉淀出一套统一开发范式</a:t>
            </a:r>
            <a:endParaRPr lang="en-US" sz="1600" noProof="1"/>
          </a:p>
        </p:txBody>
      </p:sp>
      <p:sp>
        <p:nvSpPr>
          <p:cNvPr id="11" name="r3-line"/>
          <p:cNvSpPr/>
          <p:nvPr/>
        </p:nvSpPr>
        <p:spPr>
          <a:xfrm>
            <a:off x="609600" y="48260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12" name="r3-label"/>
          <p:cNvSpPr txBox="1"/>
          <p:nvPr/>
        </p:nvSpPr>
        <p:spPr>
          <a:xfrm>
            <a:off x="609600" y="5156200"/>
            <a:ext cx="1397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F6FB4"/>
                </a:solidFill>
                <a:latin typeface="MiSans" charset="-122"/>
                <a:ea typeface="MiSans" charset="-122"/>
              </a:rPr>
              <a:t>后续</a:t>
            </a:r>
            <a:endParaRPr lang="en-US" sz="1800" noProof="1"/>
          </a:p>
        </p:txBody>
      </p:sp>
      <p:sp>
        <p:nvSpPr>
          <p:cNvPr id="13" name="r3-t"/>
          <p:cNvSpPr txBox="1"/>
          <p:nvPr/>
        </p:nvSpPr>
        <p:spPr>
          <a:xfrm>
            <a:off x="2286000" y="5054600"/>
            <a:ext cx="92964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6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K3 真板</a:t>
            </a:r>
            <a:r>
              <a:rPr lang="zh-CN" altLang="en-US" sz="1600" noProof="1">
                <a:solidFill>
                  <a:srgbClr val="1E2A36"/>
                </a:solidFill>
                <a:latin typeface="MiSans" charset="-122"/>
                <a:ea typeface="MiSans" charset="-122"/>
              </a:rPr>
              <a:t>验证，后续还只能看后续的，正在努力中</a:t>
            </a:r>
            <a:endParaRPr lang="zh-CN" altLang="en-US" sz="1600" noProof="1">
              <a:solidFill>
                <a:srgbClr val="1E2A3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4" name="footer-line"/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DCE7F0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6096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StarryOS 异步驱动开发 · 实习总结汇报</a:t>
            </a:r>
            <a:endParaRPr lang="en-US" sz="1000" noProof="1"/>
          </a:p>
        </p:txBody>
      </p:sp>
      <p:sp>
        <p:nvSpPr>
          <p:cNvPr id="16" name="footer-page"/>
          <p:cNvSpPr txBox="1"/>
          <p:nvPr/>
        </p:nvSpPr>
        <p:spPr>
          <a:xfrm>
            <a:off x="10160000" y="6502400"/>
            <a:ext cx="142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F6E7C"/>
                </a:solidFill>
                <a:latin typeface="MiSans" charset="-122"/>
                <a:ea typeface="MiSans" charset="-122"/>
              </a:rPr>
              <a:t>12 / 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4685" y="336550"/>
            <a:ext cx="6363970" cy="61842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9cbc2806-0ac8-4758-bde4-674a0f6b66df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3353</Words>
  <Application>WPS 演示</Application>
  <PresentationFormat/>
  <Paragraphs>433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MiSans</vt:lpstr>
      <vt:lpstr>Times New Roman</vt:lpstr>
      <vt:lpstr>微软雅黑</vt:lpstr>
      <vt:lpstr>Arial Unicode MS</vt:lpstr>
      <vt:lpstr>Calibri</vt:lpstr>
      <vt:lpstr>PPTD</vt:lpstr>
      <vt:lpstr>1_PPTD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实习总结汇报 · StarryOS 异步驱动开发</dc:title>
  <dc:creator/>
  <cp:lastModifiedBy>函数让人死亡</cp:lastModifiedBy>
  <cp:revision>4</cp:revision>
  <dcterms:created xsi:type="dcterms:W3CDTF">2026-10-02T04:50:27Z</dcterms:created>
  <dcterms:modified xsi:type="dcterms:W3CDTF">2026-10-02T05:05:07Z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2052-11.1.0.10009</vt:lpwstr>
  </property>
</Properties>
</file>
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339" r:id="rId3"/>
    <p:sldId id="329" r:id="rId5"/>
    <p:sldId id="361" r:id="rId6"/>
    <p:sldId id="354" r:id="rId7"/>
    <p:sldId id="380" r:id="rId8"/>
    <p:sldId id="381" r:id="rId9"/>
    <p:sldId id="382" r:id="rId10"/>
    <p:sldId id="383" r:id="rId11"/>
    <p:sldId id="367" r:id="rId12"/>
    <p:sldId id="368" r:id="rId13"/>
    <p:sldId id="369" r:id="rId14"/>
    <p:sldId id="370" r:id="rId15"/>
    <p:sldId id="372" r:id="rId16"/>
    <p:sldId id="373" r:id="rId17"/>
    <p:sldId id="374" r:id="rId18"/>
    <p:sldId id="375" r:id="rId19"/>
    <p:sldId id="376" r:id="rId20"/>
    <p:sldId id="377" r:id="rId21"/>
    <p:sldId id="365" r:id="rId22"/>
    <p:sldId id="366" r:id="rId23"/>
    <p:sldId id="351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64FC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6" d="100"/>
          <a:sy n="16" d="100"/>
        </p:scale>
        <p:origin x="29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70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558AF1-0EC6-4D1C-8E90-C05FEAF92E8D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DC6E1F64-28AC-4FBA-BF71-E4FE67A82554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>
              <a:solidFill>
                <a:srgbClr val="4864FC"/>
              </a:solidFill>
            </a:rPr>
            <a:t>校外企业实习</a:t>
          </a:r>
          <a:r>
            <a:rPr lang="zh-CN" altLang="en-US" sz="2800" b="1">
              <a:solidFill>
                <a:srgbClr val="4864FC"/>
              </a:solidFill>
            </a:rPr>
            <a:t/>
          </a:r>
          <a:endParaRPr lang="zh-CN" altLang="en-US" sz="2800" b="1">
            <a:solidFill>
              <a:srgbClr val="4864FC"/>
            </a:solidFill>
          </a:endParaRPr>
        </a:p>
      </dgm:t>
    </dgm:pt>
    <dgm:pt modelId="{DE25C55C-752C-4362-BF61-CB44F864000F}" cxnId="{60ED8A57-6BD3-4A4C-A1B9-43824B5AB71D}" type="parTrans">
      <dgm:prSet/>
      <dgm:spPr/>
      <dgm:t>
        <a:bodyPr/>
        <a:p>
          <a:endParaRPr lang="zh-CN" altLang="en-US"/>
        </a:p>
      </dgm:t>
    </dgm:pt>
    <dgm:pt modelId="{0DED925F-D899-478B-8059-E861EF746843}" cxnId="{60ED8A57-6BD3-4A4C-A1B9-43824B5AB71D}" type="sibTrans">
      <dgm:prSet/>
      <dgm:spPr/>
      <dgm:t>
        <a:bodyPr/>
        <a:p>
          <a:endParaRPr lang="zh-CN" altLang="en-US"/>
        </a:p>
      </dgm:t>
    </dgm:pt>
    <dgm:pt modelId="{50100B2D-FD03-4254-BB61-EB17139864F2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通过</a:t>
          </a:r>
          <a:r>
            <a:rPr lang="zh-CN" altLang="en-US" sz="2000" b="1">
              <a:solidFill>
                <a:srgbClr val="FF0000"/>
              </a:solidFill>
            </a:rPr>
            <a:t>校企合作基地或社会公开招聘</a:t>
          </a:r>
          <a:r>
            <a:rPr lang="zh-CN" altLang="en-US" sz="1800"/>
            <a:t>渠道，获取实习机会。</a:t>
          </a:r>
          <a:r>
            <a:rPr lang="zh-CN" altLang="en-US" sz="1800"/>
            <a:t/>
          </a:r>
          <a:endParaRPr lang="zh-CN" altLang="en-US" sz="1800"/>
        </a:p>
      </dgm:t>
    </dgm:pt>
    <dgm:pt modelId="{8504DA07-4D85-4E24-8B6B-CA57A43435EF}" cxnId="{9C9FBA75-7779-4FCE-850C-51F521059DC4}" type="parTrans">
      <dgm:prSet/>
      <dgm:spPr/>
      <dgm:t>
        <a:bodyPr/>
        <a:p>
          <a:endParaRPr lang="zh-CN" altLang="en-US"/>
        </a:p>
      </dgm:t>
    </dgm:pt>
    <dgm:pt modelId="{ECEAA7F9-203F-407C-A7DF-76C9E1ECD158}" cxnId="{9C9FBA75-7779-4FCE-850C-51F521059DC4}" type="sibTrans">
      <dgm:prSet/>
      <dgm:spPr/>
      <dgm:t>
        <a:bodyPr/>
        <a:p>
          <a:endParaRPr lang="zh-CN" altLang="en-US"/>
        </a:p>
      </dgm:t>
    </dgm:pt>
    <dgm:pt modelId="{91257B91-677F-4091-86A9-DA2E1F096A5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>
              <a:sym typeface="+mn-ea"/>
            </a:rPr>
            <a:t>本</a:t>
          </a:r>
          <a:r>
            <a:rPr lang="zh-CN" altLang="en-US" sz="1800">
              <a:sym typeface="+mn-ea"/>
            </a:rPr>
            <a:t>学期有其他课程，实习与课程修读冲突，不允许前往。</a:t>
          </a:r>
          <a:r>
            <a:rPr lang="zh-CN" altLang="en-US" sz="1800">
              <a:sym typeface="+mn-ea"/>
            </a:rPr>
            <a:t/>
          </a:r>
          <a:endParaRPr lang="zh-CN" altLang="en-US" sz="1800">
            <a:sym typeface="+mn-ea"/>
          </a:endParaRPr>
        </a:p>
      </dgm:t>
    </dgm:pt>
    <dgm:pt modelId="{185DE02B-F7F9-42DD-B0D2-49A497F29579}" cxnId="{BD9118A7-DBCB-48EF-9272-C3D2E250D97B}" type="parTrans">
      <dgm:prSet/>
      <dgm:spPr/>
      <dgm:t>
        <a:bodyPr/>
        <a:p>
          <a:endParaRPr lang="zh-CN" altLang="en-US"/>
        </a:p>
      </dgm:t>
    </dgm:pt>
    <dgm:pt modelId="{BAAC09E0-365B-4A44-B632-9E71760EE119}" cxnId="{BD9118A7-DBCB-48EF-9272-C3D2E250D97B}" type="sibTrans">
      <dgm:prSet/>
      <dgm:spPr/>
      <dgm:t>
        <a:bodyPr/>
        <a:p>
          <a:endParaRPr lang="zh-CN" altLang="en-US"/>
        </a:p>
      </dgm:t>
    </dgm:pt>
    <dgm:pt modelId="{E3A00837-F571-4D38-9C2F-AADCCC20CEE6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>
              <a:sym typeface="+mn-ea"/>
            </a:rPr>
            <a:t>所</a:t>
          </a:r>
          <a:r>
            <a:rPr lang="zh-CN" altLang="en-US" sz="1800">
              <a:sym typeface="+mn-ea"/>
            </a:rPr>
            <a:t>申请实习单位岗位与专业能力培养要求不相符的、工作任务不明确的，不允许前往。</a:t>
          </a:r>
          <a:endParaRPr lang="zh-CN" altLang="en-US" sz="1800">
            <a:sym typeface="+mn-ea"/>
          </a:endParaRPr>
        </a:p>
      </dgm:t>
    </dgm:pt>
    <dgm:pt modelId="{949C179C-450D-4F83-A8E0-E59CE7B5E2CF}" cxnId="{D026D39C-E67A-49C4-A678-C611F4D3F72D}" type="parTrans">
      <dgm:prSet/>
      <dgm:spPr/>
      <dgm:t>
        <a:bodyPr/>
        <a:p>
          <a:endParaRPr lang="zh-CN" altLang="en-US"/>
        </a:p>
      </dgm:t>
    </dgm:pt>
    <dgm:pt modelId="{65425625-C236-4778-9377-8CE5BCFEC5DC}" cxnId="{D026D39C-E67A-49C4-A678-C611F4D3F72D}" type="sibTrans">
      <dgm:prSet/>
      <dgm:spPr/>
      <dgm:t>
        <a:bodyPr/>
        <a:p>
          <a:endParaRPr lang="zh-CN" altLang="en-US"/>
        </a:p>
      </dgm:t>
    </dgm:pt>
    <dgm:pt modelId="{AB71FD9A-F73D-4B51-B3E7-DE053418F91A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>
              <a:solidFill>
                <a:srgbClr val="4864FC"/>
              </a:solidFill>
            </a:rPr>
            <a:t>科学研究实践</a:t>
          </a:r>
          <a:r>
            <a:rPr lang="zh-CN" altLang="en-US" sz="2800" b="1">
              <a:solidFill>
                <a:srgbClr val="4864FC"/>
              </a:solidFill>
            </a:rPr>
            <a:t/>
          </a:r>
          <a:endParaRPr lang="zh-CN" altLang="en-US" sz="2800" b="1">
            <a:solidFill>
              <a:srgbClr val="4864FC"/>
            </a:solidFill>
          </a:endParaRPr>
        </a:p>
      </dgm:t>
    </dgm:pt>
    <dgm:pt modelId="{49832EFD-2DF4-4658-B3AB-26D15C75B3EF}" cxnId="{0DA5D10F-5E8A-49DC-B227-21F3771166AA}" type="parTrans">
      <dgm:prSet/>
      <dgm:spPr/>
      <dgm:t>
        <a:bodyPr/>
        <a:p>
          <a:endParaRPr lang="zh-CN" altLang="en-US"/>
        </a:p>
      </dgm:t>
    </dgm:pt>
    <dgm:pt modelId="{779C825E-56F5-4ECD-9642-4749E96E4A44}" cxnId="{0DA5D10F-5E8A-49DC-B227-21F3771166AA}" type="sibTrans">
      <dgm:prSet/>
      <dgm:spPr/>
      <dgm:t>
        <a:bodyPr/>
        <a:p>
          <a:endParaRPr lang="zh-CN" altLang="en-US"/>
        </a:p>
      </dgm:t>
    </dgm:pt>
    <dgm:pt modelId="{C84205E0-9980-447F-B9E7-472B808E5842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强调</a:t>
          </a:r>
          <a:r>
            <a:rPr lang="zh-CN" altLang="en-US" sz="1800"/>
            <a:t>学术探索与创新能力的培养</a:t>
          </a:r>
          <a:r>
            <a:rPr lang="zh-CN" altLang="en-US" sz="1800"/>
            <a:t/>
          </a:r>
          <a:endParaRPr lang="zh-CN" altLang="en-US" sz="1800"/>
        </a:p>
      </dgm:t>
    </dgm:pt>
    <dgm:pt modelId="{4530E0F5-C47F-4C11-8926-3025DF970690}" cxnId="{87CD3636-D03E-4554-88AC-907565177C15}" type="parTrans">
      <dgm:prSet/>
      <dgm:spPr/>
      <dgm:t>
        <a:bodyPr/>
        <a:p>
          <a:endParaRPr lang="zh-CN" altLang="en-US"/>
        </a:p>
      </dgm:t>
    </dgm:pt>
    <dgm:pt modelId="{2215A685-DDA7-40C3-8A3D-C3B272248D38}" cxnId="{87CD3636-D03E-4554-88AC-907565177C15}" type="sibTrans">
      <dgm:prSet/>
      <dgm:spPr/>
      <dgm:t>
        <a:bodyPr/>
        <a:p>
          <a:endParaRPr lang="zh-CN" altLang="en-US"/>
        </a:p>
      </dgm:t>
    </dgm:pt>
    <dgm:pt modelId="{0656BC49-1812-45CB-9879-F3A4E116D8B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前三学年的学分加权平均分成绩中排名全级前40%</a:t>
          </a:r>
          <a:r>
            <a:rPr lang="zh-CN" altLang="en-US" sz="1800"/>
            <a:t/>
          </a:r>
          <a:endParaRPr lang="zh-CN" altLang="en-US" sz="1800"/>
        </a:p>
      </dgm:t>
    </dgm:pt>
    <dgm:pt modelId="{43CD9DDC-F958-4452-9962-D96CCEC3043C}" cxnId="{EBB6958A-650A-4245-A6EA-ABE77C942D4F}" type="parTrans">
      <dgm:prSet/>
      <dgm:spPr/>
      <dgm:t>
        <a:bodyPr/>
        <a:p>
          <a:endParaRPr lang="zh-CN" altLang="en-US"/>
        </a:p>
      </dgm:t>
    </dgm:pt>
    <dgm:pt modelId="{31D559F3-6381-4735-8105-C3F03E1FC28B}" cxnId="{EBB6958A-650A-4245-A6EA-ABE77C942D4F}" type="sibTrans">
      <dgm:prSet/>
      <dgm:spPr/>
      <dgm:t>
        <a:bodyPr/>
        <a:p>
          <a:endParaRPr lang="zh-CN" altLang="en-US"/>
        </a:p>
      </dgm:t>
    </dgm:pt>
    <dgm:pt modelId="{62FAB6A1-32F4-44EE-91C5-2B44CFE49F6D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未能达成双选的学生需重新选择其他实习形式</a:t>
          </a:r>
          <a:r>
            <a:rPr lang="zh-CN" altLang="en-US" sz="1800"/>
            <a:t/>
          </a:r>
          <a:endParaRPr lang="zh-CN" altLang="en-US" sz="1800"/>
        </a:p>
      </dgm:t>
    </dgm:pt>
    <dgm:pt modelId="{0E23654A-99ED-48BC-89E9-B69D23085986}" cxnId="{A3AACD8D-4678-4674-A006-080EF545DF48}" type="parTrans">
      <dgm:prSet/>
      <dgm:spPr/>
      <dgm:t>
        <a:bodyPr/>
        <a:p>
          <a:endParaRPr lang="zh-CN" altLang="en-US"/>
        </a:p>
      </dgm:t>
    </dgm:pt>
    <dgm:pt modelId="{8D041C43-7240-41D0-A545-09E75E1A6F0C}" cxnId="{A3AACD8D-4678-4674-A006-080EF545DF48}" type="sibTrans">
      <dgm:prSet/>
      <dgm:spPr/>
      <dgm:t>
        <a:bodyPr/>
        <a:p>
          <a:endParaRPr lang="zh-CN" altLang="en-US"/>
        </a:p>
      </dgm:t>
    </dgm:pt>
    <dgm:pt modelId="{E8B683B4-CC9A-4EAF-8AD1-8E9040E4B842}" type="pres">
      <dgm:prSet presAssocID="{35558AF1-0EC6-4D1C-8E90-C05FEAF92E8D}" presName="layout" presStyleCnt="0">
        <dgm:presLayoutVars>
          <dgm:chMax/>
          <dgm:chPref/>
          <dgm:dir/>
          <dgm:resizeHandles/>
        </dgm:presLayoutVars>
      </dgm:prSet>
      <dgm:spPr/>
    </dgm:pt>
    <dgm:pt modelId="{AABB63BC-F73A-4675-BF75-863390199BDA}" type="pres">
      <dgm:prSet presAssocID="{DC6E1F64-28AC-4FBA-BF71-E4FE67A82554}" presName="root" presStyleCnt="0">
        <dgm:presLayoutVars>
          <dgm:chMax/>
          <dgm:chPref/>
        </dgm:presLayoutVars>
      </dgm:prSet>
      <dgm:spPr/>
    </dgm:pt>
    <dgm:pt modelId="{E7B329B0-EF90-424C-B358-35857FB7AF7B}" type="pres">
      <dgm:prSet presAssocID="{DC6E1F64-28AC-4FBA-BF71-E4FE67A82554}" presName="rootComposite" presStyleCnt="0">
        <dgm:presLayoutVars/>
      </dgm:prSet>
      <dgm:spPr/>
    </dgm:pt>
    <dgm:pt modelId="{B238326A-CFE6-4521-930F-E91E4BFCC0A1}" type="pres">
      <dgm:prSet presAssocID="{DC6E1F64-28AC-4FBA-BF71-E4FE67A82554}" presName="ParentAccent" presStyleLbl="alignNode1" presStyleIdx="0" presStyleCnt="2"/>
      <dgm:spPr/>
    </dgm:pt>
    <dgm:pt modelId="{64FEA07D-D576-4DAA-B4E9-022B3756F7BB}" type="pres">
      <dgm:prSet presAssocID="{DC6E1F64-28AC-4FBA-BF71-E4FE67A82554}" presName="ParentSmallAccent" presStyleLbl="fgAcc1" presStyleIdx="0" presStyleCnt="2"/>
      <dgm:spPr/>
    </dgm:pt>
    <dgm:pt modelId="{E2515008-CBA9-4AF7-A24C-6922EA5D96FB}" type="pres">
      <dgm:prSet presAssocID="{DC6E1F64-28AC-4FBA-BF71-E4FE67A82554}" presName="Parent" presStyleLbl="revTx" presStyleIdx="0" presStyleCnt="8">
        <dgm:presLayoutVars>
          <dgm:chMax/>
          <dgm:chPref val="4"/>
          <dgm:bulletEnabled val="1"/>
        </dgm:presLayoutVars>
      </dgm:prSet>
      <dgm:spPr/>
    </dgm:pt>
    <dgm:pt modelId="{78B66652-052E-403E-9CC2-018F13CD2741}" type="pres">
      <dgm:prSet presAssocID="{DC6E1F64-28AC-4FBA-BF71-E4FE67A82554}" presName="childShape" presStyleCnt="0">
        <dgm:presLayoutVars>
          <dgm:chMax val="0"/>
          <dgm:chPref val="0"/>
        </dgm:presLayoutVars>
      </dgm:prSet>
      <dgm:spPr/>
    </dgm:pt>
    <dgm:pt modelId="{B523B4DF-04A5-4C3F-8739-9FBD04515E87}" type="pres">
      <dgm:prSet presAssocID="{50100B2D-FD03-4254-BB61-EB17139864F2}" presName="childComposite" presStyleCnt="0">
        <dgm:presLayoutVars>
          <dgm:chMax val="0"/>
          <dgm:chPref val="0"/>
        </dgm:presLayoutVars>
      </dgm:prSet>
      <dgm:spPr/>
    </dgm:pt>
    <dgm:pt modelId="{AD84E9CD-AD92-4902-A1EF-4DCCBE5FAD33}" type="pres">
      <dgm:prSet presAssocID="{50100B2D-FD03-4254-BB61-EB17139864F2}" presName="ChildAccent" presStyleLbl="solidFgAcc1" presStyleIdx="0" presStyleCnt="6"/>
      <dgm:spPr/>
    </dgm:pt>
    <dgm:pt modelId="{9AA504EC-521E-4CA2-A0F6-4F147FF601DE}" type="pres">
      <dgm:prSet presAssocID="{50100B2D-FD03-4254-BB61-EB17139864F2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9C8524DD-DA69-4234-B276-26C557022C5B}" type="pres">
      <dgm:prSet presAssocID="{91257B91-677F-4091-86A9-DA2E1F096A57}" presName="childComposite" presStyleCnt="0">
        <dgm:presLayoutVars>
          <dgm:chMax val="0"/>
          <dgm:chPref val="0"/>
        </dgm:presLayoutVars>
      </dgm:prSet>
      <dgm:spPr/>
    </dgm:pt>
    <dgm:pt modelId="{9309CEC0-599A-42DF-8AF7-247C32AB562F}" type="pres">
      <dgm:prSet presAssocID="{91257B91-677F-4091-86A9-DA2E1F096A57}" presName="ChildAccent" presStyleLbl="solidFgAcc1" presStyleIdx="1" presStyleCnt="6"/>
      <dgm:spPr/>
    </dgm:pt>
    <dgm:pt modelId="{8C7EE341-F956-4B32-9FDC-51A19A54C5B7}" type="pres">
      <dgm:prSet presAssocID="{91257B91-677F-4091-86A9-DA2E1F096A57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C8092317-E3FC-4026-987E-59FEB87E7BB5}" type="pres">
      <dgm:prSet presAssocID="{E3A00837-F571-4D38-9C2F-AADCCC20CEE6}" presName="childComposite" presStyleCnt="0">
        <dgm:presLayoutVars>
          <dgm:chMax val="0"/>
          <dgm:chPref val="0"/>
        </dgm:presLayoutVars>
      </dgm:prSet>
      <dgm:spPr/>
    </dgm:pt>
    <dgm:pt modelId="{2B4660B8-0D83-4BA4-952F-B3839E7AA1BD}" type="pres">
      <dgm:prSet presAssocID="{E3A00837-F571-4D38-9C2F-AADCCC20CEE6}" presName="ChildAccent" presStyleLbl="solidFgAcc1" presStyleIdx="2" presStyleCnt="6"/>
      <dgm:spPr/>
    </dgm:pt>
    <dgm:pt modelId="{98864C97-3AF5-4B97-89C2-E64316F053C6}" type="pres">
      <dgm:prSet presAssocID="{E3A00837-F571-4D38-9C2F-AADCCC20CEE6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FFC1A045-8AB1-4DC0-A80E-EBD7CAFE66CE}" type="pres">
      <dgm:prSet presAssocID="{AB71FD9A-F73D-4B51-B3E7-DE053418F91A}" presName="root" presStyleCnt="0">
        <dgm:presLayoutVars>
          <dgm:chMax/>
          <dgm:chPref/>
        </dgm:presLayoutVars>
      </dgm:prSet>
      <dgm:spPr/>
    </dgm:pt>
    <dgm:pt modelId="{F8D12FC8-36F1-4B14-A8D0-B41534B6D825}" type="pres">
      <dgm:prSet presAssocID="{AB71FD9A-F73D-4B51-B3E7-DE053418F91A}" presName="rootComposite" presStyleCnt="0">
        <dgm:presLayoutVars/>
      </dgm:prSet>
      <dgm:spPr/>
    </dgm:pt>
    <dgm:pt modelId="{4883A32C-FB6D-4470-834B-A0D0B519B6E8}" type="pres">
      <dgm:prSet presAssocID="{AB71FD9A-F73D-4B51-B3E7-DE053418F91A}" presName="ParentAccent" presStyleLbl="alignNode1" presStyleIdx="1" presStyleCnt="2"/>
      <dgm:spPr/>
    </dgm:pt>
    <dgm:pt modelId="{16272331-F376-4F78-9E72-6620FFE1EEC3}" type="pres">
      <dgm:prSet presAssocID="{AB71FD9A-F73D-4B51-B3E7-DE053418F91A}" presName="ParentSmallAccent" presStyleLbl="fgAcc1" presStyleIdx="1" presStyleCnt="2"/>
      <dgm:spPr/>
    </dgm:pt>
    <dgm:pt modelId="{D42EB80D-978D-4E33-A14B-3612F1F0EC16}" type="pres">
      <dgm:prSet presAssocID="{AB71FD9A-F73D-4B51-B3E7-DE053418F91A}" presName="Parent" presStyleLbl="revTx" presStyleIdx="4" presStyleCnt="8">
        <dgm:presLayoutVars>
          <dgm:chMax/>
          <dgm:chPref val="4"/>
          <dgm:bulletEnabled val="1"/>
        </dgm:presLayoutVars>
      </dgm:prSet>
      <dgm:spPr/>
    </dgm:pt>
    <dgm:pt modelId="{578214DC-1BB7-4BA1-A6D6-E846C9C25F6B}" type="pres">
      <dgm:prSet presAssocID="{AB71FD9A-F73D-4B51-B3E7-DE053418F91A}" presName="childShape" presStyleCnt="0">
        <dgm:presLayoutVars>
          <dgm:chMax val="0"/>
          <dgm:chPref val="0"/>
        </dgm:presLayoutVars>
      </dgm:prSet>
      <dgm:spPr/>
    </dgm:pt>
    <dgm:pt modelId="{10DED540-3595-43ED-9E4B-5934EBBE357C}" type="pres">
      <dgm:prSet presAssocID="{C84205E0-9980-447F-B9E7-472B808E5842}" presName="childComposite" presStyleCnt="0">
        <dgm:presLayoutVars>
          <dgm:chMax val="0"/>
          <dgm:chPref val="0"/>
        </dgm:presLayoutVars>
      </dgm:prSet>
      <dgm:spPr/>
    </dgm:pt>
    <dgm:pt modelId="{6B4C860A-DBDB-4F25-AEE7-078D55D197F8}" type="pres">
      <dgm:prSet presAssocID="{C84205E0-9980-447F-B9E7-472B808E5842}" presName="ChildAccent" presStyleLbl="solidFgAcc1" presStyleIdx="3" presStyleCnt="6"/>
      <dgm:spPr/>
    </dgm:pt>
    <dgm:pt modelId="{54539F7E-C594-4A33-A548-FC053A5E74C0}" type="pres">
      <dgm:prSet presAssocID="{C84205E0-9980-447F-B9E7-472B808E5842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3015F0F5-1EFB-46C8-9A7D-A0E002016A95}" type="pres">
      <dgm:prSet presAssocID="{0656BC49-1812-45CB-9879-F3A4E116D8B7}" presName="childComposite" presStyleCnt="0">
        <dgm:presLayoutVars>
          <dgm:chMax val="0"/>
          <dgm:chPref val="0"/>
        </dgm:presLayoutVars>
      </dgm:prSet>
      <dgm:spPr/>
    </dgm:pt>
    <dgm:pt modelId="{E2D49713-C487-4217-897C-F1AC5452D8AE}" type="pres">
      <dgm:prSet presAssocID="{0656BC49-1812-45CB-9879-F3A4E116D8B7}" presName="ChildAccent" presStyleLbl="solidFgAcc1" presStyleIdx="4" presStyleCnt="6"/>
      <dgm:spPr/>
    </dgm:pt>
    <dgm:pt modelId="{C8B4A2BD-9153-4BF1-97C2-56D067BD9B4D}" type="pres">
      <dgm:prSet presAssocID="{0656BC49-1812-45CB-9879-F3A4E116D8B7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46A112DC-C0E7-4B5E-93B2-6829EBAB00C7}" type="pres">
      <dgm:prSet presAssocID="{62FAB6A1-32F4-44EE-91C5-2B44CFE49F6D}" presName="childComposite" presStyleCnt="0">
        <dgm:presLayoutVars>
          <dgm:chMax val="0"/>
          <dgm:chPref val="0"/>
        </dgm:presLayoutVars>
      </dgm:prSet>
      <dgm:spPr/>
    </dgm:pt>
    <dgm:pt modelId="{86D5968F-5D14-425C-BC01-D9BACC060D2B}" type="pres">
      <dgm:prSet presAssocID="{62FAB6A1-32F4-44EE-91C5-2B44CFE49F6D}" presName="ChildAccent" presStyleLbl="solidFgAcc1" presStyleIdx="5" presStyleCnt="6"/>
      <dgm:spPr/>
    </dgm:pt>
    <dgm:pt modelId="{43EAE0DB-A52C-41DB-8B6A-88727B61E0E2}" type="pres">
      <dgm:prSet presAssocID="{62FAB6A1-32F4-44EE-91C5-2B44CFE49F6D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60ED8A57-6BD3-4A4C-A1B9-43824B5AB71D}" srcId="{35558AF1-0EC6-4D1C-8E90-C05FEAF92E8D}" destId="{DC6E1F64-28AC-4FBA-BF71-E4FE67A82554}" srcOrd="0" destOrd="0" parTransId="{DE25C55C-752C-4362-BF61-CB44F864000F}" sibTransId="{0DED925F-D899-478B-8059-E861EF746843}"/>
    <dgm:cxn modelId="{9C9FBA75-7779-4FCE-850C-51F521059DC4}" srcId="{DC6E1F64-28AC-4FBA-BF71-E4FE67A82554}" destId="{50100B2D-FD03-4254-BB61-EB17139864F2}" srcOrd="0" destOrd="0" parTransId="{8504DA07-4D85-4E24-8B6B-CA57A43435EF}" sibTransId="{ECEAA7F9-203F-407C-A7DF-76C9E1ECD158}"/>
    <dgm:cxn modelId="{BD9118A7-DBCB-48EF-9272-C3D2E250D97B}" srcId="{DC6E1F64-28AC-4FBA-BF71-E4FE67A82554}" destId="{91257B91-677F-4091-86A9-DA2E1F096A57}" srcOrd="1" destOrd="0" parTransId="{185DE02B-F7F9-42DD-B0D2-49A497F29579}" sibTransId="{BAAC09E0-365B-4A44-B632-9E71760EE119}"/>
    <dgm:cxn modelId="{D026D39C-E67A-49C4-A678-C611F4D3F72D}" srcId="{DC6E1F64-28AC-4FBA-BF71-E4FE67A82554}" destId="{E3A00837-F571-4D38-9C2F-AADCCC20CEE6}" srcOrd="2" destOrd="0" parTransId="{949C179C-450D-4F83-A8E0-E59CE7B5E2CF}" sibTransId="{65425625-C236-4778-9377-8CE5BCFEC5DC}"/>
    <dgm:cxn modelId="{0DA5D10F-5E8A-49DC-B227-21F3771166AA}" srcId="{35558AF1-0EC6-4D1C-8E90-C05FEAF92E8D}" destId="{AB71FD9A-F73D-4B51-B3E7-DE053418F91A}" srcOrd="1" destOrd="0" parTransId="{49832EFD-2DF4-4658-B3AB-26D15C75B3EF}" sibTransId="{779C825E-56F5-4ECD-9642-4749E96E4A44}"/>
    <dgm:cxn modelId="{87CD3636-D03E-4554-88AC-907565177C15}" srcId="{AB71FD9A-F73D-4B51-B3E7-DE053418F91A}" destId="{C84205E0-9980-447F-B9E7-472B808E5842}" srcOrd="0" destOrd="1" parTransId="{4530E0F5-C47F-4C11-8926-3025DF970690}" sibTransId="{2215A685-DDA7-40C3-8A3D-C3B272248D38}"/>
    <dgm:cxn modelId="{EBB6958A-650A-4245-A6EA-ABE77C942D4F}" srcId="{AB71FD9A-F73D-4B51-B3E7-DE053418F91A}" destId="{0656BC49-1812-45CB-9879-F3A4E116D8B7}" srcOrd="1" destOrd="1" parTransId="{43CD9DDC-F958-4452-9962-D96CCEC3043C}" sibTransId="{31D559F3-6381-4735-8105-C3F03E1FC28B}"/>
    <dgm:cxn modelId="{A3AACD8D-4678-4674-A006-080EF545DF48}" srcId="{AB71FD9A-F73D-4B51-B3E7-DE053418F91A}" destId="{62FAB6A1-32F4-44EE-91C5-2B44CFE49F6D}" srcOrd="2" destOrd="1" parTransId="{0E23654A-99ED-48BC-89E9-B69D23085986}" sibTransId="{8D041C43-7240-41D0-A545-09E75E1A6F0C}"/>
    <dgm:cxn modelId="{985CD870-A66B-4476-A01E-0DA3F63B77EC}" type="presOf" srcId="{35558AF1-0EC6-4D1C-8E90-C05FEAF92E8D}" destId="{E8B683B4-CC9A-4EAF-8AD1-8E9040E4B842}" srcOrd="0" destOrd="0" presId="urn:microsoft.com/office/officeart/2008/layout/SquareAccentList"/>
    <dgm:cxn modelId="{10DEBD06-A126-4C21-AA71-B02E1CF3504E}" type="presParOf" srcId="{E8B683B4-CC9A-4EAF-8AD1-8E9040E4B842}" destId="{AABB63BC-F73A-4675-BF75-863390199BDA}" srcOrd="0" destOrd="0" presId="urn:microsoft.com/office/officeart/2008/layout/SquareAccentList"/>
    <dgm:cxn modelId="{B96A44F2-F7FF-40D7-8309-644ACF0A295D}" type="presParOf" srcId="{AABB63BC-F73A-4675-BF75-863390199BDA}" destId="{E7B329B0-EF90-424C-B358-35857FB7AF7B}" srcOrd="0" destOrd="0" presId="urn:microsoft.com/office/officeart/2008/layout/SquareAccentList"/>
    <dgm:cxn modelId="{22779251-78A7-4B92-923F-332F001BE21E}" type="presOf" srcId="{DC6E1F64-28AC-4FBA-BF71-E4FE67A82554}" destId="{E7B329B0-EF90-424C-B358-35857FB7AF7B}" srcOrd="0" destOrd="0" presId="urn:microsoft.com/office/officeart/2008/layout/SquareAccentList"/>
    <dgm:cxn modelId="{968911DF-DD66-4076-8956-6C4396F567C9}" type="presParOf" srcId="{E7B329B0-EF90-424C-B358-35857FB7AF7B}" destId="{B238326A-CFE6-4521-930F-E91E4BFCC0A1}" srcOrd="0" destOrd="0" presId="urn:microsoft.com/office/officeart/2008/layout/SquareAccentList"/>
    <dgm:cxn modelId="{F52C0D55-3D4C-4FB9-AA4A-78737BDFE7EB}" type="presParOf" srcId="{E7B329B0-EF90-424C-B358-35857FB7AF7B}" destId="{64FEA07D-D576-4DAA-B4E9-022B3756F7BB}" srcOrd="1" destOrd="0" presId="urn:microsoft.com/office/officeart/2008/layout/SquareAccentList"/>
    <dgm:cxn modelId="{D2C31D3E-5F7C-493A-89EF-64333241CA17}" type="presParOf" srcId="{E7B329B0-EF90-424C-B358-35857FB7AF7B}" destId="{E2515008-CBA9-4AF7-A24C-6922EA5D96FB}" srcOrd="2" destOrd="0" presId="urn:microsoft.com/office/officeart/2008/layout/SquareAccentList"/>
    <dgm:cxn modelId="{481253BE-A118-482C-9FFB-BADD95CDDF59}" type="presOf" srcId="{DC6E1F64-28AC-4FBA-BF71-E4FE67A82554}" destId="{E2515008-CBA9-4AF7-A24C-6922EA5D96FB}" srcOrd="0" destOrd="0" presId="urn:microsoft.com/office/officeart/2008/layout/SquareAccentList"/>
    <dgm:cxn modelId="{7BCFBB0E-254E-4B74-BF84-0E1107F5C3C5}" type="presParOf" srcId="{AABB63BC-F73A-4675-BF75-863390199BDA}" destId="{78B66652-052E-403E-9CC2-018F13CD2741}" srcOrd="1" destOrd="0" presId="urn:microsoft.com/office/officeart/2008/layout/SquareAccentList"/>
    <dgm:cxn modelId="{C8F2EC75-099C-4636-84D4-F2457FAB6873}" type="presParOf" srcId="{78B66652-052E-403E-9CC2-018F13CD2741}" destId="{B523B4DF-04A5-4C3F-8739-9FBD04515E87}" srcOrd="0" destOrd="1" presId="urn:microsoft.com/office/officeart/2008/layout/SquareAccentList"/>
    <dgm:cxn modelId="{975B23E7-28DB-4BCB-B89A-251A035703EE}" type="presParOf" srcId="{B523B4DF-04A5-4C3F-8739-9FBD04515E87}" destId="{AD84E9CD-AD92-4902-A1EF-4DCCBE5FAD33}" srcOrd="0" destOrd="0" presId="urn:microsoft.com/office/officeart/2008/layout/SquareAccentList"/>
    <dgm:cxn modelId="{2049220E-4452-47B5-82CB-0D6812A36CC2}" type="presParOf" srcId="{B523B4DF-04A5-4C3F-8739-9FBD04515E87}" destId="{9AA504EC-521E-4CA2-A0F6-4F147FF601DE}" srcOrd="1" destOrd="0" presId="urn:microsoft.com/office/officeart/2008/layout/SquareAccentList"/>
    <dgm:cxn modelId="{76CE9F24-A0B1-4C8E-8730-D6F737932CB5}" type="presOf" srcId="{50100B2D-FD03-4254-BB61-EB17139864F2}" destId="{9AA504EC-521E-4CA2-A0F6-4F147FF601DE}" srcOrd="0" destOrd="0" presId="urn:microsoft.com/office/officeart/2008/layout/SquareAccentList"/>
    <dgm:cxn modelId="{167772A4-CA49-4271-A596-804EA5C23001}" type="presParOf" srcId="{78B66652-052E-403E-9CC2-018F13CD2741}" destId="{9C8524DD-DA69-4234-B276-26C557022C5B}" srcOrd="1" destOrd="1" presId="urn:microsoft.com/office/officeart/2008/layout/SquareAccentList"/>
    <dgm:cxn modelId="{066C6EC1-0C37-4A18-BDD7-0B7CEE3918DF}" type="presParOf" srcId="{9C8524DD-DA69-4234-B276-26C557022C5B}" destId="{9309CEC0-599A-42DF-8AF7-247C32AB562F}" srcOrd="0" destOrd="1" presId="urn:microsoft.com/office/officeart/2008/layout/SquareAccentList"/>
    <dgm:cxn modelId="{76DB7702-5892-48AE-A65E-E1AA1A4DE362}" type="presParOf" srcId="{9C8524DD-DA69-4234-B276-26C557022C5B}" destId="{8C7EE341-F956-4B32-9FDC-51A19A54C5B7}" srcOrd="1" destOrd="1" presId="urn:microsoft.com/office/officeart/2008/layout/SquareAccentList"/>
    <dgm:cxn modelId="{6836E4E5-3369-4494-82A7-9F95FC8C0C85}" type="presOf" srcId="{91257B91-677F-4091-86A9-DA2E1F096A57}" destId="{8C7EE341-F956-4B32-9FDC-51A19A54C5B7}" srcOrd="0" destOrd="0" presId="urn:microsoft.com/office/officeart/2008/layout/SquareAccentList"/>
    <dgm:cxn modelId="{1770900F-A6B3-404A-85E4-0162846C04CD}" type="presParOf" srcId="{78B66652-052E-403E-9CC2-018F13CD2741}" destId="{C8092317-E3FC-4026-987E-59FEB87E7BB5}" srcOrd="2" destOrd="1" presId="urn:microsoft.com/office/officeart/2008/layout/SquareAccentList"/>
    <dgm:cxn modelId="{F9F57CAD-EB97-45F0-8DD0-10C759626FD8}" type="presParOf" srcId="{C8092317-E3FC-4026-987E-59FEB87E7BB5}" destId="{2B4660B8-0D83-4BA4-952F-B3839E7AA1BD}" srcOrd="0" destOrd="2" presId="urn:microsoft.com/office/officeart/2008/layout/SquareAccentList"/>
    <dgm:cxn modelId="{A99A77C9-1F12-4B64-B59D-8AACA875713B}" type="presParOf" srcId="{C8092317-E3FC-4026-987E-59FEB87E7BB5}" destId="{98864C97-3AF5-4B97-89C2-E64316F053C6}" srcOrd="1" destOrd="2" presId="urn:microsoft.com/office/officeart/2008/layout/SquareAccentList"/>
    <dgm:cxn modelId="{310245FD-D744-4416-90B6-B7B2F0D5BD96}" type="presOf" srcId="{E3A00837-F571-4D38-9C2F-AADCCC20CEE6}" destId="{98864C97-3AF5-4B97-89C2-E64316F053C6}" srcOrd="0" destOrd="0" presId="urn:microsoft.com/office/officeart/2008/layout/SquareAccentList"/>
    <dgm:cxn modelId="{665A764F-8C65-4571-A381-180AE444035D}" type="presParOf" srcId="{E8B683B4-CC9A-4EAF-8AD1-8E9040E4B842}" destId="{FFC1A045-8AB1-4DC0-A80E-EBD7CAFE66CE}" srcOrd="1" destOrd="0" presId="urn:microsoft.com/office/officeart/2008/layout/SquareAccentList"/>
    <dgm:cxn modelId="{B64CC949-BB31-4313-B0F0-5EBF86DA11BB}" type="presParOf" srcId="{FFC1A045-8AB1-4DC0-A80E-EBD7CAFE66CE}" destId="{F8D12FC8-36F1-4B14-A8D0-B41534B6D825}" srcOrd="0" destOrd="1" presId="urn:microsoft.com/office/officeart/2008/layout/SquareAccentList"/>
    <dgm:cxn modelId="{1051B9EC-5DB0-4EA6-8F10-ECB824E124FF}" type="presOf" srcId="{AB71FD9A-F73D-4B51-B3E7-DE053418F91A}" destId="{F8D12FC8-36F1-4B14-A8D0-B41534B6D825}" srcOrd="0" destOrd="0" presId="urn:microsoft.com/office/officeart/2008/layout/SquareAccentList"/>
    <dgm:cxn modelId="{288D1E02-0EEB-441C-8775-9076A9E097FF}" type="presParOf" srcId="{F8D12FC8-36F1-4B14-A8D0-B41534B6D825}" destId="{4883A32C-FB6D-4470-834B-A0D0B519B6E8}" srcOrd="0" destOrd="0" presId="urn:microsoft.com/office/officeart/2008/layout/SquareAccentList"/>
    <dgm:cxn modelId="{EAED29A9-E579-4E92-BB60-C9241D317007}" type="presParOf" srcId="{F8D12FC8-36F1-4B14-A8D0-B41534B6D825}" destId="{16272331-F376-4F78-9E72-6620FFE1EEC3}" srcOrd="1" destOrd="0" presId="urn:microsoft.com/office/officeart/2008/layout/SquareAccentList"/>
    <dgm:cxn modelId="{2889E47C-C534-47C0-A0E8-FA84AF242AA6}" type="presParOf" srcId="{F8D12FC8-36F1-4B14-A8D0-B41534B6D825}" destId="{D42EB80D-978D-4E33-A14B-3612F1F0EC16}" srcOrd="2" destOrd="0" presId="urn:microsoft.com/office/officeart/2008/layout/SquareAccentList"/>
    <dgm:cxn modelId="{EAA2079E-EF67-41B9-AF53-46E39DA46BA5}" type="presOf" srcId="{AB71FD9A-F73D-4B51-B3E7-DE053418F91A}" destId="{D42EB80D-978D-4E33-A14B-3612F1F0EC16}" srcOrd="0" destOrd="0" presId="urn:microsoft.com/office/officeart/2008/layout/SquareAccentList"/>
    <dgm:cxn modelId="{FDA227DC-31C4-4E46-AF54-4AE4BB828629}" type="presParOf" srcId="{FFC1A045-8AB1-4DC0-A80E-EBD7CAFE66CE}" destId="{578214DC-1BB7-4BA1-A6D6-E846C9C25F6B}" srcOrd="1" destOrd="1" presId="urn:microsoft.com/office/officeart/2008/layout/SquareAccentList"/>
    <dgm:cxn modelId="{58DDC275-AD5C-4DB5-9579-74D47A3A1291}" type="presParOf" srcId="{578214DC-1BB7-4BA1-A6D6-E846C9C25F6B}" destId="{10DED540-3595-43ED-9E4B-5934EBBE357C}" srcOrd="0" destOrd="1" presId="urn:microsoft.com/office/officeart/2008/layout/SquareAccentList"/>
    <dgm:cxn modelId="{1518A5D1-E5FF-4D7F-BE80-5AE8DD37FAA9}" type="presParOf" srcId="{10DED540-3595-43ED-9E4B-5934EBBE357C}" destId="{6B4C860A-DBDB-4F25-AEE7-078D55D197F8}" srcOrd="0" destOrd="0" presId="urn:microsoft.com/office/officeart/2008/layout/SquareAccentList"/>
    <dgm:cxn modelId="{29B48100-CD29-491C-B8DA-66ACC054087C}" type="presParOf" srcId="{10DED540-3595-43ED-9E4B-5934EBBE357C}" destId="{54539F7E-C594-4A33-A548-FC053A5E74C0}" srcOrd="1" destOrd="0" presId="urn:microsoft.com/office/officeart/2008/layout/SquareAccentList"/>
    <dgm:cxn modelId="{F59CE705-1653-4253-86AB-DE10B5EA80FC}" type="presOf" srcId="{C84205E0-9980-447F-B9E7-472B808E5842}" destId="{54539F7E-C594-4A33-A548-FC053A5E74C0}" srcOrd="0" destOrd="0" presId="urn:microsoft.com/office/officeart/2008/layout/SquareAccentList"/>
    <dgm:cxn modelId="{409152D3-D819-4478-B2D6-EED7711A9F26}" type="presParOf" srcId="{578214DC-1BB7-4BA1-A6D6-E846C9C25F6B}" destId="{3015F0F5-1EFB-46C8-9A7D-A0E002016A95}" srcOrd="1" destOrd="1" presId="urn:microsoft.com/office/officeart/2008/layout/SquareAccentList"/>
    <dgm:cxn modelId="{E8E4FC85-C872-43A0-8917-3DC892EDADAF}" type="presParOf" srcId="{3015F0F5-1EFB-46C8-9A7D-A0E002016A95}" destId="{E2D49713-C487-4217-897C-F1AC5452D8AE}" srcOrd="0" destOrd="1" presId="urn:microsoft.com/office/officeart/2008/layout/SquareAccentList"/>
    <dgm:cxn modelId="{443100FD-3FAA-4E7E-A895-AA131EAA97D4}" type="presParOf" srcId="{3015F0F5-1EFB-46C8-9A7D-A0E002016A95}" destId="{C8B4A2BD-9153-4BF1-97C2-56D067BD9B4D}" srcOrd="1" destOrd="1" presId="urn:microsoft.com/office/officeart/2008/layout/SquareAccentList"/>
    <dgm:cxn modelId="{EB6A8243-3A2E-4E89-B797-E9EFBCC33D46}" type="presOf" srcId="{0656BC49-1812-45CB-9879-F3A4E116D8B7}" destId="{C8B4A2BD-9153-4BF1-97C2-56D067BD9B4D}" srcOrd="0" destOrd="0" presId="urn:microsoft.com/office/officeart/2008/layout/SquareAccentList"/>
    <dgm:cxn modelId="{23F3D5C4-8144-4514-8E6C-02D4EB152FB5}" type="presParOf" srcId="{578214DC-1BB7-4BA1-A6D6-E846C9C25F6B}" destId="{46A112DC-C0E7-4B5E-93B2-6829EBAB00C7}" srcOrd="2" destOrd="1" presId="urn:microsoft.com/office/officeart/2008/layout/SquareAccentList"/>
    <dgm:cxn modelId="{7D0CA8D5-0740-4C33-B175-794D175769CE}" type="presParOf" srcId="{46A112DC-C0E7-4B5E-93B2-6829EBAB00C7}" destId="{86D5968F-5D14-425C-BC01-D9BACC060D2B}" srcOrd="0" destOrd="2" presId="urn:microsoft.com/office/officeart/2008/layout/SquareAccentList"/>
    <dgm:cxn modelId="{93D0DEAB-5626-45A0-9CB3-A516BA89A256}" type="presParOf" srcId="{46A112DC-C0E7-4B5E-93B2-6829EBAB00C7}" destId="{43EAE0DB-A52C-41DB-8B6A-88727B61E0E2}" srcOrd="1" destOrd="2" presId="urn:microsoft.com/office/officeart/2008/layout/SquareAccentList"/>
    <dgm:cxn modelId="{6B5FE86B-3F2B-4A50-8623-BC4D9B821C01}" type="presOf" srcId="{62FAB6A1-32F4-44EE-91C5-2B44CFE49F6D}" destId="{43EAE0DB-A52C-41DB-8B6A-88727B61E0E2}" srcOrd="0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601200" cy="4333240"/>
        <a:chOff x="0" y="0"/>
        <a:chExt cx="9601200" cy="4333240"/>
      </a:xfrm>
    </dsp:grpSpPr>
    <dsp:sp modelId="{B238326A-CFE6-4521-930F-E91E4BFCC0A1}">
      <dsp:nvSpPr>
        <dsp:cNvPr id="3" name="矩形 2"/>
        <dsp:cNvSpPr/>
      </dsp:nvSpPr>
      <dsp:spPr bwMode="white">
        <a:xfrm>
          <a:off x="0" y="989830"/>
          <a:ext cx="4683512" cy="551001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989830"/>
        <a:ext cx="4683512" cy="551001"/>
      </dsp:txXfrm>
    </dsp:sp>
    <dsp:sp modelId="{64FEA07D-D576-4DAA-B4E9-022B3756F7BB}">
      <dsp:nvSpPr>
        <dsp:cNvPr id="4" name="矩形 3"/>
        <dsp:cNvSpPr/>
      </dsp:nvSpPr>
      <dsp:spPr bwMode="white">
        <a:xfrm>
          <a:off x="0" y="1196764"/>
          <a:ext cx="344068" cy="34406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Xfrm>
        <a:off x="0" y="1196764"/>
        <a:ext cx="344068" cy="344068"/>
      </dsp:txXfrm>
    </dsp:sp>
    <dsp:sp modelId="{E2515008-CBA9-4AF7-A24C-6922EA5D96FB}">
      <dsp:nvSpPr>
        <dsp:cNvPr id="5" name="矩形 4"/>
        <dsp:cNvSpPr/>
      </dsp:nvSpPr>
      <dsp:spPr bwMode="white">
        <a:xfrm>
          <a:off x="0" y="0"/>
          <a:ext cx="4683512" cy="98983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53340" tIns="35560" rIns="53340" bIns="3556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>
              <a:solidFill>
                <a:srgbClr val="4864FC"/>
              </a:solidFill>
            </a:rPr>
            <a:t>校外企业实习</a:t>
          </a:r>
          <a:endParaRPr lang="zh-CN" altLang="en-US" sz="2800" b="1">
            <a:solidFill>
              <a:srgbClr val="4864FC"/>
            </a:solidFill>
          </a:endParaRPr>
        </a:p>
      </dsp:txBody>
      <dsp:txXfrm>
        <a:off x="0" y="0"/>
        <a:ext cx="4683512" cy="989830"/>
      </dsp:txXfrm>
    </dsp:sp>
    <dsp:sp modelId="{AD84E9CD-AD92-4902-A1EF-4DCCBE5FAD33}">
      <dsp:nvSpPr>
        <dsp:cNvPr id="6" name="矩形 5"/>
        <dsp:cNvSpPr/>
      </dsp:nvSpPr>
      <dsp:spPr bwMode="white">
        <a:xfrm>
          <a:off x="0" y="1998775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0" y="1998775"/>
        <a:ext cx="344059" cy="344059"/>
      </dsp:txXfrm>
    </dsp:sp>
    <dsp:sp modelId="{9AA504EC-521E-4CA2-A0F6-4F147FF601DE}">
      <dsp:nvSpPr>
        <dsp:cNvPr id="7" name="矩形 6"/>
        <dsp:cNvSpPr/>
      </dsp:nvSpPr>
      <dsp:spPr bwMode="white">
        <a:xfrm>
          <a:off x="327846" y="1769804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solidFill>
                <a:schemeClr val="tx1"/>
              </a:solidFill>
            </a:rPr>
            <a:t>通过</a:t>
          </a:r>
          <a:r>
            <a:rPr lang="zh-CN" altLang="en-US" sz="2000" b="1">
              <a:solidFill>
                <a:srgbClr val="FF0000"/>
              </a:solidFill>
            </a:rPr>
            <a:t>校企合作基地或社会公开招聘</a:t>
          </a:r>
          <a:r>
            <a:rPr lang="zh-CN" altLang="en-US" sz="1800">
              <a:solidFill>
                <a:schemeClr val="tx1"/>
              </a:solidFill>
            </a:rPr>
            <a:t>渠道，获取实习机会。</a:t>
          </a:r>
          <a:endParaRPr lang="zh-CN" altLang="en-US" sz="1800">
            <a:solidFill>
              <a:schemeClr val="tx1"/>
            </a:solidFill>
          </a:endParaRPr>
        </a:p>
      </dsp:txBody>
      <dsp:txXfrm>
        <a:off x="327846" y="1769804"/>
        <a:ext cx="4355666" cy="802003"/>
      </dsp:txXfrm>
    </dsp:sp>
    <dsp:sp modelId="{9309CEC0-599A-42DF-8AF7-247C32AB562F}">
      <dsp:nvSpPr>
        <dsp:cNvPr id="8" name="矩形 7"/>
        <dsp:cNvSpPr/>
      </dsp:nvSpPr>
      <dsp:spPr bwMode="white">
        <a:xfrm>
          <a:off x="0" y="2800778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0" y="2800778"/>
        <a:ext cx="344059" cy="344059"/>
      </dsp:txXfrm>
    </dsp:sp>
    <dsp:sp modelId="{8C7EE341-F956-4B32-9FDC-51A19A54C5B7}">
      <dsp:nvSpPr>
        <dsp:cNvPr id="9" name="矩形 8"/>
        <dsp:cNvSpPr/>
      </dsp:nvSpPr>
      <dsp:spPr bwMode="white">
        <a:xfrm>
          <a:off x="327846" y="2571807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>
              <a:solidFill>
                <a:schemeClr val="tx1"/>
              </a:solidFill>
              <a:sym typeface="+mn-ea"/>
            </a:rPr>
            <a:t>本</a:t>
          </a:r>
          <a:r>
            <a:rPr lang="zh-CN" altLang="en-US" sz="1800">
              <a:solidFill>
                <a:schemeClr val="tx1"/>
              </a:solidFill>
              <a:sym typeface="+mn-ea"/>
            </a:rPr>
            <a:t>学期有其他课程，实习与课程修读冲突，不允许前往。</a:t>
          </a:r>
          <a:endParaRPr lang="zh-CN" altLang="en-US" sz="1800">
            <a:solidFill>
              <a:schemeClr val="tx1"/>
            </a:solidFill>
            <a:sym typeface="+mn-ea"/>
          </a:endParaRPr>
        </a:p>
      </dsp:txBody>
      <dsp:txXfrm>
        <a:off x="327846" y="2571807"/>
        <a:ext cx="4355666" cy="802003"/>
      </dsp:txXfrm>
    </dsp:sp>
    <dsp:sp modelId="{2B4660B8-0D83-4BA4-952F-B3839E7AA1BD}">
      <dsp:nvSpPr>
        <dsp:cNvPr id="10" name="矩形 9"/>
        <dsp:cNvSpPr/>
      </dsp:nvSpPr>
      <dsp:spPr bwMode="white">
        <a:xfrm>
          <a:off x="0" y="3602781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0" y="3602781"/>
        <a:ext cx="344059" cy="344059"/>
      </dsp:txXfrm>
    </dsp:sp>
    <dsp:sp modelId="{98864C97-3AF5-4B97-89C2-E64316F053C6}">
      <dsp:nvSpPr>
        <dsp:cNvPr id="11" name="矩形 10"/>
        <dsp:cNvSpPr/>
      </dsp:nvSpPr>
      <dsp:spPr bwMode="white">
        <a:xfrm>
          <a:off x="327846" y="3373809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>
              <a:solidFill>
                <a:schemeClr val="tx1"/>
              </a:solidFill>
              <a:sym typeface="+mn-ea"/>
            </a:rPr>
            <a:t>所</a:t>
          </a:r>
          <a:r>
            <a:rPr lang="zh-CN" altLang="en-US" sz="1800">
              <a:solidFill>
                <a:schemeClr val="tx1"/>
              </a:solidFill>
              <a:sym typeface="+mn-ea"/>
            </a:rPr>
            <a:t>申请实习单位岗位与专业能力培养要求不相符的、工作任务不明确的，不允许前往。</a:t>
          </a:r>
          <a:endParaRPr lang="zh-CN" altLang="en-US" sz="1800">
            <a:solidFill>
              <a:schemeClr val="tx1"/>
            </a:solidFill>
            <a:sym typeface="+mn-ea"/>
          </a:endParaRPr>
        </a:p>
      </dsp:txBody>
      <dsp:txXfrm>
        <a:off x="327846" y="3373809"/>
        <a:ext cx="4355666" cy="802003"/>
      </dsp:txXfrm>
    </dsp:sp>
    <dsp:sp modelId="{4883A32C-FB6D-4470-834B-A0D0B519B6E8}">
      <dsp:nvSpPr>
        <dsp:cNvPr id="12" name="矩形 11"/>
        <dsp:cNvSpPr/>
      </dsp:nvSpPr>
      <dsp:spPr bwMode="white">
        <a:xfrm>
          <a:off x="4917688" y="989830"/>
          <a:ext cx="4683512" cy="551001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917688" y="989830"/>
        <a:ext cx="4683512" cy="551001"/>
      </dsp:txXfrm>
    </dsp:sp>
    <dsp:sp modelId="{16272331-F376-4F78-9E72-6620FFE1EEC3}">
      <dsp:nvSpPr>
        <dsp:cNvPr id="13" name="矩形 12"/>
        <dsp:cNvSpPr/>
      </dsp:nvSpPr>
      <dsp:spPr bwMode="white">
        <a:xfrm>
          <a:off x="4917688" y="1196764"/>
          <a:ext cx="344068" cy="34406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Xfrm>
        <a:off x="4917688" y="1196764"/>
        <a:ext cx="344068" cy="344068"/>
      </dsp:txXfrm>
    </dsp:sp>
    <dsp:sp modelId="{D42EB80D-978D-4E33-A14B-3612F1F0EC16}">
      <dsp:nvSpPr>
        <dsp:cNvPr id="14" name="矩形 13"/>
        <dsp:cNvSpPr/>
      </dsp:nvSpPr>
      <dsp:spPr bwMode="white">
        <a:xfrm>
          <a:off x="4917688" y="0"/>
          <a:ext cx="4683512" cy="98983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53340" tIns="35560" rIns="53340" bIns="3556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>
              <a:solidFill>
                <a:srgbClr val="4864FC"/>
              </a:solidFill>
            </a:rPr>
            <a:t>科学研究实践</a:t>
          </a:r>
          <a:endParaRPr lang="zh-CN" altLang="en-US" sz="2800" b="1">
            <a:solidFill>
              <a:srgbClr val="4864FC"/>
            </a:solidFill>
          </a:endParaRPr>
        </a:p>
      </dsp:txBody>
      <dsp:txXfrm>
        <a:off x="4917688" y="0"/>
        <a:ext cx="4683512" cy="989830"/>
      </dsp:txXfrm>
    </dsp:sp>
    <dsp:sp modelId="{6B4C860A-DBDB-4F25-AEE7-078D55D197F8}">
      <dsp:nvSpPr>
        <dsp:cNvPr id="15" name="矩形 14"/>
        <dsp:cNvSpPr/>
      </dsp:nvSpPr>
      <dsp:spPr bwMode="white">
        <a:xfrm>
          <a:off x="4917688" y="1998775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4917688" y="1998775"/>
        <a:ext cx="344059" cy="344059"/>
      </dsp:txXfrm>
    </dsp:sp>
    <dsp:sp modelId="{54539F7E-C594-4A33-A548-FC053A5E74C0}">
      <dsp:nvSpPr>
        <dsp:cNvPr id="16" name="矩形 15"/>
        <dsp:cNvSpPr/>
      </dsp:nvSpPr>
      <dsp:spPr bwMode="white">
        <a:xfrm>
          <a:off x="5245534" y="1769804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solidFill>
                <a:schemeClr val="tx1"/>
              </a:solidFill>
            </a:rPr>
            <a:t>强调</a:t>
          </a:r>
          <a:r>
            <a:rPr lang="zh-CN" altLang="en-US" sz="1800">
              <a:solidFill>
                <a:schemeClr val="tx1"/>
              </a:solidFill>
            </a:rPr>
            <a:t>学术探索与创新能力的培养</a:t>
          </a:r>
          <a:endParaRPr lang="zh-CN" altLang="en-US" sz="1800">
            <a:solidFill>
              <a:schemeClr val="tx1"/>
            </a:solidFill>
          </a:endParaRPr>
        </a:p>
      </dsp:txBody>
      <dsp:txXfrm>
        <a:off x="5245534" y="1769804"/>
        <a:ext cx="4355666" cy="802003"/>
      </dsp:txXfrm>
    </dsp:sp>
    <dsp:sp modelId="{E2D49713-C487-4217-897C-F1AC5452D8AE}">
      <dsp:nvSpPr>
        <dsp:cNvPr id="17" name="矩形 16"/>
        <dsp:cNvSpPr/>
      </dsp:nvSpPr>
      <dsp:spPr bwMode="white">
        <a:xfrm>
          <a:off x="4917688" y="2800778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4917688" y="2800778"/>
        <a:ext cx="344059" cy="344059"/>
      </dsp:txXfrm>
    </dsp:sp>
    <dsp:sp modelId="{C8B4A2BD-9153-4BF1-97C2-56D067BD9B4D}">
      <dsp:nvSpPr>
        <dsp:cNvPr id="18" name="矩形 17"/>
        <dsp:cNvSpPr/>
      </dsp:nvSpPr>
      <dsp:spPr bwMode="white">
        <a:xfrm>
          <a:off x="5245534" y="2571807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solidFill>
                <a:schemeClr val="tx1"/>
              </a:solidFill>
            </a:rPr>
            <a:t>前三学年的学分加权平均分成绩中排名全级前40%</a:t>
          </a:r>
          <a:endParaRPr lang="zh-CN" altLang="en-US" sz="1800">
            <a:solidFill>
              <a:schemeClr val="tx1"/>
            </a:solidFill>
          </a:endParaRPr>
        </a:p>
      </dsp:txBody>
      <dsp:txXfrm>
        <a:off x="5245534" y="2571807"/>
        <a:ext cx="4355666" cy="802003"/>
      </dsp:txXfrm>
    </dsp:sp>
    <dsp:sp modelId="{86D5968F-5D14-425C-BC01-D9BACC060D2B}">
      <dsp:nvSpPr>
        <dsp:cNvPr id="19" name="矩形 18"/>
        <dsp:cNvSpPr/>
      </dsp:nvSpPr>
      <dsp:spPr bwMode="white">
        <a:xfrm>
          <a:off x="4917688" y="3602781"/>
          <a:ext cx="344059" cy="344059"/>
        </a:xfrm>
        <a:prstGeom prst="rect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4917688" y="3602781"/>
        <a:ext cx="344059" cy="344059"/>
      </dsp:txXfrm>
    </dsp:sp>
    <dsp:sp modelId="{43EAE0DB-A52C-41DB-8B6A-88727B61E0E2}">
      <dsp:nvSpPr>
        <dsp:cNvPr id="20" name="矩形 19"/>
        <dsp:cNvSpPr/>
      </dsp:nvSpPr>
      <dsp:spPr bwMode="white">
        <a:xfrm>
          <a:off x="5245534" y="3373809"/>
          <a:ext cx="4355666" cy="8020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128016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solidFill>
                <a:schemeClr val="tx1"/>
              </a:solidFill>
            </a:rPr>
            <a:t>未能达成双选的学生需重新选择其他实习形式</a:t>
          </a:r>
          <a:endParaRPr lang="zh-CN" altLang="en-US" sz="1800">
            <a:solidFill>
              <a:schemeClr val="tx1"/>
            </a:solidFill>
          </a:endParaRPr>
        </a:p>
      </dsp:txBody>
      <dsp:txXfrm>
        <a:off x="5245534" y="3373809"/>
        <a:ext cx="4355666" cy="802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horzAlign" val="ctr"/>
          <dgm:param type="vertAlign" val="t"/>
          <dgm:param type="nodeVertAlign" val="t"/>
          <dgm:param type="fallback" val="1D"/>
        </dgm:alg>
      </dgm:if>
      <dgm:else name="Name2">
        <dgm:alg type="hierChild">
          <dgm:param type="linDir" val="fromR"/>
          <dgm:param type="horzAlign" val="ctr"/>
          <dgm:param type="vertAlign" val="t"/>
          <dgm:param type="nodeVertAlign" val="t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parTxLTRAlign" val="l"/>
                    <dgm:param type="txAnchorVertCh" val="mid"/>
                  </dgm:alg>
                </dgm:if>
                <dgm:else name="Name10">
                  <dgm:alg type="tx">
                    <dgm:param type="parTxLTRAlign" val="r"/>
                    <dgm:param type="txAnchorVertCh" val="mid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linDir" val="fromT"/>
              <dgm:param type="chAlign" val="r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parTxLTRAlign" val="l"/>
                          <dgm:param type="txAnchorVertCh" val="mid"/>
                        </dgm:alg>
                      </dgm:if>
                      <dgm:else name="Name18">
                        <dgm:alg type="tx">
                          <dgm:param type="parTxLTRAlign" val="r"/>
                          <dgm:param type="txAnchorVertCh" val="mid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习是青海大学计算机学院“3+1”培养模式中的一项必修环节，占据了整整10个学分，并要求学生在第七学期完成16周的实习。这无疑体现了实践教学在我们教育体系中的重要地位。在2019版的培养方案中，实习不仅被列为了必修课程，更是整个教育体系中不可或缺的一部分。通过实习，学生可以将自己的理论知识与实际工作相结合，从而提升他们的综合能力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实习经历为学生提供了宝贵的工作经验，有助于他们了解行业动态和明确职业方向。同时，实习表现也是未来求职时的一个重要参考，对于学生的职业发展具有深远的影响。在大学的美好时光里，除了书本上的知识，实习是你们探索未来、锻炼自我、积累经验的宝贵机会。就像一场精彩的探险，实习能带你走出教室，走进真实的工作环境，让你的理论知识在实践中生根发芽。</a:t>
            </a:r>
            <a:endParaRPr lang="zh-CN" altLang="en-US" dirty="0"/>
          </a:p>
          <a:p>
            <a:r>
              <a:rPr lang="zh-CN" altLang="en-US" dirty="0"/>
              <a:t>①技能升级：实习是将学习到的知识转化为实际技能的绝佳途径。在实习中，你会发现，那些在课堂上学到的概念和理论，将在实际工作中变得生动而有意义。</a:t>
            </a:r>
            <a:endParaRPr lang="zh-CN" altLang="en-US" dirty="0"/>
          </a:p>
          <a:p>
            <a:r>
              <a:rPr lang="zh-CN" altLang="en-US" dirty="0"/>
              <a:t>②职业探索：通过实习，你可以亲身体验不同的职业角色，探索自己对哪些工作更感兴趣，这有助于你更清晰地规划未来的职业道路。</a:t>
            </a:r>
            <a:endParaRPr lang="zh-CN" altLang="en-US" dirty="0"/>
          </a:p>
          <a:p>
            <a:r>
              <a:rPr lang="zh-CN" altLang="en-US" dirty="0"/>
              <a:t>③建立人脉：实习期间，你将有机会结识来自各行各业的专业人士，这些人脉资源对你未来的职业发展可能有着不可估量的价值。</a:t>
            </a:r>
            <a:endParaRPr lang="zh-CN" altLang="en-US" dirty="0"/>
          </a:p>
          <a:p>
            <a:r>
              <a:rPr lang="zh-CN" altLang="en-US" dirty="0"/>
              <a:t>④简历加分：一段有分量的实习经历，能够让你在未来求职时脱颖而出，给雇主留下深刻印象。</a:t>
            </a:r>
            <a:endParaRPr lang="zh-CN" altLang="en-US" dirty="0"/>
          </a:p>
          <a:p>
            <a:r>
              <a:rPr lang="zh-CN" altLang="en-US" dirty="0"/>
              <a:t>⑤自我成长：实习不仅仅是工作，它还是一次自我挑战和成长的机会。在实习中，你将学会独立思考，解决问题，以及如何更好地与他人合作。</a:t>
            </a:r>
            <a:endParaRPr lang="zh-CN" altLang="en-US" dirty="0"/>
          </a:p>
          <a:p>
            <a:r>
              <a:rPr lang="zh-CN" altLang="en-US" dirty="0"/>
              <a:t>⑥理解行业：实习让你有机会深入了解一个行业，从内部观察它的运作方式，这是书本上很难获得的视角。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6.xml"/><Relationship Id="rId5" Type="http://schemas.openxmlformats.org/officeDocument/2006/relationships/image" Target="../media/image1.png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0" Type="http://schemas.openxmlformats.org/officeDocument/2006/relationships/notesSlide" Target="../notesSlides/notesSlide3.xml"/><Relationship Id="rId3" Type="http://schemas.openxmlformats.org/officeDocument/2006/relationships/tags" Target="../tags/tag109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134.xml"/><Relationship Id="rId27" Type="http://schemas.openxmlformats.org/officeDocument/2006/relationships/tags" Target="../tags/tag133.xml"/><Relationship Id="rId26" Type="http://schemas.openxmlformats.org/officeDocument/2006/relationships/tags" Target="../tags/tag132.xml"/><Relationship Id="rId25" Type="http://schemas.openxmlformats.org/officeDocument/2006/relationships/tags" Target="../tags/tag131.xml"/><Relationship Id="rId24" Type="http://schemas.openxmlformats.org/officeDocument/2006/relationships/tags" Target="../tags/tag130.xml"/><Relationship Id="rId23" Type="http://schemas.openxmlformats.org/officeDocument/2006/relationships/tags" Target="../tags/tag129.xml"/><Relationship Id="rId22" Type="http://schemas.openxmlformats.org/officeDocument/2006/relationships/tags" Target="../tags/tag128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08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5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image" Target="../media/image2.png"/><Relationship Id="rId1" Type="http://schemas.openxmlformats.org/officeDocument/2006/relationships/tags" Target="../tags/tag1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image" Target="../media/image3.png"/><Relationship Id="rId1" Type="http://schemas.openxmlformats.org/officeDocument/2006/relationships/tags" Target="../tags/tag14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8.xml"/><Relationship Id="rId4" Type="http://schemas.openxmlformats.org/officeDocument/2006/relationships/image" Target="../media/image5.png"/><Relationship Id="rId3" Type="http://schemas.openxmlformats.org/officeDocument/2006/relationships/tags" Target="../tags/tag147.xml"/><Relationship Id="rId2" Type="http://schemas.openxmlformats.org/officeDocument/2006/relationships/image" Target="../media/image4.png"/><Relationship Id="rId1" Type="http://schemas.openxmlformats.org/officeDocument/2006/relationships/tags" Target="../tags/tag1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image" Target="../media/image7.png"/><Relationship Id="rId1" Type="http://schemas.openxmlformats.org/officeDocument/2006/relationships/tags" Target="../tags/tag15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4.xml"/><Relationship Id="rId4" Type="http://schemas.openxmlformats.org/officeDocument/2006/relationships/image" Target="../media/image9.png"/><Relationship Id="rId3" Type="http://schemas.openxmlformats.org/officeDocument/2006/relationships/tags" Target="../tags/tag153.xml"/><Relationship Id="rId2" Type="http://schemas.openxmlformats.org/officeDocument/2006/relationships/image" Target="../media/image8.jpeg"/><Relationship Id="rId1" Type="http://schemas.openxmlformats.org/officeDocument/2006/relationships/tags" Target="../tags/tag15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6.xml"/><Relationship Id="rId2" Type="http://schemas.openxmlformats.org/officeDocument/2006/relationships/image" Target="../media/image10.png"/><Relationship Id="rId1" Type="http://schemas.openxmlformats.org/officeDocument/2006/relationships/tags" Target="../tags/tag15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image" Target="../media/image11.png"/><Relationship Id="rId1" Type="http://schemas.openxmlformats.org/officeDocument/2006/relationships/tags" Target="../tags/tag15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0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tags" Target="../tags/tag15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2.xml"/><Relationship Id="rId2" Type="http://schemas.openxmlformats.org/officeDocument/2006/relationships/image" Target="../media/image15.png"/><Relationship Id="rId1" Type="http://schemas.openxmlformats.org/officeDocument/2006/relationships/tags" Target="../tags/tag16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2" Type="http://schemas.openxmlformats.org/officeDocument/2006/relationships/image" Target="../media/image16.png"/><Relationship Id="rId1" Type="http://schemas.openxmlformats.org/officeDocument/2006/relationships/tags" Target="../tags/tag1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273300" y="1901190"/>
            <a:ext cx="8413750" cy="1709420"/>
          </a:xfrm>
        </p:spPr>
        <p:txBody>
          <a:bodyPr>
            <a:noAutofit/>
          </a:bodyPr>
          <a:lstStyle/>
          <a:p>
            <a:r>
              <a:rPr sz="4800" b="1">
                <a:solidFill>
                  <a:schemeClr val="tx1"/>
                </a:solidFill>
                <a:sym typeface="+mn-ea"/>
              </a:rPr>
              <a:t>青海大学计算机学院</a:t>
            </a:r>
            <a:br>
              <a:rPr lang="zh-CN" altLang="en-US" sz="4800" b="1" dirty="0">
                <a:solidFill>
                  <a:schemeClr val="tx1"/>
                </a:solidFill>
              </a:rPr>
            </a:br>
            <a:r>
              <a:rPr sz="4800" b="1">
                <a:solidFill>
                  <a:srgbClr val="4864FC"/>
                </a:solidFill>
                <a:sym typeface="+mn-ea"/>
              </a:rPr>
              <a:t>实习制度详解</a:t>
            </a:r>
            <a:endParaRPr lang="zh-CN" altLang="en-US" sz="4800" b="1" dirty="0">
              <a:solidFill>
                <a:srgbClr val="4864FC"/>
              </a:solidFill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3004184" y="3893071"/>
            <a:ext cx="7589519" cy="656600"/>
          </a:xfrm>
        </p:spPr>
        <p:txBody>
          <a:bodyPr/>
          <a:lstStyle/>
          <a:p>
            <a:pPr algn="r"/>
            <a:r>
              <a:rPr>
                <a:solidFill>
                  <a:srgbClr val="4864FC"/>
                </a:solidFill>
                <a:sym typeface="+mn-ea"/>
              </a:rPr>
              <a:t>规范实习</a:t>
            </a:r>
            <a:r>
              <a:rPr lang="en-US">
                <a:solidFill>
                  <a:srgbClr val="4864FC"/>
                </a:solidFill>
                <a:sym typeface="+mn-ea"/>
              </a:rPr>
              <a:t>      </a:t>
            </a:r>
            <a:r>
              <a:rPr>
                <a:solidFill>
                  <a:srgbClr val="4864FC"/>
                </a:solidFill>
                <a:sym typeface="+mn-ea"/>
              </a:rPr>
              <a:t>提升素养</a:t>
            </a:r>
            <a:endParaRPr lang="zh-CN" altLang="en-US" dirty="0">
              <a:solidFill>
                <a:srgbClr val="4864FC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5040630" cy="4931410"/>
          </a:xfrm>
        </p:spPr>
        <p:txBody>
          <a:bodyPr/>
          <a:lstStyle/>
          <a:p>
            <a:r>
              <a:rPr lang="zh-CN" altLang="en-US" sz="2800" b="1">
                <a:solidFill>
                  <a:srgbClr val="4864FC"/>
                </a:solidFill>
              </a:rPr>
              <a:t>“3+1”培养模式的重要环节</a:t>
            </a:r>
            <a:endParaRPr lang="zh-CN" altLang="en-US" sz="2800" b="1">
              <a:solidFill>
                <a:srgbClr val="4864FC"/>
              </a:solidFill>
            </a:endParaRPr>
          </a:p>
          <a:p>
            <a:endParaRPr lang="zh-CN" altLang="en-US" sz="2800">
              <a:solidFill>
                <a:srgbClr val="4864FC"/>
              </a:solidFill>
            </a:endParaRPr>
          </a:p>
          <a:p>
            <a:endParaRPr lang="zh-CN" altLang="en-US" sz="2800">
              <a:solidFill>
                <a:srgbClr val="4864FC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spc="200">
                <a:latin typeface="+mj-ea"/>
                <a:ea typeface="+mj-ea"/>
                <a:sym typeface="+mn-ea"/>
              </a:rPr>
              <a:t>实习的重要性</a:t>
            </a:r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19190" y="1245235"/>
            <a:ext cx="5779135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2pPr>
            <a:lvl3pPr marL="719455" marR="0" lvl="2" indent="-2762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kern="1200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3pPr>
            <a:lvl4pPr marL="987425" marR="0" lvl="3" indent="-262255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kern="1200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4pPr>
            <a:lvl5pPr marL="1256030" marR="0" lvl="4" indent="-26225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kern="1200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4864FC"/>
                </a:solidFill>
              </a:rPr>
              <a:t>知识转化为实际技能的绝佳途径</a:t>
            </a:r>
            <a:endParaRPr lang="zh-CN" altLang="en-US" sz="2800" b="1">
              <a:solidFill>
                <a:srgbClr val="4864FC"/>
              </a:solidFill>
            </a:endParaRPr>
          </a:p>
          <a:p>
            <a:pPr marL="675005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4864FC"/>
                </a:solidFill>
              </a:rPr>
              <a:t>技能升级</a:t>
            </a:r>
            <a:endParaRPr lang="zh-CN" altLang="en-US" sz="2400">
              <a:solidFill>
                <a:srgbClr val="4864FC"/>
              </a:solidFill>
            </a:endParaRPr>
          </a:p>
          <a:p>
            <a:pPr marL="675005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4864FC"/>
                </a:solidFill>
              </a:rPr>
              <a:t>职业探索</a:t>
            </a:r>
            <a:endParaRPr lang="zh-CN" altLang="en-US" sz="2400">
              <a:solidFill>
                <a:srgbClr val="4864FC"/>
              </a:solidFill>
            </a:endParaRPr>
          </a:p>
          <a:p>
            <a:pPr marL="675005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4864FC"/>
                </a:solidFill>
              </a:rPr>
              <a:t>简历加分</a:t>
            </a:r>
            <a:endParaRPr lang="zh-CN" altLang="en-US" sz="2400">
              <a:solidFill>
                <a:srgbClr val="4864FC"/>
              </a:solidFill>
            </a:endParaRPr>
          </a:p>
          <a:p>
            <a:pPr marL="675005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4864FC"/>
                </a:solidFill>
              </a:rPr>
              <a:t>自我成长</a:t>
            </a:r>
            <a:endParaRPr lang="zh-CN" altLang="en-US" sz="2400">
              <a:solidFill>
                <a:srgbClr val="4864FC"/>
              </a:solidFill>
            </a:endParaRPr>
          </a:p>
          <a:p>
            <a:pPr marL="675005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4864FC"/>
                </a:solidFill>
              </a:rPr>
              <a:t>理解行业</a:t>
            </a:r>
            <a:endParaRPr lang="zh-CN" altLang="en-US" sz="2400">
              <a:solidFill>
                <a:srgbClr val="4864FC"/>
              </a:solidFill>
            </a:endParaRPr>
          </a:p>
        </p:txBody>
      </p:sp>
      <p:pic>
        <p:nvPicPr>
          <p:cNvPr id="5" name="图片 1" descr="172699568085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0400" y="2131060"/>
            <a:ext cx="5272405" cy="391223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649605" y="4752975"/>
            <a:ext cx="5265420" cy="405130"/>
          </a:xfrm>
          <a:prstGeom prst="round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实习具体要求</a:t>
            </a:r>
            <a:endParaRPr lang="zh-CN" altLang="en-US"/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1236000" y="3846813"/>
            <a:ext cx="9720000" cy="0"/>
          </a:xfrm>
          <a:prstGeom prst="line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 flipH="1">
            <a:off x="6095999" y="1399352"/>
            <a:ext cx="1" cy="2241601"/>
          </a:xfrm>
          <a:prstGeom prst="line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2" name="Freeform 9"/>
          <p:cNvSpPr/>
          <p:nvPr>
            <p:custDataLst>
              <p:tags r:id="rId3"/>
            </p:custDataLst>
          </p:nvPr>
        </p:nvSpPr>
        <p:spPr bwMode="auto">
          <a:xfrm>
            <a:off x="3578749" y="1411583"/>
            <a:ext cx="401597" cy="558600"/>
          </a:xfrm>
          <a:custGeom>
            <a:avLst/>
            <a:gdLst>
              <a:gd name="T0" fmla="*/ 103 w 103"/>
              <a:gd name="T1" fmla="*/ 91 h 143"/>
              <a:gd name="T2" fmla="*/ 51 w 103"/>
              <a:gd name="T3" fmla="*/ 143 h 143"/>
              <a:gd name="T4" fmla="*/ 0 w 103"/>
              <a:gd name="T5" fmla="*/ 91 h 143"/>
              <a:gd name="T6" fmla="*/ 51 w 103"/>
              <a:gd name="T7" fmla="*/ 0 h 143"/>
              <a:gd name="T8" fmla="*/ 103 w 103"/>
              <a:gd name="T9" fmla="*/ 9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3" h="143">
                <a:moveTo>
                  <a:pt x="103" y="91"/>
                </a:moveTo>
                <a:cubicBezTo>
                  <a:pt x="103" y="120"/>
                  <a:pt x="80" y="143"/>
                  <a:pt x="51" y="143"/>
                </a:cubicBezTo>
                <a:cubicBezTo>
                  <a:pt x="23" y="143"/>
                  <a:pt x="0" y="120"/>
                  <a:pt x="0" y="91"/>
                </a:cubicBezTo>
                <a:cubicBezTo>
                  <a:pt x="0" y="63"/>
                  <a:pt x="51" y="0"/>
                  <a:pt x="51" y="0"/>
                </a:cubicBezTo>
                <a:cubicBezTo>
                  <a:pt x="51" y="0"/>
                  <a:pt x="103" y="63"/>
                  <a:pt x="103" y="91"/>
                </a:cubicBezTo>
                <a:close/>
              </a:path>
            </a:pathLst>
          </a:custGeom>
          <a:noFill/>
          <a:ln w="30163" cap="rnd">
            <a:solidFill>
              <a:srgbClr val="1F74AD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>
            <p:custDataLst>
              <p:tags r:id="rId4"/>
            </p:custDataLst>
          </p:nvPr>
        </p:nvSpPr>
        <p:spPr bwMode="auto">
          <a:xfrm>
            <a:off x="3965472" y="1540491"/>
            <a:ext cx="132213" cy="264426"/>
          </a:xfrm>
          <a:custGeom>
            <a:avLst/>
            <a:gdLst>
              <a:gd name="T0" fmla="*/ 0 w 34"/>
              <a:gd name="T1" fmla="*/ 13 h 68"/>
              <a:gd name="T2" fmla="*/ 9 w 34"/>
              <a:gd name="T3" fmla="*/ 0 h 68"/>
              <a:gd name="T4" fmla="*/ 34 w 34"/>
              <a:gd name="T5" fmla="*/ 44 h 68"/>
              <a:gd name="T6" fmla="*/ 15 w 34"/>
              <a:gd name="T7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68">
                <a:moveTo>
                  <a:pt x="0" y="13"/>
                </a:moveTo>
                <a:cubicBezTo>
                  <a:pt x="5" y="6"/>
                  <a:pt x="9" y="0"/>
                  <a:pt x="9" y="0"/>
                </a:cubicBezTo>
                <a:cubicBezTo>
                  <a:pt x="9" y="0"/>
                  <a:pt x="34" y="31"/>
                  <a:pt x="34" y="44"/>
                </a:cubicBezTo>
                <a:cubicBezTo>
                  <a:pt x="34" y="56"/>
                  <a:pt x="26" y="66"/>
                  <a:pt x="15" y="68"/>
                </a:cubicBezTo>
              </a:path>
            </a:pathLst>
          </a:custGeom>
          <a:noFill/>
          <a:ln w="30163" cap="rnd">
            <a:solidFill>
              <a:srgbClr val="1F74AD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" name="Freeform 244"/>
          <p:cNvSpPr/>
          <p:nvPr>
            <p:custDataLst>
              <p:tags r:id="rId5"/>
            </p:custDataLst>
          </p:nvPr>
        </p:nvSpPr>
        <p:spPr bwMode="auto">
          <a:xfrm>
            <a:off x="7843021" y="1714111"/>
            <a:ext cx="412487" cy="190054"/>
          </a:xfrm>
          <a:custGeom>
            <a:avLst/>
            <a:gdLst>
              <a:gd name="T0" fmla="*/ 42 w 124"/>
              <a:gd name="T1" fmla="*/ 0 h 57"/>
              <a:gd name="T2" fmla="*/ 8 w 124"/>
              <a:gd name="T3" fmla="*/ 0 h 57"/>
              <a:gd name="T4" fmla="*/ 0 w 124"/>
              <a:gd name="T5" fmla="*/ 8 h 57"/>
              <a:gd name="T6" fmla="*/ 0 w 124"/>
              <a:gd name="T7" fmla="*/ 49 h 57"/>
              <a:gd name="T8" fmla="*/ 8 w 124"/>
              <a:gd name="T9" fmla="*/ 57 h 57"/>
              <a:gd name="T10" fmla="*/ 124 w 124"/>
              <a:gd name="T11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" h="57">
                <a:moveTo>
                  <a:pt x="42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53"/>
                  <a:pt x="4" y="57"/>
                  <a:pt x="8" y="57"/>
                </a:cubicBezTo>
                <a:cubicBezTo>
                  <a:pt x="124" y="57"/>
                  <a:pt x="124" y="57"/>
                  <a:pt x="124" y="57"/>
                </a:cubicBezTo>
              </a:path>
            </a:pathLst>
          </a:custGeom>
          <a:noFill/>
          <a:ln w="30163" cap="rnd">
            <a:solidFill>
              <a:srgbClr val="3498DB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40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Freeform 245"/>
          <p:cNvSpPr/>
          <p:nvPr>
            <p:custDataLst>
              <p:tags r:id="rId6"/>
            </p:custDataLst>
          </p:nvPr>
        </p:nvSpPr>
        <p:spPr bwMode="auto">
          <a:xfrm>
            <a:off x="7889478" y="1487455"/>
            <a:ext cx="273114" cy="409670"/>
          </a:xfrm>
          <a:custGeom>
            <a:avLst/>
            <a:gdLst>
              <a:gd name="T0" fmla="*/ 80 w 82"/>
              <a:gd name="T1" fmla="*/ 40 h 123"/>
              <a:gd name="T2" fmla="*/ 44 w 82"/>
              <a:gd name="T3" fmla="*/ 3 h 123"/>
              <a:gd name="T4" fmla="*/ 32 w 82"/>
              <a:gd name="T5" fmla="*/ 3 h 123"/>
              <a:gd name="T6" fmla="*/ 3 w 82"/>
              <a:gd name="T7" fmla="*/ 32 h 123"/>
              <a:gd name="T8" fmla="*/ 3 w 82"/>
              <a:gd name="T9" fmla="*/ 44 h 123"/>
              <a:gd name="T10" fmla="*/ 82 w 82"/>
              <a:gd name="T11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" h="123">
                <a:moveTo>
                  <a:pt x="80" y="40"/>
                </a:moveTo>
                <a:cubicBezTo>
                  <a:pt x="44" y="3"/>
                  <a:pt x="44" y="3"/>
                  <a:pt x="44" y="3"/>
                </a:cubicBezTo>
                <a:cubicBezTo>
                  <a:pt x="41" y="0"/>
                  <a:pt x="35" y="0"/>
                  <a:pt x="32" y="3"/>
                </a:cubicBezTo>
                <a:cubicBezTo>
                  <a:pt x="3" y="32"/>
                  <a:pt x="3" y="32"/>
                  <a:pt x="3" y="32"/>
                </a:cubicBezTo>
                <a:cubicBezTo>
                  <a:pt x="0" y="35"/>
                  <a:pt x="0" y="41"/>
                  <a:pt x="3" y="44"/>
                </a:cubicBezTo>
                <a:cubicBezTo>
                  <a:pt x="82" y="123"/>
                  <a:pt x="82" y="123"/>
                  <a:pt x="82" y="123"/>
                </a:cubicBezTo>
              </a:path>
            </a:pathLst>
          </a:custGeom>
          <a:noFill/>
          <a:ln w="30163" cap="rnd">
            <a:solidFill>
              <a:srgbClr val="3498DB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Freeform 246"/>
          <p:cNvSpPr/>
          <p:nvPr>
            <p:custDataLst>
              <p:tags r:id="rId7"/>
            </p:custDataLst>
          </p:nvPr>
        </p:nvSpPr>
        <p:spPr bwMode="auto">
          <a:xfrm>
            <a:off x="8155553" y="1477601"/>
            <a:ext cx="190054" cy="426564"/>
          </a:xfrm>
          <a:custGeom>
            <a:avLst/>
            <a:gdLst>
              <a:gd name="T0" fmla="*/ 49 w 57"/>
              <a:gd name="T1" fmla="*/ 128 h 128"/>
              <a:gd name="T2" fmla="*/ 57 w 57"/>
              <a:gd name="T3" fmla="*/ 120 h 128"/>
              <a:gd name="T4" fmla="*/ 57 w 57"/>
              <a:gd name="T5" fmla="*/ 8 h 128"/>
              <a:gd name="T6" fmla="*/ 49 w 57"/>
              <a:gd name="T7" fmla="*/ 0 h 128"/>
              <a:gd name="T8" fmla="*/ 8 w 57"/>
              <a:gd name="T9" fmla="*/ 0 h 128"/>
              <a:gd name="T10" fmla="*/ 0 w 57"/>
              <a:gd name="T11" fmla="*/ 8 h 128"/>
              <a:gd name="T12" fmla="*/ 0 w 57"/>
              <a:gd name="T13" fmla="*/ 120 h 128"/>
              <a:gd name="T14" fmla="*/ 8 w 57"/>
              <a:gd name="T15" fmla="*/ 128 h 128"/>
              <a:gd name="T16" fmla="*/ 49 w 57"/>
              <a:gd name="T17" fmla="*/ 1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" h="128">
                <a:moveTo>
                  <a:pt x="49" y="128"/>
                </a:moveTo>
                <a:cubicBezTo>
                  <a:pt x="54" y="128"/>
                  <a:pt x="57" y="124"/>
                  <a:pt x="57" y="120"/>
                </a:cubicBezTo>
                <a:cubicBezTo>
                  <a:pt x="57" y="8"/>
                  <a:pt x="57" y="8"/>
                  <a:pt x="57" y="8"/>
                </a:cubicBezTo>
                <a:cubicBezTo>
                  <a:pt x="57" y="4"/>
                  <a:pt x="54" y="0"/>
                  <a:pt x="49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lnTo>
                  <a:pt x="49" y="128"/>
                </a:lnTo>
                <a:close/>
              </a:path>
            </a:pathLst>
          </a:custGeom>
          <a:noFill/>
          <a:ln w="30163" cap="rnd">
            <a:solidFill>
              <a:srgbClr val="3498DB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Oval 24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194972" y="1837998"/>
            <a:ext cx="29564" cy="29564"/>
          </a:xfrm>
          <a:prstGeom prst="ellipse">
            <a:avLst/>
          </a:prstGeom>
          <a:solidFill>
            <a:srgbClr val="03595D"/>
          </a:solidFill>
          <a:ln w="9525">
            <a:solidFill>
              <a:srgbClr val="3498DB"/>
            </a:solidFill>
            <a:round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Freeform 5"/>
          <p:cNvSpPr/>
          <p:nvPr>
            <p:custDataLst>
              <p:tags r:id="rId9"/>
            </p:custDataLst>
          </p:nvPr>
        </p:nvSpPr>
        <p:spPr bwMode="auto">
          <a:xfrm>
            <a:off x="3644133" y="4031139"/>
            <a:ext cx="376341" cy="379612"/>
          </a:xfrm>
          <a:custGeom>
            <a:avLst/>
            <a:gdLst>
              <a:gd name="T0" fmla="*/ 108 w 146"/>
              <a:gd name="T1" fmla="*/ 145 h 147"/>
              <a:gd name="T2" fmla="*/ 102 w 146"/>
              <a:gd name="T3" fmla="*/ 145 h 147"/>
              <a:gd name="T4" fmla="*/ 1 w 146"/>
              <a:gd name="T5" fmla="*/ 44 h 147"/>
              <a:gd name="T6" fmla="*/ 1 w 146"/>
              <a:gd name="T7" fmla="*/ 39 h 147"/>
              <a:gd name="T8" fmla="*/ 39 w 146"/>
              <a:gd name="T9" fmla="*/ 1 h 147"/>
              <a:gd name="T10" fmla="*/ 44 w 146"/>
              <a:gd name="T11" fmla="*/ 1 h 147"/>
              <a:gd name="T12" fmla="*/ 145 w 146"/>
              <a:gd name="T13" fmla="*/ 102 h 147"/>
              <a:gd name="T14" fmla="*/ 145 w 146"/>
              <a:gd name="T15" fmla="*/ 108 h 147"/>
              <a:gd name="T16" fmla="*/ 108 w 146"/>
              <a:gd name="T17" fmla="*/ 145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" h="147">
                <a:moveTo>
                  <a:pt x="108" y="145"/>
                </a:moveTo>
                <a:cubicBezTo>
                  <a:pt x="106" y="147"/>
                  <a:pt x="103" y="147"/>
                  <a:pt x="102" y="145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3"/>
                  <a:pt x="0" y="40"/>
                  <a:pt x="1" y="39"/>
                </a:cubicBezTo>
                <a:cubicBezTo>
                  <a:pt x="39" y="1"/>
                  <a:pt x="39" y="1"/>
                  <a:pt x="39" y="1"/>
                </a:cubicBezTo>
                <a:cubicBezTo>
                  <a:pt x="40" y="0"/>
                  <a:pt x="43" y="0"/>
                  <a:pt x="44" y="1"/>
                </a:cubicBezTo>
                <a:cubicBezTo>
                  <a:pt x="145" y="102"/>
                  <a:pt x="145" y="102"/>
                  <a:pt x="145" y="102"/>
                </a:cubicBezTo>
                <a:cubicBezTo>
                  <a:pt x="146" y="104"/>
                  <a:pt x="146" y="106"/>
                  <a:pt x="145" y="108"/>
                </a:cubicBezTo>
                <a:lnTo>
                  <a:pt x="108" y="145"/>
                </a:lnTo>
                <a:close/>
              </a:path>
            </a:pathLst>
          </a:custGeom>
          <a:noFill/>
          <a:ln w="30163" cap="rnd">
            <a:solidFill>
              <a:srgbClr val="1AA3AA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Freeform 6"/>
          <p:cNvSpPr/>
          <p:nvPr>
            <p:custDataLst>
              <p:tags r:id="rId10"/>
            </p:custDataLst>
          </p:nvPr>
        </p:nvSpPr>
        <p:spPr bwMode="auto">
          <a:xfrm>
            <a:off x="3697584" y="4331119"/>
            <a:ext cx="296709" cy="149445"/>
          </a:xfrm>
          <a:custGeom>
            <a:avLst/>
            <a:gdLst>
              <a:gd name="T0" fmla="*/ 104 w 115"/>
              <a:gd name="T1" fmla="*/ 12 h 58"/>
              <a:gd name="T2" fmla="*/ 114 w 115"/>
              <a:gd name="T3" fmla="*/ 21 h 58"/>
              <a:gd name="T4" fmla="*/ 114 w 115"/>
              <a:gd name="T5" fmla="*/ 27 h 58"/>
              <a:gd name="T6" fmla="*/ 84 w 115"/>
              <a:gd name="T7" fmla="*/ 57 h 58"/>
              <a:gd name="T8" fmla="*/ 78 w 115"/>
              <a:gd name="T9" fmla="*/ 57 h 58"/>
              <a:gd name="T10" fmla="*/ 23 w 115"/>
              <a:gd name="T11" fmla="*/ 2 h 58"/>
              <a:gd name="T12" fmla="*/ 18 w 115"/>
              <a:gd name="T13" fmla="*/ 2 h 58"/>
              <a:gd name="T14" fmla="*/ 0 w 115"/>
              <a:gd name="T15" fmla="*/ 19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" h="58">
                <a:moveTo>
                  <a:pt x="104" y="12"/>
                </a:moveTo>
                <a:cubicBezTo>
                  <a:pt x="114" y="21"/>
                  <a:pt x="114" y="21"/>
                  <a:pt x="114" y="21"/>
                </a:cubicBezTo>
                <a:cubicBezTo>
                  <a:pt x="115" y="23"/>
                  <a:pt x="115" y="26"/>
                  <a:pt x="114" y="27"/>
                </a:cubicBezTo>
                <a:cubicBezTo>
                  <a:pt x="84" y="57"/>
                  <a:pt x="84" y="57"/>
                  <a:pt x="84" y="57"/>
                </a:cubicBezTo>
                <a:cubicBezTo>
                  <a:pt x="82" y="58"/>
                  <a:pt x="80" y="58"/>
                  <a:pt x="78" y="57"/>
                </a:cubicBezTo>
                <a:cubicBezTo>
                  <a:pt x="23" y="2"/>
                  <a:pt x="23" y="2"/>
                  <a:pt x="23" y="2"/>
                </a:cubicBezTo>
                <a:cubicBezTo>
                  <a:pt x="22" y="0"/>
                  <a:pt x="19" y="0"/>
                  <a:pt x="18" y="2"/>
                </a:cubicBezTo>
                <a:cubicBezTo>
                  <a:pt x="0" y="19"/>
                  <a:pt x="0" y="19"/>
                  <a:pt x="0" y="19"/>
                </a:cubicBezTo>
              </a:path>
            </a:pathLst>
          </a:custGeom>
          <a:noFill/>
          <a:ln w="30163" cap="rnd">
            <a:solidFill>
              <a:srgbClr val="1AA3AA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Freeform 7"/>
          <p:cNvSpPr/>
          <p:nvPr>
            <p:custDataLst>
              <p:tags r:id="rId11"/>
            </p:custDataLst>
          </p:nvPr>
        </p:nvSpPr>
        <p:spPr bwMode="auto">
          <a:xfrm>
            <a:off x="3571046" y="4356209"/>
            <a:ext cx="158173" cy="158172"/>
          </a:xfrm>
          <a:custGeom>
            <a:avLst/>
            <a:gdLst>
              <a:gd name="T0" fmla="*/ 24 w 61"/>
              <a:gd name="T1" fmla="*/ 60 h 61"/>
              <a:gd name="T2" fmla="*/ 18 w 61"/>
              <a:gd name="T3" fmla="*/ 60 h 61"/>
              <a:gd name="T4" fmla="*/ 1 w 61"/>
              <a:gd name="T5" fmla="*/ 42 h 61"/>
              <a:gd name="T6" fmla="*/ 1 w 61"/>
              <a:gd name="T7" fmla="*/ 37 h 61"/>
              <a:gd name="T8" fmla="*/ 36 w 61"/>
              <a:gd name="T9" fmla="*/ 2 h 61"/>
              <a:gd name="T10" fmla="*/ 42 w 61"/>
              <a:gd name="T11" fmla="*/ 2 h 61"/>
              <a:gd name="T12" fmla="*/ 59 w 61"/>
              <a:gd name="T13" fmla="*/ 19 h 61"/>
              <a:gd name="T14" fmla="*/ 59 w 61"/>
              <a:gd name="T15" fmla="*/ 25 h 61"/>
              <a:gd name="T16" fmla="*/ 24 w 61"/>
              <a:gd name="T17" fmla="*/ 6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61">
                <a:moveTo>
                  <a:pt x="24" y="60"/>
                </a:moveTo>
                <a:cubicBezTo>
                  <a:pt x="23" y="61"/>
                  <a:pt x="20" y="61"/>
                  <a:pt x="18" y="60"/>
                </a:cubicBezTo>
                <a:cubicBezTo>
                  <a:pt x="1" y="42"/>
                  <a:pt x="1" y="42"/>
                  <a:pt x="1" y="42"/>
                </a:cubicBezTo>
                <a:cubicBezTo>
                  <a:pt x="0" y="41"/>
                  <a:pt x="0" y="38"/>
                  <a:pt x="1" y="37"/>
                </a:cubicBezTo>
                <a:cubicBezTo>
                  <a:pt x="36" y="2"/>
                  <a:pt x="36" y="2"/>
                  <a:pt x="36" y="2"/>
                </a:cubicBezTo>
                <a:cubicBezTo>
                  <a:pt x="38" y="0"/>
                  <a:pt x="40" y="0"/>
                  <a:pt x="42" y="2"/>
                </a:cubicBezTo>
                <a:cubicBezTo>
                  <a:pt x="59" y="19"/>
                  <a:pt x="59" y="19"/>
                  <a:pt x="59" y="19"/>
                </a:cubicBezTo>
                <a:cubicBezTo>
                  <a:pt x="61" y="21"/>
                  <a:pt x="61" y="23"/>
                  <a:pt x="59" y="25"/>
                </a:cubicBezTo>
                <a:lnTo>
                  <a:pt x="24" y="60"/>
                </a:lnTo>
                <a:close/>
              </a:path>
            </a:pathLst>
          </a:custGeom>
          <a:noFill/>
          <a:ln w="30163" cap="rnd">
            <a:solidFill>
              <a:srgbClr val="1AA3AA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Line 8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3945205" y="4333301"/>
            <a:ext cx="59997" cy="59996"/>
          </a:xfrm>
          <a:prstGeom prst="line">
            <a:avLst/>
          </a:prstGeom>
          <a:noFill/>
          <a:ln w="30163" cap="rnd">
            <a:solidFill>
              <a:srgbClr val="1AA3AA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Line 12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7999967" y="4040956"/>
            <a:ext cx="239985" cy="239985"/>
          </a:xfrm>
          <a:prstGeom prst="line">
            <a:avLst/>
          </a:prstGeom>
          <a:noFill/>
          <a:ln w="14288" cap="rnd">
            <a:solidFill>
              <a:srgbClr val="1F74AD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Freeform 125"/>
          <p:cNvSpPr/>
          <p:nvPr>
            <p:custDataLst>
              <p:tags r:id="rId14"/>
            </p:custDataLst>
          </p:nvPr>
        </p:nvSpPr>
        <p:spPr bwMode="auto">
          <a:xfrm>
            <a:off x="8226862" y="3999504"/>
            <a:ext cx="54542" cy="53452"/>
          </a:xfrm>
          <a:custGeom>
            <a:avLst/>
            <a:gdLst>
              <a:gd name="T0" fmla="*/ 50 w 50"/>
              <a:gd name="T1" fmla="*/ 26 h 49"/>
              <a:gd name="T2" fmla="*/ 24 w 50"/>
              <a:gd name="T3" fmla="*/ 49 h 49"/>
              <a:gd name="T4" fmla="*/ 0 w 50"/>
              <a:gd name="T5" fmla="*/ 26 h 49"/>
              <a:gd name="T6" fmla="*/ 24 w 50"/>
              <a:gd name="T7" fmla="*/ 0 h 49"/>
              <a:gd name="T8" fmla="*/ 50 w 50"/>
              <a:gd name="T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49">
                <a:moveTo>
                  <a:pt x="50" y="26"/>
                </a:moveTo>
                <a:lnTo>
                  <a:pt x="24" y="49"/>
                </a:lnTo>
                <a:lnTo>
                  <a:pt x="0" y="26"/>
                </a:lnTo>
                <a:lnTo>
                  <a:pt x="24" y="0"/>
                </a:lnTo>
                <a:lnTo>
                  <a:pt x="50" y="26"/>
                </a:lnTo>
                <a:close/>
              </a:path>
            </a:pathLst>
          </a:custGeom>
          <a:noFill/>
          <a:ln w="14288" cap="rnd">
            <a:solidFill>
              <a:srgbClr val="1F74AD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Freeform 126"/>
          <p:cNvSpPr/>
          <p:nvPr>
            <p:custDataLst>
              <p:tags r:id="rId15"/>
            </p:custDataLst>
          </p:nvPr>
        </p:nvSpPr>
        <p:spPr bwMode="auto">
          <a:xfrm>
            <a:off x="7958515" y="4267851"/>
            <a:ext cx="54542" cy="53452"/>
          </a:xfrm>
          <a:custGeom>
            <a:avLst/>
            <a:gdLst>
              <a:gd name="T0" fmla="*/ 50 w 50"/>
              <a:gd name="T1" fmla="*/ 23 h 49"/>
              <a:gd name="T2" fmla="*/ 26 w 50"/>
              <a:gd name="T3" fmla="*/ 49 h 49"/>
              <a:gd name="T4" fmla="*/ 0 w 50"/>
              <a:gd name="T5" fmla="*/ 23 h 49"/>
              <a:gd name="T6" fmla="*/ 26 w 50"/>
              <a:gd name="T7" fmla="*/ 0 h 49"/>
              <a:gd name="T8" fmla="*/ 50 w 50"/>
              <a:gd name="T9" fmla="*/ 23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49">
                <a:moveTo>
                  <a:pt x="50" y="23"/>
                </a:moveTo>
                <a:lnTo>
                  <a:pt x="26" y="49"/>
                </a:lnTo>
                <a:lnTo>
                  <a:pt x="0" y="23"/>
                </a:lnTo>
                <a:lnTo>
                  <a:pt x="26" y="0"/>
                </a:lnTo>
                <a:lnTo>
                  <a:pt x="50" y="23"/>
                </a:lnTo>
                <a:close/>
              </a:path>
            </a:pathLst>
          </a:custGeom>
          <a:noFill/>
          <a:ln w="14288" cap="rnd">
            <a:solidFill>
              <a:srgbClr val="1F74AD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Oval 12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107960" y="4148949"/>
            <a:ext cx="22908" cy="22908"/>
          </a:xfrm>
          <a:prstGeom prst="ellipse">
            <a:avLst/>
          </a:prstGeom>
          <a:solidFill>
            <a:srgbClr val="000000"/>
          </a:solidFill>
          <a:ln w="9525">
            <a:solidFill>
              <a:srgbClr val="1F74AD"/>
            </a:solidFill>
            <a:round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Oval 12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107960" y="4148949"/>
            <a:ext cx="22908" cy="22908"/>
          </a:xfrm>
          <a:prstGeom prst="ellipse">
            <a:avLst/>
          </a:prstGeom>
          <a:noFill/>
          <a:ln w="14288" cap="rnd">
            <a:solidFill>
              <a:srgbClr val="1F74AD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Freeform 129"/>
          <p:cNvSpPr/>
          <p:nvPr>
            <p:custDataLst>
              <p:tags r:id="rId18"/>
            </p:custDataLst>
          </p:nvPr>
        </p:nvSpPr>
        <p:spPr bwMode="auto">
          <a:xfrm>
            <a:off x="8054509" y="4094407"/>
            <a:ext cx="453790" cy="451609"/>
          </a:xfrm>
          <a:custGeom>
            <a:avLst/>
            <a:gdLst>
              <a:gd name="T0" fmla="*/ 88 w 176"/>
              <a:gd name="T1" fmla="*/ 175 h 175"/>
              <a:gd name="T2" fmla="*/ 0 w 176"/>
              <a:gd name="T3" fmla="*/ 88 h 175"/>
              <a:gd name="T4" fmla="*/ 88 w 176"/>
              <a:gd name="T5" fmla="*/ 0 h 175"/>
              <a:gd name="T6" fmla="*/ 176 w 176"/>
              <a:gd name="T7" fmla="*/ 88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" h="175">
                <a:moveTo>
                  <a:pt x="88" y="175"/>
                </a:moveTo>
                <a:cubicBezTo>
                  <a:pt x="39" y="175"/>
                  <a:pt x="0" y="136"/>
                  <a:pt x="0" y="88"/>
                </a:cubicBezTo>
                <a:cubicBezTo>
                  <a:pt x="0" y="39"/>
                  <a:pt x="39" y="0"/>
                  <a:pt x="88" y="0"/>
                </a:cubicBezTo>
                <a:cubicBezTo>
                  <a:pt x="136" y="0"/>
                  <a:pt x="176" y="39"/>
                  <a:pt x="176" y="88"/>
                </a:cubicBezTo>
              </a:path>
            </a:pathLst>
          </a:custGeom>
          <a:noFill/>
          <a:ln w="30163" cap="rnd">
            <a:solidFill>
              <a:srgbClr val="1F74AD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19"/>
            </p:custDataLst>
          </p:nvPr>
        </p:nvCxnSpPr>
        <p:spPr>
          <a:xfrm>
            <a:off x="6081990" y="3846813"/>
            <a:ext cx="0" cy="2357578"/>
          </a:xfrm>
          <a:prstGeom prst="line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52" name="ïşļiḓé"/>
          <p:cNvSpPr/>
          <p:nvPr>
            <p:custDataLst>
              <p:tags r:id="rId20"/>
            </p:custDataLst>
          </p:nvPr>
        </p:nvSpPr>
        <p:spPr bwMode="auto">
          <a:xfrm>
            <a:off x="2246444" y="2631860"/>
            <a:ext cx="3135298" cy="113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与计算机专业紧密相关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前沿技术领域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参与实际项目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íṡḻîďé"/>
          <p:cNvSpPr txBox="1"/>
          <p:nvPr>
            <p:custDataLst>
              <p:tags r:id="rId21"/>
            </p:custDataLst>
          </p:nvPr>
        </p:nvSpPr>
        <p:spPr bwMode="auto">
          <a:xfrm>
            <a:off x="2246444" y="2200269"/>
            <a:ext cx="3135297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 fontScale="75000" lnSpcReduction="10000"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rgbClr val="3498DB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(1)实习内容要求</a:t>
            </a:r>
            <a:endParaRPr lang="zh-CN" altLang="en-US" sz="2400" kern="0" spc="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ïşļiḓé"/>
          <p:cNvSpPr/>
          <p:nvPr>
            <p:custDataLst>
              <p:tags r:id="rId22"/>
            </p:custDataLst>
          </p:nvPr>
        </p:nvSpPr>
        <p:spPr bwMode="auto">
          <a:xfrm>
            <a:off x="6595110" y="2632075"/>
            <a:ext cx="4360545" cy="113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遵守实习单位的安全规定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按照要求办理实习申请和请假手续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实习时长不得少于16教学周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缺勤累计超过三分之一的，不得参加考核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íṡḻîďé"/>
          <p:cNvSpPr txBox="1"/>
          <p:nvPr>
            <p:custDataLst>
              <p:tags r:id="rId23"/>
            </p:custDataLst>
          </p:nvPr>
        </p:nvSpPr>
        <p:spPr bwMode="auto">
          <a:xfrm>
            <a:off x="6594942" y="2200269"/>
            <a:ext cx="3135289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 fontScale="75000" lnSpcReduction="10000"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rgbClr val="3498DB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(2)实习纪律要求</a:t>
            </a:r>
            <a:endParaRPr lang="zh-CN" altLang="en-US" sz="2400" kern="0" spc="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ïşļiḓé"/>
          <p:cNvSpPr/>
          <p:nvPr>
            <p:custDataLst>
              <p:tags r:id="rId24"/>
            </p:custDataLst>
          </p:nvPr>
        </p:nvSpPr>
        <p:spPr bwMode="auto">
          <a:xfrm>
            <a:off x="6595275" y="5080972"/>
            <a:ext cx="3135298" cy="113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实习单位和学院指导教师共同参与学生的实习评价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定期提交实习阶段小结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结束提交详细的实习总结报告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íṡḻîďé"/>
          <p:cNvSpPr txBox="1"/>
          <p:nvPr>
            <p:custDataLst>
              <p:tags r:id="rId25"/>
            </p:custDataLst>
          </p:nvPr>
        </p:nvSpPr>
        <p:spPr bwMode="auto">
          <a:xfrm>
            <a:off x="6595274" y="4649381"/>
            <a:ext cx="3135297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 fontScale="75000" lnSpcReduction="10000"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rgbClr val="3498DB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实习考核要求</a:t>
            </a:r>
            <a:endParaRPr lang="zh-CN" altLang="en-US" sz="2400" kern="0" spc="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ïşļiḓé"/>
          <p:cNvSpPr/>
          <p:nvPr>
            <p:custDataLst>
              <p:tags r:id="rId26"/>
            </p:custDataLst>
          </p:nvPr>
        </p:nvSpPr>
        <p:spPr bwMode="auto">
          <a:xfrm>
            <a:off x="2228215" y="5081270"/>
            <a:ext cx="3853180" cy="113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购买</a:t>
            </a:r>
            <a:r>
              <a:rPr lang="zh-CN" altLang="en-US" sz="1400" b="1" kern="0" spc="15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保费不低于100元的意外险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增强自我保护意识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严格执行操作规程，防止意外发生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spc="150">
                <a:latin typeface="微软雅黑" panose="020B0503020204020204" charset="-122"/>
                <a:ea typeface="微软雅黑" panose="020B0503020204020204" charset="-122"/>
              </a:rPr>
              <a:t>定时反馈实习期间的工作状态</a:t>
            </a:r>
            <a:endParaRPr lang="zh-CN" altLang="en-US" sz="1400" kern="0" spc="1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íṡḻîďé"/>
          <p:cNvSpPr txBox="1"/>
          <p:nvPr>
            <p:custDataLst>
              <p:tags r:id="rId27"/>
            </p:custDataLst>
          </p:nvPr>
        </p:nvSpPr>
        <p:spPr bwMode="auto">
          <a:xfrm>
            <a:off x="2228112" y="4649381"/>
            <a:ext cx="3135297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 fontScale="75000" lnSpcReduction="10000"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rgbClr val="3498DB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kern="0" spc="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(3)实习安全要求</a:t>
            </a:r>
            <a:endParaRPr lang="zh-CN" altLang="en-US" sz="2400" kern="0" spc="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实习的类型和任务</a:t>
            </a:r>
            <a:endParaRPr lang="zh-CN" altLang="en-US"/>
          </a:p>
        </p:txBody>
      </p:sp>
      <p:graphicFrame>
        <p:nvGraphicFramePr>
          <p:cNvPr id="4" name="图示 3"/>
          <p:cNvGraphicFramePr/>
          <p:nvPr/>
        </p:nvGraphicFramePr>
        <p:xfrm>
          <a:off x="1295400" y="1233170"/>
          <a:ext cx="9601200" cy="4333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t>实习</a:t>
            </a:r>
            <a:r>
              <a:t>旅程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rcRect t="18750"/>
          <a:stretch>
            <a:fillRect/>
          </a:stretch>
        </p:blipFill>
        <p:spPr>
          <a:xfrm>
            <a:off x="857250" y="775335"/>
            <a:ext cx="10801350" cy="71304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实习工作进度安排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95960" y="1303020"/>
          <a:ext cx="10800715" cy="4872990"/>
        </p:xfrm>
        <a:graphic>
          <a:graphicData uri="http://schemas.openxmlformats.org/drawingml/2006/table">
            <a:tbl>
              <a:tblPr/>
              <a:tblGrid>
                <a:gridCol w="1399540"/>
                <a:gridCol w="862330"/>
                <a:gridCol w="977900"/>
                <a:gridCol w="3477895"/>
                <a:gridCol w="4083050"/>
              </a:tblGrid>
              <a:tr h="4857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时间进度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阶段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实习类型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内容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支撑材料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3751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第7学期第3教学周之前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实习准备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企业实习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1.获取实习信息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2.参加实习宣讲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3.参加笔面试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4.获得实习录用证明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5.向学院提起实习申请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附件1：实习申请书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附件2：实习承诺书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附件3：实习岗位申请过程记录单附件4：企业信息介绍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附件5：实习协议或实习录用通知（加盖单位公章）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附件6：个人意外伤害险凭证（应覆盖整个实习期间）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970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科研实践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1.与科研指导老师确定双选意向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2.确定研究题目与研究计划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3.向学院提起实习申请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附件1：实习申请书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附件2：实习承诺书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附件7：科学研究实践工作计划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实习工作进度安排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95325" y="1240155"/>
          <a:ext cx="10800715" cy="4937125"/>
        </p:xfrm>
        <a:graphic>
          <a:graphicData uri="http://schemas.openxmlformats.org/drawingml/2006/table">
            <a:tbl>
              <a:tblPr/>
              <a:tblGrid>
                <a:gridCol w="1399540"/>
                <a:gridCol w="861695"/>
                <a:gridCol w="963295"/>
                <a:gridCol w="3493135"/>
                <a:gridCol w="4083050"/>
              </a:tblGrid>
              <a:tr h="1185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时间进度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阶段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实习类型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内容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支撑材料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7421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第7学期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不少于16周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实习实施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企业实习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1.在企业按照工作要求完成工作内容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定期向学院汇报实习期间的工作情况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按月提交附件9：实习阶段小结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（共4次）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736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科研实践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1.在指导老师的指导下开展科学研究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定期向指导老师汇报科研进度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实习工作进度安排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95325" y="1240790"/>
          <a:ext cx="10800715" cy="4936490"/>
        </p:xfrm>
        <a:graphic>
          <a:graphicData uri="http://schemas.openxmlformats.org/drawingml/2006/table">
            <a:tbl>
              <a:tblPr/>
              <a:tblGrid>
                <a:gridCol w="1399540"/>
                <a:gridCol w="861695"/>
                <a:gridCol w="963295"/>
                <a:gridCol w="3493135"/>
                <a:gridCol w="4083050"/>
              </a:tblGrid>
              <a:tr h="1184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时间进度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阶段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实习类型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内容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支撑材料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7421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第7学期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第19教学周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实习结束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企业实习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1.由实习单位出具实习证明并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评价学生实习表现</a:t>
                      </a:r>
                      <a:endParaRPr 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总结实习期间的工作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附件10：实习信息反馈表（实习单位填写，评价学生实习情况并打分）附件11：实习工作总结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736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科研实践</a:t>
                      </a:r>
                      <a:endParaRPr lang="en-US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1.由指导老师出具实习证明并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评价学生实习表现</a:t>
                      </a:r>
                      <a:endParaRPr 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2.总结实习期间的工作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/>
          <a:p>
            <a:pPr>
              <a:lnSpc>
                <a:spcPct val="200000"/>
              </a:lnSpc>
            </a:pPr>
            <a:r>
              <a:rPr lang="zh-CN" altLang="en-US" sz="2400"/>
              <a:t>附件1：实习申请书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/>
              <a:t>明确实习意向和承诺</a:t>
            </a:r>
            <a:endParaRPr lang="zh-CN" altLang="en-US" sz="189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</a:rPr>
              <a:t>作为实习申请的正式记录。</a:t>
            </a:r>
            <a:endParaRPr lang="zh-CN" altLang="en-US" sz="1890" b="1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8680" y="1158240"/>
            <a:ext cx="7165975" cy="46170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168265" cy="5134610"/>
          </a:xfrm>
        </p:spPr>
        <p:txBody>
          <a:bodyPr>
            <a:normAutofit fontScale="90000" lnSpcReduction="10000"/>
          </a:bodyPr>
          <a:p>
            <a:pPr>
              <a:lnSpc>
                <a:spcPct val="200000"/>
              </a:lnSpc>
            </a:pPr>
            <a:r>
              <a:rPr lang="zh-CN" altLang="en-US" sz="2400"/>
              <a:t>附件2：实习承诺书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/>
              <a:t>承诺遵守实习纪律和相关规定，确保实习期间的行为符合学院和实习单位的要求。</a:t>
            </a:r>
            <a:endParaRPr lang="zh-CN" altLang="en-US" sz="189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</a:rPr>
              <a:t>详细准确的告知家长外出实习的相关信息，确保家长知晓学生状态。</a:t>
            </a:r>
            <a:endParaRPr lang="zh-CN" altLang="en-US" sz="1890" b="1">
              <a:solidFill>
                <a:srgbClr val="FF0000"/>
              </a:solidFill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2300" b="1">
                <a:solidFill>
                  <a:srgbClr val="FF0000"/>
                </a:solidFill>
              </a:rPr>
              <a:t>由家长本人亲签</a:t>
            </a:r>
            <a:r>
              <a:rPr lang="zh-CN" altLang="en-US" sz="1890" b="1">
                <a:solidFill>
                  <a:srgbClr val="FF0000"/>
                </a:solidFill>
              </a:rPr>
              <a:t>，</a:t>
            </a:r>
            <a:r>
              <a:rPr lang="zh-CN" altLang="en-US" sz="1890" b="1">
                <a:solidFill>
                  <a:schemeClr val="tx1">
                    <a:lumMod val="65000"/>
                    <a:lumOff val="35000"/>
                  </a:schemeClr>
                </a:solidFill>
              </a:rPr>
              <a:t>并添加内容“家长xxx已知晓学生xxx的外出实习及毕业设计相关事宜，同意以上承诺”。</a:t>
            </a:r>
            <a:endParaRPr lang="zh-CN" altLang="en-US" sz="189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05825" y="836930"/>
            <a:ext cx="3686175" cy="5953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50585" y="776605"/>
            <a:ext cx="3933825" cy="58864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/>
          <a:p>
            <a:pPr>
              <a:lnSpc>
                <a:spcPct val="200000"/>
              </a:lnSpc>
            </a:pPr>
            <a:r>
              <a:rPr lang="zh-CN" altLang="en-US" sz="2400"/>
              <a:t>附件3：实习岗位申请过程记录单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/>
              <a:t>记录学生从实习工作开始到获得实习岗位期间的全过程，包括参加宣讲会、投递简历、参加笔面试的过程，</a:t>
            </a:r>
            <a:endParaRPr lang="zh-CN" altLang="en-US" sz="189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</a:rPr>
              <a:t>附学生求职简历</a:t>
            </a:r>
            <a:endParaRPr lang="zh-CN" altLang="en-US" sz="1890" b="1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4865" y="250190"/>
            <a:ext cx="4496435" cy="63576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/>
          <a:p>
            <a:pPr>
              <a:lnSpc>
                <a:spcPct val="200000"/>
              </a:lnSpc>
            </a:pPr>
            <a:r>
              <a:rPr lang="zh-CN" altLang="en-US" sz="2400"/>
              <a:t>附件4：企业信息介绍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/>
              <a:t>介绍即将实习企业的基本情况，企业文化、企业发布的招聘通知及实习岗位要求等。</a:t>
            </a:r>
            <a:endParaRPr lang="zh-CN" altLang="en-US" sz="189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</a:rPr>
              <a:t>通过“国家企业信用信息公示系统”查询公司注册信息结果确保实习单位正规</a:t>
            </a:r>
            <a:r>
              <a:rPr lang="zh-CN" altLang="en-US" sz="1890"/>
              <a:t>。</a:t>
            </a:r>
            <a:endParaRPr lang="zh-CN" altLang="en-US" sz="1890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3640" y="1568450"/>
            <a:ext cx="5392420" cy="339471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182360" y="2619375"/>
            <a:ext cx="5514340" cy="4648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附件5：实习协议或实习录用通知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由单位提供的可证明学生已被该单位接收的正式文件。</a:t>
            </a:r>
            <a:endParaRPr lang="zh-CN" altLang="en-US" sz="1890"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体现实习工作岗位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体现实习开始结束日期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加盖单位公章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1" b="27777"/>
          <a:stretch>
            <a:fillRect/>
          </a:stretch>
        </p:blipFill>
        <p:spPr>
          <a:xfrm>
            <a:off x="6002020" y="1282065"/>
            <a:ext cx="3402965" cy="344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839835" y="360045"/>
            <a:ext cx="3352165" cy="54133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附件6：个人意外伤害险凭证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保费不低于100元的意外伤害险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确保实习生在整个实习期间享有必要的保险保障，降低实习过程中可能发生的风险。</a:t>
            </a:r>
            <a:endParaRPr lang="zh-CN" altLang="en-US" sz="1890">
              <a:sym typeface="+mn-ea"/>
            </a:endParaRPr>
          </a:p>
          <a:p>
            <a:pPr marL="457200" lvl="1" indent="0">
              <a:lnSpc>
                <a:spcPct val="200000"/>
              </a:lnSpc>
              <a:buFont typeface="Wingdings" panose="05000000000000000000" charset="0"/>
              <a:buNone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419735" y="360045"/>
            <a:ext cx="11418570" cy="6497320"/>
            <a:chOff x="661" y="567"/>
            <a:chExt cx="17982" cy="10232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961" y="567"/>
              <a:ext cx="17682" cy="10232"/>
            </a:xfrm>
            <a:prstGeom prst="rect">
              <a:avLst/>
            </a:prstGeom>
          </p:spPr>
        </p:pic>
        <p:sp>
          <p:nvSpPr>
            <p:cNvPr id="5" name="圆角矩形 4"/>
            <p:cNvSpPr/>
            <p:nvPr/>
          </p:nvSpPr>
          <p:spPr>
            <a:xfrm>
              <a:off x="661" y="6638"/>
              <a:ext cx="6205" cy="113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663" y="8613"/>
              <a:ext cx="12338" cy="113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附件7：科学研究实践工作计划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保费不低于100元的意外伤害险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指导学生如何规划和实施科学研究实践项目，提升科研能力和实践技能。</a:t>
            </a:r>
            <a:endParaRPr lang="zh-CN" altLang="en-US" sz="1890">
              <a:sym typeface="+mn-ea"/>
            </a:endParaRPr>
          </a:p>
          <a:p>
            <a:pPr marL="457200" lvl="1" indent="0">
              <a:lnSpc>
                <a:spcPct val="200000"/>
              </a:lnSpc>
              <a:buFont typeface="Wingdings" panose="05000000000000000000" charset="0"/>
              <a:buNone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66230" y="360045"/>
            <a:ext cx="4497070" cy="6451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附件9：实习阶段小结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学生在实习中期需提交的小结报告，反映实习进展和收获，作为实习评价的重要依据。</a:t>
            </a:r>
            <a:endParaRPr lang="zh-CN" altLang="en-US" sz="1890"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共提交</a:t>
            </a:r>
            <a:r>
              <a:rPr lang="en-US" altLang="zh-CN" sz="1890" b="1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1890" b="1">
                <a:solidFill>
                  <a:srgbClr val="FF0000"/>
                </a:solidFill>
                <a:sym typeface="+mn-ea"/>
              </a:rPr>
              <a:t>次，附</a:t>
            </a:r>
            <a:r>
              <a:rPr lang="zh-CN" altLang="en-US" sz="1890" b="1">
                <a:solidFill>
                  <a:srgbClr val="FF0000"/>
                </a:solidFill>
                <a:sym typeface="+mn-ea"/>
              </a:rPr>
              <a:t>本阶段工作场景照片和个人工作照片。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87845" y="819150"/>
            <a:ext cx="4362450" cy="5610225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686560" y="5234940"/>
            <a:ext cx="2550795" cy="145034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4"/>
          <a:srcRect t="27594" b="17721"/>
          <a:stretch>
            <a:fillRect/>
          </a:stretch>
        </p:blipFill>
        <p:spPr>
          <a:xfrm>
            <a:off x="4552315" y="5234940"/>
            <a:ext cx="2335530" cy="1450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附件10：实习信息反馈表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用于实习单位对实习生表现的正式反馈，是实习评价的重要组成部分，有助于学院了解学生的实习表现。</a:t>
            </a:r>
            <a:endParaRPr lang="zh-CN" altLang="en-US" sz="1890"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实习单位为实习生打分，企业负责人签字</a:t>
            </a:r>
            <a:r>
              <a:rPr lang="zh-CN" altLang="en-US" sz="1890" b="1">
                <a:solidFill>
                  <a:srgbClr val="FF0000"/>
                </a:solidFill>
                <a:sym typeface="+mn-ea"/>
              </a:rPr>
              <a:t>盖章。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43040" y="685165"/>
            <a:ext cx="4953000" cy="58769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158240"/>
            <a:ext cx="5400040" cy="4931410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zh-CN" altLang="en-US" sz="2400"/>
              <a:t>附件11：实习工作总结</a:t>
            </a:r>
            <a:endParaRPr lang="zh-CN" altLang="en-US" sz="2400"/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>
                <a:sym typeface="+mn-ea"/>
              </a:rPr>
              <a:t>学生在实习结束后需提交的总结报告，全面反映实习经历和学习成果</a:t>
            </a:r>
            <a:endParaRPr lang="zh-CN" altLang="en-US" sz="1890"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作为实习成果的总结和展示。附</a:t>
            </a:r>
            <a:r>
              <a:rPr lang="en-US" altLang="zh-CN" sz="1890" b="1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1890" b="1">
                <a:solidFill>
                  <a:srgbClr val="FF0000"/>
                </a:solidFill>
                <a:sym typeface="+mn-ea"/>
              </a:rPr>
              <a:t>个月的实习照片</a:t>
            </a:r>
            <a:endParaRPr lang="zh-CN" altLang="en-US" sz="1890"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890" b="1">
                <a:solidFill>
                  <a:srgbClr val="FF0000"/>
                </a:solidFill>
                <a:sym typeface="+mn-ea"/>
              </a:rPr>
              <a:t>计算机学院为实习生打分。</a:t>
            </a:r>
            <a:endParaRPr lang="zh-CN" altLang="en-US" sz="1890" b="1">
              <a:solidFill>
                <a:srgbClr val="FF0000"/>
              </a:solidFill>
              <a:sym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charset="0"/>
              <a:buChar char="ü"/>
            </a:pPr>
            <a:endParaRPr lang="zh-CN" altLang="en-US" sz="189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附件解读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53200" y="528320"/>
            <a:ext cx="4294505" cy="63328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960" y="1245235"/>
            <a:ext cx="10800080" cy="573151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000"/>
              <a:t>（一）优秀：</a:t>
            </a:r>
            <a:r>
              <a:rPr lang="zh-CN" altLang="en-US" sz="2000" b="1">
                <a:solidFill>
                  <a:schemeClr val="tx1"/>
                </a:solidFill>
              </a:rPr>
              <a:t>实习态度端正</a:t>
            </a:r>
            <a:r>
              <a:rPr lang="zh-CN" altLang="en-US" sz="2000"/>
              <a:t>，无缺勤和违纪现象，实习期间刻苦、勤奋，工作积极主动；实际操作能力强，理论联系实际好，</a:t>
            </a:r>
            <a:r>
              <a:rPr lang="zh-CN" altLang="en-US" sz="2000" b="1">
                <a:solidFill>
                  <a:srgbClr val="FF0000"/>
                </a:solidFill>
              </a:rPr>
              <a:t>完全达到实习要求</a:t>
            </a:r>
            <a:r>
              <a:rPr lang="zh-CN" altLang="en-US" sz="2000"/>
              <a:t>；</a:t>
            </a:r>
            <a:r>
              <a:rPr lang="zh-CN" altLang="en-US" sz="2000" b="1">
                <a:solidFill>
                  <a:srgbClr val="FF0000"/>
                </a:solidFill>
              </a:rPr>
              <a:t>实习报告全面、系统、质量高。</a:t>
            </a:r>
            <a:endParaRPr lang="zh-CN" altLang="en-US" sz="2000" b="1">
              <a:solidFill>
                <a:srgbClr val="FF0000"/>
              </a:solidFill>
            </a:endParaRPr>
          </a:p>
          <a:p>
            <a:pPr lvl="1"/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实习结束后与实习单位签订三方协议并提交到院学管部的，考核等次为优秀。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 sz="2000"/>
              <a:t>（二）良好：实习态度端正，无违纪现象，实习期间工作积极主动；具备一定的实际操作能力，能理论联系实际，</a:t>
            </a:r>
            <a:r>
              <a:rPr lang="zh-CN" altLang="en-US" sz="2000" b="1">
                <a:solidFill>
                  <a:srgbClr val="FF0000"/>
                </a:solidFill>
              </a:rPr>
              <a:t>达到实习要求</a:t>
            </a:r>
            <a:r>
              <a:rPr lang="zh-CN" altLang="en-US" sz="2000"/>
              <a:t>。</a:t>
            </a:r>
            <a:r>
              <a:rPr lang="zh-CN" altLang="en-US" sz="2000" b="1">
                <a:solidFill>
                  <a:srgbClr val="FF0000"/>
                </a:solidFill>
              </a:rPr>
              <a:t>实习报告全面、系统。</a:t>
            </a:r>
            <a:endParaRPr lang="zh-CN" altLang="en-US" sz="20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/>
              <a:t>（三）中等：实习态度比较端正，无违纪现象，实习期间工作比较主动；有一定的实际操作能力，</a:t>
            </a:r>
            <a:r>
              <a:rPr lang="zh-CN" altLang="en-US" sz="2000" b="1">
                <a:solidFill>
                  <a:srgbClr val="FF0000"/>
                </a:solidFill>
              </a:rPr>
              <a:t>基本达到实习要求；实习报告比较全面。</a:t>
            </a:r>
            <a:endParaRPr lang="zh-CN" altLang="en-US" sz="20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/>
              <a:t>（四）及格：实习态度基本端正，无严重违纪现象，实习期间能服从安排；可以完成基本的实际操作，</a:t>
            </a:r>
            <a:r>
              <a:rPr lang="zh-CN" altLang="en-US" sz="2000" b="1">
                <a:solidFill>
                  <a:srgbClr val="FF0000"/>
                </a:solidFill>
              </a:rPr>
              <a:t>能达到实习的基本要求；能完成实习报告，内容基本正确。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zh-CN" altLang="en-US"/>
              <a:t>实习成绩评定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/>
              <a:t>（五）不及格：凡属下列情况之一者均为不及格。</a:t>
            </a:r>
            <a:endParaRPr lang="zh-CN" altLang="en-US" sz="2400"/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1.未达到及格要求者；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2.抄袭实习成果者；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3.未参加实习的时间超过全部实习时间的三分之一以上者；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4.实习中有违纪行为，经教育不改，或有严重违纪行为。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/>
              <a:t>（六）不及格学生的处理</a:t>
            </a:r>
            <a:endParaRPr lang="zh-CN" altLang="en-US" sz="2400"/>
          </a:p>
          <a:p>
            <a:pPr lvl="1"/>
            <a:r>
              <a:rPr lang="zh-CN" altLang="en-US" sz="2400" b="1">
                <a:solidFill>
                  <a:srgbClr val="FF0000"/>
                </a:solidFill>
              </a:rPr>
              <a:t>必须重新实习</a:t>
            </a:r>
            <a:endParaRPr lang="zh-CN" altLang="en-US" sz="2400" b="1">
              <a:solidFill>
                <a:srgbClr val="FF0000"/>
              </a:solidFill>
            </a:endParaRPr>
          </a:p>
          <a:p>
            <a:pPr lvl="1"/>
            <a:r>
              <a:rPr lang="zh-CN" altLang="en-US" sz="2400" b="1">
                <a:solidFill>
                  <a:srgbClr val="FF0000"/>
                </a:solidFill>
              </a:rPr>
              <a:t>若在第七学期结束前与用人单位签订三方协议并提交到院学管部的，可免于重新学习。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ym typeface="+mn-ea"/>
              </a:rPr>
              <a:t>实习成绩评定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418715" y="1901190"/>
            <a:ext cx="8250555" cy="1705610"/>
          </a:xfrm>
        </p:spPr>
        <p:txBody>
          <a:bodyPr/>
          <a:lstStyle/>
          <a:p>
            <a:r>
              <a:rPr lang="zh-CN" altLang="en-US" dirty="0"/>
              <a:t>THANK  YOU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970405" y="4375150"/>
            <a:ext cx="8021320" cy="656590"/>
          </a:xfrm>
        </p:spPr>
        <p:txBody>
          <a:bodyPr>
            <a:noAutofit/>
          </a:bodyPr>
          <a:lstStyle/>
          <a:p>
            <a:r>
              <a:rPr lang="zh-CN" altLang="en-US" sz="900"/>
              <a:t>本管理办法自发布之日起正式生效。为确保实习教学活动与时代发展同步，学院将密切关注教育部门的最新政策动态，并结合实习教学的实际运行情况，适时对本办法进行必要的修订和完善。我们致力于通过持续改进，提升实习管理的科学性和实效性。</a:t>
            </a:r>
            <a:endParaRPr lang="zh-CN" altLang="en-US" sz="900"/>
          </a:p>
          <a:p>
            <a:r>
              <a:rPr lang="zh-CN" altLang="en-US" sz="900"/>
              <a:t>本办法自发布之日起施行，由计算机学院教学管理部和学生管理部负责解释。</a:t>
            </a:r>
            <a:endParaRPr lang="zh-CN" altLang="en-US" sz="9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10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</p:tagLst>
</file>

<file path=ppt/tags/tag101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8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PRESET_TEXT" val="单击此处添加文本"/>
  <p:tag name="KSO_WM_UNIT_TEXT_TYPE" val="1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8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UNIT_TEXT_TYPE" val="1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8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PRESET_TEXT" val="单击此处添加文本"/>
  <p:tag name="KSO_WM_UNIT_TEXT_TYPE" val="1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633_5*l_i*1_1"/>
  <p:tag name="KSO_WM_TEMPLATE_CATEGORY" val="diagram"/>
  <p:tag name="KSO_WM_TEMPLATE_INDEX" val="633"/>
  <p:tag name="KSO_WM_UNIT_LAYERLEVEL" val="1_1"/>
  <p:tag name="KSO_WM_TAG_VERSION" val="1.0"/>
  <p:tag name="KSO_WM_BEAUTIFY_FLAG" val="#wm#"/>
  <p:tag name="KSO_WM_UNIT_LINE_FORE_SCHEMECOLOR_INDEX" val="14"/>
  <p:tag name="KSO_WM_UNIT_LINE_FILL_TYPE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633_5*l_i*1_2"/>
  <p:tag name="KSO_WM_TEMPLATE_CATEGORY" val="diagram"/>
  <p:tag name="KSO_WM_TEMPLATE_INDEX" val="633"/>
  <p:tag name="KSO_WM_UNIT_LAYERLEVEL" val="1_1"/>
  <p:tag name="KSO_WM_TAG_VERSION" val="1.0"/>
  <p:tag name="KSO_WM_BEAUTIFY_FLAG" val="#wm#"/>
  <p:tag name="KSO_WM_UNIT_LINE_FORE_SCHEMECOLOR_INDEX" val="14"/>
  <p:tag name="KSO_WM_UNIT_LINE_FILL_TYPE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633_5*l_h_i*1_1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633_5*l_h_i*1_1_2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633_5*l_h_i*1_2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633_5*l_h_i*1_2_2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633_5*l_h_i*1_2_3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633_5*l_h_i*1_2_4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633_5*l_h_i*1_4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633_5*l_h_i*1_4_2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633_5*l_h_i*1_4_3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633_5*l_h_i*1_4_4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633_5*l_h_i*1_5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633_5*l_h_i*1_5_2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633_5*l_h_i*1_5_3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4"/>
  <p:tag name="KSO_WM_UNIT_ID" val="diagram633_5*l_h_i*1_5_4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5"/>
  <p:tag name="KSO_WM_UNIT_ID" val="diagram633_5*l_h_i*1_5_5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6"/>
  <p:tag name="KSO_WM_UNIT_ID" val="diagram633_5*l_h_i*1_5_6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2"/>
  <p:tag name="KSO_WM_UNIT_ID" val="diagram633_5*l_i*1_22"/>
  <p:tag name="KSO_WM_TEMPLATE_CATEGORY" val="diagram"/>
  <p:tag name="KSO_WM_TEMPLATE_INDEX" val="633"/>
  <p:tag name="KSO_WM_UNIT_LAYERLEVEL" val="1_1"/>
  <p:tag name="KSO_WM_TAG_VERSION" val="1.0"/>
  <p:tag name="KSO_WM_BEAUTIFY_FLAG" val="#wm#"/>
  <p:tag name="KSO_WM_UNIT_LINE_FORE_SCHEMECOLOR_INDEX" val="14"/>
  <p:tag name="KSO_WM_UNIT_LINE_FILL_TYPE" val="2"/>
</p:tagLst>
</file>

<file path=ppt/tags/tag126.xml><?xml version="1.0" encoding="utf-8"?>
<p:tagLst xmlns:p="http://schemas.openxmlformats.org/presentationml/2006/main"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633_5*l_h_f*1_1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27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633_5*l_h_a*1_1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633_5*l_h_f*1_2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29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633_5*l_h_a*1_2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30.xml><?xml version="1.0" encoding="utf-8"?>
<p:tagLst xmlns:p="http://schemas.openxmlformats.org/presentationml/2006/main"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633_5*l_h_f*1_4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633_5*l_h_a*1_4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633_5*l_h_f*1_3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633_5*l_h_a*1_3_1"/>
  <p:tag name="KSO_WM_TEMPLATE_CATEGORY" val="diagram"/>
  <p:tag name="KSO_WM_TEMPLATE_INDEX" val="6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  <p:tag name="resource_record_key" val="{&quot;29&quot;:[50000153],&quot;65&quot;:[20230314]}"/>
</p:tagLst>
</file>

<file path=ppt/tags/tag138.xml><?xml version="1.0" encoding="utf-8"?>
<p:tagLst xmlns:p="http://schemas.openxmlformats.org/presentationml/2006/main">
  <p:tag name="TABLE_ENDDRAG_ORIGIN_RECT" val="850*383"/>
  <p:tag name="TABLE_ENDDRAG_RECT" val="54*102*850*383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0.xml><?xml version="1.0" encoding="utf-8"?>
<p:tagLst xmlns:p="http://schemas.openxmlformats.org/presentationml/2006/main">
  <p:tag name="TABLE_ENDDRAG_ORIGIN_RECT" val="850*364"/>
  <p:tag name="TABLE_ENDDRAG_RECT" val="54*121*850*364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2.xml><?xml version="1.0" encoding="utf-8"?>
<p:tagLst xmlns:p="http://schemas.openxmlformats.org/presentationml/2006/main">
  <p:tag name="TABLE_ENDDRAG_ORIGIN_RECT" val="850*375"/>
  <p:tag name="TABLE_ENDDRAG_RECT" val="54*111*850*375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9*a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9*f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SLIDE_ID" val="custom20230314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4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173.7&quot;,&quot;top&quot;:&quot;78.5&quot;,&quot;width&quot;:&quot;702.55&quot;,&quot;height&quot;:&quot;350.15&quot;}"/>
</p:tagLst>
</file>

<file path=ppt/tags/tag170.xml><?xml version="1.0" encoding="utf-8"?>
<p:tagLst xmlns:p="http://schemas.openxmlformats.org/presentationml/2006/main">
  <p:tag name="KSO_WPP_MARK_KEY" val="7023136d-9efa-45e3-91bf-b99ccddb9299"/>
  <p:tag name="COMMONDATA" val="eyJjb3VudCI6NDgsImhkaWQiOiJhY2U4MTI1M2JkNDcyNDQ2ZjdiMTRkODUzYWM0ZTY4MiIsInVzZXJDb3VudCI6MX0="/>
  <p:tag name="commondata" val="eyJjb3VudCI6NDksImhkaWQiOiJjYmNiOGViNDcyOGFlZDQwNmZlODg3N2JkMmUwYzU2MCIsInVzZXJDb3VudCI6MX0="/>
  <p:tag name="resource_record_key" val="{&quot;29&quot;:[50000153],&quot;65&quot;:[20230314]}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2347</Words>
  <Application>WPS 演示</Application>
  <PresentationFormat>宽屏</PresentationFormat>
  <Paragraphs>255</Paragraphs>
  <Slides>21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MiSans Normal</vt:lpstr>
      <vt:lpstr>Wingdings</vt:lpstr>
      <vt:lpstr>MiSans Heavy</vt:lpstr>
      <vt:lpstr>微软雅黑</vt:lpstr>
      <vt:lpstr>Arial Unicode MS</vt:lpstr>
      <vt:lpstr>Times New Roman</vt:lpstr>
      <vt:lpstr>Office 主题</vt:lpstr>
      <vt:lpstr>青海大学计算机学院 实习制度详解</vt:lpstr>
      <vt:lpstr>实习的重要性</vt:lpstr>
      <vt:lpstr>实习具体要求</vt:lpstr>
      <vt:lpstr>实习的类型和任务</vt:lpstr>
      <vt:lpstr>PowerPoint 演示文稿</vt:lpstr>
      <vt:lpstr>实习工作进度安排</vt:lpstr>
      <vt:lpstr>实习工作进度安排</vt:lpstr>
      <vt:lpstr>实习工作进度安排</vt:lpstr>
      <vt:lpstr>附件解读</vt:lpstr>
      <vt:lpstr>附件解读</vt:lpstr>
      <vt:lpstr>附件解读</vt:lpstr>
      <vt:lpstr>附件解读</vt:lpstr>
      <vt:lpstr>附件解读</vt:lpstr>
      <vt:lpstr>附件解读</vt:lpstr>
      <vt:lpstr>附件解读</vt:lpstr>
      <vt:lpstr>附件解读</vt:lpstr>
      <vt:lpstr>附件解读</vt:lpstr>
      <vt:lpstr>附件解读</vt:lpstr>
      <vt:lpstr>实习成绩评定</vt:lpstr>
      <vt:lpstr>实习成绩评定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WYT</cp:lastModifiedBy>
  <cp:revision>302</cp:revision>
  <dcterms:created xsi:type="dcterms:W3CDTF">2019-06-19T02:08:00Z</dcterms:created>
  <dcterms:modified xsi:type="dcterms:W3CDTF">2025-07-10T08:14:42Z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478DF4447BAA4E2786DCEDE995CEE9F6_13</vt:lpwstr>
  </property>
  <property fmtid="{D5CDD505-2E9C-101B-9397-08002B2CF9AE}" pid="4" name="KSOTemplateUUID">
    <vt:lpwstr>v1.0_mb_WWKVAA3calnmZWOTug9OwQ==</vt:lpwstr>
  </property>
</Properties>
</file>